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81177263a44a18" /><Relationship Type="http://schemas.openxmlformats.org/officeDocument/2006/relationships/extended-properties" Target="/docProps/app.xml" Id="R2884b7393db74cf9" /><Relationship Type="http://schemas.openxmlformats.org/officeDocument/2006/relationships/officeDocument" Target="/ppt/presentation.xml" Id="Rcae1aed7e7f44f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11b8212e964a3d"/>
  </p:sldMasterIdLst>
  <p:notesMasterIdLst>
    <p:notesMasterId xmlns:r="http://schemas.openxmlformats.org/officeDocument/2006/relationships" r:id="R27e22aaa40194620"/>
  </p:notesMasterIdLst>
  <p:sldIdLst>
    <p:sldId xmlns:r="http://schemas.openxmlformats.org/officeDocument/2006/relationships" id="256" r:id="R34e0c4ac65f646a0"/>
    <p:sldId xmlns:r="http://schemas.openxmlformats.org/officeDocument/2006/relationships" id="257" r:id="Ra2d06af956a44fce"/>
    <p:sldId xmlns:r="http://schemas.openxmlformats.org/officeDocument/2006/relationships" id="258" r:id="Rab4a8f26c6954b9b"/>
    <p:sldId xmlns:r="http://schemas.openxmlformats.org/officeDocument/2006/relationships" id="259" r:id="Rbdeb44fa58734fee"/>
    <p:sldId xmlns:r="http://schemas.openxmlformats.org/officeDocument/2006/relationships" id="260" r:id="R4291708ef6fd4fe2"/>
    <p:sldId xmlns:r="http://schemas.openxmlformats.org/officeDocument/2006/relationships" id="261" r:id="Re3ad126550a14005"/>
    <p:sldId xmlns:r="http://schemas.openxmlformats.org/officeDocument/2006/relationships" id="262" r:id="R5fda9a91a8fe4ae6"/>
    <p:sldId xmlns:r="http://schemas.openxmlformats.org/officeDocument/2006/relationships" id="263" r:id="R3b6fdb54b8154218"/>
    <p:sldId xmlns:r="http://schemas.openxmlformats.org/officeDocument/2006/relationships" id="264" r:id="Rc439129096be4608"/>
    <p:sldId xmlns:r="http://schemas.openxmlformats.org/officeDocument/2006/relationships" id="265" r:id="R1afa18eb6f594c37"/>
    <p:sldId xmlns:r="http://schemas.openxmlformats.org/officeDocument/2006/relationships" id="266" r:id="Rf47a1955565e4f69"/>
    <p:sldId xmlns:r="http://schemas.openxmlformats.org/officeDocument/2006/relationships" id="267" r:id="R10f036f2ad89469b"/>
    <p:sldId xmlns:r="http://schemas.openxmlformats.org/officeDocument/2006/relationships" id="268" r:id="Rfd0de308954b48ff"/>
    <p:sldId xmlns:r="http://schemas.openxmlformats.org/officeDocument/2006/relationships" id="269" r:id="R2f7ba3d470fe4d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4647438a254ed5" /><Relationship Type="http://schemas.openxmlformats.org/officeDocument/2006/relationships/slideMaster" Target="/ppt/slideMasters/slideMaster1.xml" Id="R4a11b8212e964a3d" /><Relationship Type="http://schemas.openxmlformats.org/officeDocument/2006/relationships/notesMaster" Target="/ppt/notesMasters/notesMaster1.xml" Id="R27e22aaa40194620" /><Relationship Type="http://schemas.openxmlformats.org/officeDocument/2006/relationships/presProps" Target="/ppt/presProps.xml" Id="R9399422ddac34934" /><Relationship Type="http://schemas.openxmlformats.org/officeDocument/2006/relationships/tableStyles" Target="/ppt/tableStyles.xml" Id="R0123473b0d034063" /><Relationship Type="http://schemas.openxmlformats.org/officeDocument/2006/relationships/slide" Target="/ppt/slides/slide1.xml" Id="R34e0c4ac65f646a0" /><Relationship Type="http://schemas.openxmlformats.org/officeDocument/2006/relationships/slide" Target="/ppt/slides/slide2.xml" Id="Ra2d06af956a44fce" /><Relationship Type="http://schemas.openxmlformats.org/officeDocument/2006/relationships/slide" Target="/ppt/slides/slide3.xml" Id="Rab4a8f26c6954b9b" /><Relationship Type="http://schemas.openxmlformats.org/officeDocument/2006/relationships/slide" Target="/ppt/slides/slide4.xml" Id="Rbdeb44fa58734fee" /><Relationship Type="http://schemas.openxmlformats.org/officeDocument/2006/relationships/slide" Target="/ppt/slides/slide5.xml" Id="R4291708ef6fd4fe2" /><Relationship Type="http://schemas.openxmlformats.org/officeDocument/2006/relationships/slide" Target="/ppt/slides/slide6.xml" Id="Re3ad126550a14005" /><Relationship Type="http://schemas.openxmlformats.org/officeDocument/2006/relationships/slide" Target="/ppt/slides/slide7.xml" Id="R5fda9a91a8fe4ae6" /><Relationship Type="http://schemas.openxmlformats.org/officeDocument/2006/relationships/slide" Target="/ppt/slides/slide8.xml" Id="R3b6fdb54b8154218" /><Relationship Type="http://schemas.openxmlformats.org/officeDocument/2006/relationships/slide" Target="/ppt/slides/slide9.xml" Id="Rc439129096be4608" /><Relationship Type="http://schemas.openxmlformats.org/officeDocument/2006/relationships/slide" Target="/ppt/slides/slide10.xml" Id="R1afa18eb6f594c37" /><Relationship Type="http://schemas.openxmlformats.org/officeDocument/2006/relationships/slide" Target="/ppt/slides/slide11.xml" Id="Rf47a1955565e4f69" /><Relationship Type="http://schemas.openxmlformats.org/officeDocument/2006/relationships/slide" Target="/ppt/slides/slide12.xml" Id="R10f036f2ad89469b" /><Relationship Type="http://schemas.openxmlformats.org/officeDocument/2006/relationships/slide" Target="/ppt/slides/slide13.xml" Id="Rfd0de308954b48ff" /><Relationship Type="http://schemas.openxmlformats.org/officeDocument/2006/relationships/slide" Target="/ppt/slides/slide14.xml" Id="R2f7ba3d470fe4d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6552b3345346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134fe18d2e4f04" /><Relationship Type="http://schemas.openxmlformats.org/officeDocument/2006/relationships/notesMaster" Target="/ppt/notesMasters/notesMaster1.xml" Id="R51bdcd3954874d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54aeb1fdb54ea3" /><Relationship Type="http://schemas.openxmlformats.org/officeDocument/2006/relationships/notesMaster" Target="/ppt/notesMasters/notesMaster1.xml" Id="R6b642998380d4b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96c16a6e8548c6" /><Relationship Type="http://schemas.openxmlformats.org/officeDocument/2006/relationships/notesMaster" Target="/ppt/notesMasters/notesMaster1.xml" Id="R7bb1f42a967947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997f30178541c9" /><Relationship Type="http://schemas.openxmlformats.org/officeDocument/2006/relationships/notesMaster" Target="/ppt/notesMasters/notesMaster1.xml" Id="Rdc6cb3b251f942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844670983e47fd" /><Relationship Type="http://schemas.openxmlformats.org/officeDocument/2006/relationships/notesMaster" Target="/ppt/notesMasters/notesMaster1.xml" Id="Rbd9902aa0f644e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8f2e2f081e4cc3" /><Relationship Type="http://schemas.openxmlformats.org/officeDocument/2006/relationships/notesMaster" Target="/ppt/notesMasters/notesMaster1.xml" Id="Rc72c7ae826f44b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6b1e7aba154ff8" /><Relationship Type="http://schemas.openxmlformats.org/officeDocument/2006/relationships/notesMaster" Target="/ppt/notesMasters/notesMaster1.xml" Id="Rf6fde806f89d45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35e632f2e14d08" /><Relationship Type="http://schemas.openxmlformats.org/officeDocument/2006/relationships/notesMaster" Target="/ppt/notesMasters/notesMaster1.xml" Id="Rc118db3d03ad4e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83420223934965" /><Relationship Type="http://schemas.openxmlformats.org/officeDocument/2006/relationships/notesMaster" Target="/ppt/notesMasters/notesMaster1.xml" Id="R2e7c26d10aa347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80afe4834d4623" /><Relationship Type="http://schemas.openxmlformats.org/officeDocument/2006/relationships/notesMaster" Target="/ppt/notesMasters/notesMaster1.xml" Id="Ree9991db8a8044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dd15a11a064f49" /><Relationship Type="http://schemas.openxmlformats.org/officeDocument/2006/relationships/notesMaster" Target="/ppt/notesMasters/notesMaster1.xml" Id="Rf6a3983467c747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a3245b1f324ed0" /><Relationship Type="http://schemas.openxmlformats.org/officeDocument/2006/relationships/notesMaster" Target="/ppt/notesMasters/notesMaster1.xml" Id="R81a6f75261c249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8783ac881d418e" /><Relationship Type="http://schemas.openxmlformats.org/officeDocument/2006/relationships/notesMaster" Target="/ppt/notesMasters/notesMaster1.xml" Id="R4d1c1582ff224b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9fd7b972074520" /><Relationship Type="http://schemas.openxmlformats.org/officeDocument/2006/relationships/notesMaster" Target="/ppt/notesMasters/notesMaster1.xml" Id="R1b5c4e7d950845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开场先讲产品定位，不展开技术栈。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项目工作区《比赛简介和要求.md》（访问于 2026-09-02）</a:t>
            </a:r>
          </a:p>
          <a:p xmlns:a="http://schemas.openxmlformats.org/drawingml/2006/main">
            <a:r>
              <a:t>- CampusOne README 与测试记录（GitHub Private Repository）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三类痛点分别对应三类角色。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CampusOne 需求分析，docs/competition-scope.md</a:t>
            </a:r>
          </a:p>
          <a:p xmlns:a="http://schemas.openxmlformats.org/drawingml/2006/main">
            <a:r>
              <a:t>- 参赛团队拟定的场地申请业务计划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强调：AI 的价值没有减少，但权限被明确限制。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CampusOne 技术架构，docs/architecture.md</a:t>
            </a:r>
          </a:p>
          <a:p xmlns:a="http://schemas.openxmlformats.org/drawingml/2006/main">
            <a:r>
              <a:t>- CampusOne 智能体设计方案书，第 4–8 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在“退回”处停顿：旧版本不覆盖，而是创建 V2。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CampusOne 状态机实现与手工 E2E 记录</a:t>
            </a:r>
          </a:p>
          <a:p xmlns:a="http://schemas.openxmlformats.org/drawingml/2006/main">
            <a:r>
              <a:t>- docs/architecture.md；docs/test-plan.md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此页直接切到浏览器演示，不停留讲视觉细节。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http://localhost:3000/ 本地运行截图（2026-09-02）</a:t>
            </a:r>
          </a:p>
          <a:p xmlns:a="http://schemas.openxmlformats.org/drawingml/2006/main">
            <a:r>
              <a:t>- https://campusone-agentflow.atticus-5951.chatgpt.site（私有生产站点）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从上往下讲；强调领域层才拥有正式写权限。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CampusOne 源码：app/api、lib、db 目录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这页用‘能做/不能做’快速讲清权限。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CampusOne Agent API 实现与输出 Schema</a:t>
            </a:r>
          </a:p>
          <a:p xmlns:a="http://schemas.openxmlformats.org/drawingml/2006/main">
            <a:r>
              <a:t>- CampusOne 智能体设计方案书，第 6 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 CAP-001：人数超过容量时，规则 ID 与事实同时出现。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CampusOne 规则引擎源代码与 docs/test-plan.md</a:t>
            </a:r>
          </a:p>
          <a:p xmlns:a="http://schemas.openxmlformats.org/drawingml/2006/main">
            <a:r>
              <a:t>- 设计方案书，第 7 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强调事件是追加式证据，不依赖模型生成。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CampusOne case_versions 与 case_events 表</a:t>
            </a:r>
          </a:p>
          <a:p xmlns:a="http://schemas.openxmlformats.org/drawingml/2006/main">
            <a:r>
              <a:t>- 人工 E2E 验证记录（9 个关键事件）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现场选择 rule_999，展示 RULE_NOT_FOUND 和状态不变。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CampusOne 故障注入实现：none / invalid_json / rule_999 / timeout</a:t>
            </a:r>
          </a:p>
          <a:p xmlns:a="http://schemas.openxmlformats.org/drawingml/2006/main">
            <a:r>
              <a:t>- 人工 WebMCP 与 API 验证记录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主动说明：用户试点尚未执行，因此不报虚构效率提升。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npm test / npm run build / npm audit 执行结果（2026-09-02）</a:t>
            </a:r>
          </a:p>
          <a:p xmlns:a="http://schemas.openxmlformats.org/drawingml/2006/main">
            <a:r>
              <a:t>- docs/test-plan.md；设计方案书第 12 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创新与价值分开讲：前者是机制，后者需要试点数据验证。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CampusOne 智能体设计方案书，第 14 节</a:t>
            </a:r>
          </a:p>
          <a:p xmlns:a="http://schemas.openxmlformats.org/drawingml/2006/main">
            <a:r>
              <a:t>- 比赛评分维度：创新性与应用价值（项目工作区赛事材料）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明确团队信息是提交前唯一的身份类必填项。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CampusOne 智能体设计方案书，第 15 节</a:t>
            </a:r>
          </a:p>
          <a:p xmlns:a="http://schemas.openxmlformats.org/drawingml/2006/main">
            <a:r>
              <a:t>- docs/delivery-checklist.md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收束到一句话：一个可用、可审计、不会越权的数字协作员工。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https://campusone-agentflow.atticus-5951.chatgpt.site</a:t>
            </a:r>
          </a:p>
          <a:p xmlns:a="http://schemas.openxmlformats.org/drawingml/2006/main">
            <a:r>
              <a:t>- https://github.com/echo5177/campusone-agentflow（Private）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3d64b961c41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fb3352cdf64fe0" /><Relationship Type="http://schemas.openxmlformats.org/officeDocument/2006/relationships/slideLayout" Target="/ppt/slideLayouts/slideLayout1.xml" Id="Rb01a889b53f449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1a889b53f449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7fc97fdd245d3" /><Relationship Type="http://schemas.openxmlformats.org/officeDocument/2006/relationships/image" Target="/ppt/media/image.png" Id="R70c651d269dd4f65" /><Relationship Type="http://schemas.openxmlformats.org/officeDocument/2006/relationships/notesSlide" Target="/ppt/notesSlides/notesSlide1.xml" Id="R069dd3d89b2345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47af8388543e9" /><Relationship Type="http://schemas.openxmlformats.org/officeDocument/2006/relationships/notesSlide" Target="/ppt/notesSlides/notesSlide2.xml" Id="R17047efc10864a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7a168e0d44a09" /><Relationship Type="http://schemas.openxmlformats.org/officeDocument/2006/relationships/notesSlide" Target="/ppt/notesSlides/notesSlide3.xml" Id="Rcdbd3789edd64e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d42bc89d64d69" /><Relationship Type="http://schemas.openxmlformats.org/officeDocument/2006/relationships/notesSlide" Target="/ppt/notesSlides/notesSlide4.xml" Id="R0c21c580bb1a40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38916a18746dc" /><Relationship Type="http://schemas.openxmlformats.org/officeDocument/2006/relationships/image" Target="/ppt/media/image.jpeg" Id="R20c6621a9293471c" /><Relationship Type="http://schemas.openxmlformats.org/officeDocument/2006/relationships/notesSlide" Target="/ppt/notesSlides/notesSlide5.xml" Id="Refe05f3dd1ba42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c5a50bd8e4b6f" /><Relationship Type="http://schemas.openxmlformats.org/officeDocument/2006/relationships/notesSlide" Target="/ppt/notesSlides/notesSlide6.xml" Id="Rc517ad5231e74e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4991269944632" /><Relationship Type="http://schemas.openxmlformats.org/officeDocument/2006/relationships/notesSlide" Target="/ppt/notesSlides/notesSlide7.xml" Id="R2ae6f52a63b941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68925f2a84bc1" /><Relationship Type="http://schemas.openxmlformats.org/officeDocument/2006/relationships/notesSlide" Target="/ppt/notesSlides/notesSlide8.xml" Id="R963cae58d2014c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6fc533d234295" /><Relationship Type="http://schemas.openxmlformats.org/officeDocument/2006/relationships/notesSlide" Target="/ppt/notesSlides/notesSlide9.xml" Id="R0c5db83993be48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8b16041e643bb" /><Relationship Type="http://schemas.openxmlformats.org/officeDocument/2006/relationships/notesSlide" Target="/ppt/notesSlides/notesSlide10.xml" Id="R95254a174bd749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d43dee7b14b8e" /><Relationship Type="http://schemas.openxmlformats.org/officeDocument/2006/relationships/notesSlide" Target="/ppt/notesSlides/notesSlide11.xml" Id="Rb167f9272bd54c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2f52f81644061" /><Relationship Type="http://schemas.openxmlformats.org/officeDocument/2006/relationships/notesSlide" Target="/ppt/notesSlides/notesSlide12.xml" Id="R9842b43bfcf94d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de03ae9f943c2" /><Relationship Type="http://schemas.openxmlformats.org/officeDocument/2006/relationships/notesSlide" Target="/ppt/notesSlides/notesSlide13.xml" Id="R36fe7b820e254e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c119cfdc44027" /><Relationship Type="http://schemas.openxmlformats.org/officeDocument/2006/relationships/image" Target="/ppt/media/image2.png" Id="Ra2095fd9b0214af5" /><Relationship Type="http://schemas.openxmlformats.org/officeDocument/2006/relationships/notesSlide" Target="/ppt/notesSlides/notesSlide14.xml" Id="Re988227983dc49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DF09F1-9CF5-402E-90F5-0171A1EA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2C"/>
          </a:solidFill>
          <a:ln xmlns:a="http://schemas.openxmlformats.org/drawingml/2006/main" w="0">
            <a:solidFill>
              <a:srgbClr val="081D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1C2FD-10AB-4A75-A200-98FE3AD5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0"/>
            <a:ext cx="5086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651d269dd4f65"/>
          <a:srcRect xmlns:a="http://schemas.openxmlformats.org/drawingml/2006/main" l="0" t="3383" r="0" b="33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950" y="685800"/>
            <a:ext cx="4286250" cy="2247900"/>
          </a:xfrm>
          <a:prstGeom xmlns:a="http://schemas.openxmlformats.org/drawingml/2006/main" prst="roundRect">
            <a:avLst>
              <a:gd name="adj" fmla="val 678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F5DA3-228F-47CD-8CD7-021CBAE7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0">
            <a:solidFill>
              <a:srgbClr val="DDF6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CAD55-589D-4E13-AB64-FC16EEC1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8175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E9F8F"/>
                </a:solidFill>
              </a:defRPr>
            </a:pPr>
            <a:r>
              <a:rPr sz="825" b="1">
                <a:solidFill>
                  <a:srgbClr val="0E9F8F"/>
                </a:solidFill>
              </a:rPr>
              <a:t>教育管理应用创新赛 · 初赛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08271-EF3C-4890-8C5A-EFCB3B2A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CampusOne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2A97A-F88D-4F4A-A8E8-6C4C901F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BE0D2"/>
                </a:solidFill>
              </a:defRPr>
            </a:pPr>
            <a:r>
              <a:rPr sz="2400" b="1">
                <a:solidFill>
                  <a:srgbClr val="7BE0D2"/>
                </a:solidFill>
              </a:rPr>
              <a:t>可信校园事务智能体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27E2C-47BE-4ABB-AC92-AE9A6AC8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81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6EE"/>
                </a:solidFill>
              </a:defRPr>
            </a:pPr>
            <a:r>
              <a:rPr sz="1725" b="0">
                <a:solidFill>
                  <a:srgbClr val="D9E6EE"/>
                </a:solidFill>
              </a:rPr>
              <a:t>一名会解释、会整理，</a:t>
            </a:r>
          </a:p>
          <a:p xmlns:a="http://schemas.openxmlformats.org/drawingml/2006/main">
            <a:pPr algn="l">
              <a:defRPr sz="1725" b="0">
                <a:solidFill>
                  <a:srgbClr val="D9E6EE"/>
                </a:solidFill>
              </a:defRPr>
            </a:pPr>
            <a:r>
              <a:rPr sz="1725" b="0">
                <a:solidFill>
                  <a:srgbClr val="D9E6EE"/>
                </a:solidFill>
              </a:rPr>
              <a:t>但不会越权审批的数字协作员工。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6BF8F-3233-4A02-BD63-A7B0EB4A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6954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153A52"/>
          </a:solidFill>
          <a:ln xmlns:a="http://schemas.openxmlformats.org/drawingml/2006/main" w="0">
            <a:solidFill>
              <a:srgbClr val="153A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760AB-4084-4428-ACDD-07B007D4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BE0D2"/>
                </a:solidFill>
              </a:defRPr>
            </a:pPr>
            <a:r>
              <a:rPr sz="825" b="1">
                <a:solidFill>
                  <a:srgbClr val="7BE0D2"/>
                </a:solidFill>
              </a:rPr>
              <a:t>规则优先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DDA48-5F10-49E1-86FE-8F394DC8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19600"/>
            <a:ext cx="1905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153A52"/>
          </a:solidFill>
          <a:ln xmlns:a="http://schemas.openxmlformats.org/drawingml/2006/main" w="0">
            <a:solidFill>
              <a:srgbClr val="153A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35646-059D-407C-A3C0-1B481313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8627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BE0D2"/>
                </a:solidFill>
              </a:defRPr>
            </a:pPr>
            <a:r>
              <a:rPr sz="825" b="1">
                <a:solidFill>
                  <a:srgbClr val="7BE0D2"/>
                </a:solidFill>
              </a:rPr>
              <a:t>证据可追溯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BA5DE-CCE8-4B18-94DA-C381E80A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19600"/>
            <a:ext cx="22098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153A52"/>
          </a:solidFill>
          <a:ln xmlns:a="http://schemas.openxmlformats.org/drawingml/2006/main" w="0">
            <a:solidFill>
              <a:srgbClr val="153A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3C520-AFD5-4F64-8CEA-5E6AAD06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8627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BE0D2"/>
                </a:solidFill>
              </a:defRPr>
            </a:pPr>
            <a:r>
              <a:rPr sz="825" b="1">
                <a:solidFill>
                  <a:srgbClr val="7BE0D2"/>
                </a:solidFill>
              </a:rPr>
              <a:t>人工最终确认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11507-0B57-400C-9F51-64130E9B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6C5"/>
                </a:solidFill>
              </a:defRPr>
            </a:pPr>
            <a:r>
              <a:rPr sz="825" b="0">
                <a:solidFill>
                  <a:srgbClr val="9FB6C5"/>
                </a:solidFill>
              </a:rPr>
              <a:t>[待填写参赛单位]  ·  [待填写队长] / [待填写成员]  ·  [待填写指导教师]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9AA31-A365-42BC-8810-472ED0B5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17907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64387-0375-48F2-A0DE-37B6125E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052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BE0D2"/>
                </a:solidFill>
              </a:defRPr>
            </a:pPr>
            <a:r>
              <a:rPr sz="2250" b="1">
                <a:solidFill>
                  <a:srgbClr val="7BE0D2"/>
                </a:solidFill>
              </a:rPr>
              <a:t>13 / 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4AFFA-0683-4354-8C4B-CE99BA8B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433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单元测试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7FCD5-809E-4D9C-B077-49D45A07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9577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C6F7F"/>
                </a:solidFill>
              </a:defRPr>
            </a:pPr>
            <a:r>
              <a:rPr sz="750" b="0">
                <a:solidFill>
                  <a:srgbClr val="5C6F7F"/>
                </a:solidFill>
              </a:rPr>
              <a:t>全部通过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35FF9-65FD-4371-8766-E2B08355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33750"/>
            <a:ext cx="17907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8A0AF9-B6C4-4127-807C-CAA71B94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052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9B7D"/>
                </a:solidFill>
              </a:defRPr>
            </a:pPr>
            <a:r>
              <a:rPr sz="2250" b="1">
                <a:solidFill>
                  <a:srgbClr val="FF9B7D"/>
                </a:solidFill>
              </a:rPr>
              <a:t>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8FC76B-877E-47EB-910A-6830E3A5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433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闭环事件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1D485-C3CF-4938-B521-F9BDF647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9577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C6F7F"/>
                </a:solidFill>
              </a:defRPr>
            </a:pPr>
            <a:r>
              <a:rPr sz="750" b="0">
                <a:solidFill>
                  <a:srgbClr val="5C6F7F"/>
                </a:solidFill>
              </a:rPr>
              <a:t>含退回 / V2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C66220-1940-4533-AC92-B3789749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76800"/>
            <a:ext cx="37719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2DEFD-8C35-4100-AA31-B9171B72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48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可运行 · 可审计 · 可降级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8DCCE8-5F3E-46F4-B894-C606786D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486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当前状态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64BB62-9F48-403C-9AFA-DAC98323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388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C6F7F"/>
                </a:solidFill>
              </a:defRPr>
            </a:pPr>
            <a:r>
              <a:rPr sz="750" b="0">
                <a:solidFill>
                  <a:srgbClr val="5C6F7F"/>
                </a:solidFill>
              </a:rPr>
              <a:t>私有部署 / Mock 稳定演示</a:t>
            </a:r>
          </a:p>
        </p:txBody>
      </p:sp>
    </p:spTree>
    <p:extLst>
      <p:ext uri="{BB962C8B-B14F-4D97-AF65-F5344CB8AC3E}">
        <p14:creationId xmlns:p14="http://schemas.microsoft.com/office/powerpoint/2010/main" val="638547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A2BEA-55E8-41F0-B6F4-53E0F80B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8F"/>
                </a:solidFill>
              </a:defRPr>
            </a:pPr>
            <a:r>
              <a:rPr sz="825" b="1">
                <a:solidFill>
                  <a:srgbClr val="0E9F8F"/>
                </a:solidFill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1FEAA-BA92-445C-9DEB-20BE6353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772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问题不在“没有表单”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F2C1A-49CA-47FD-B7D0-4D61A8EE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F7F"/>
                </a:solidFill>
              </a:defRPr>
            </a:pPr>
            <a:r>
              <a:rPr sz="1125" b="0">
                <a:solidFill>
                  <a:srgbClr val="5C6F7F"/>
                </a:solidFill>
              </a:rPr>
              <a:t>而在理解、核对、解释与责任边界没有被一起设计。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A4F7D-3F93-45DC-8DE3-57BCF2A8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FFF80-3EC7-4BE2-9B87-B4AE2F36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293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F7F"/>
                </a:solidFill>
              </a:defRPr>
            </a:pPr>
            <a:r>
              <a:rPr sz="750" b="1">
                <a:solidFill>
                  <a:srgbClr val="5C6F7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3C950-CCEF-4BE3-9EB4-2029BC1B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1053E-6D42-4330-99B1-4CCADEA5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A"/>
          </a:solidFill>
          <a:ln xmlns:a="http://schemas.openxmlformats.org/drawingml/2006/main" w="0">
            <a:solidFill>
              <a:srgbClr val="F26B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5BDAC-3FD2-49C2-A30C-529827FA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6B4A"/>
                </a:solidFill>
              </a:defRPr>
            </a:pPr>
            <a:r>
              <a:rPr sz="750" b="1">
                <a:solidFill>
                  <a:srgbClr val="F26B4A"/>
                </a:solidFill>
              </a:rPr>
              <a:t>学生申请人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12A11-9522-4213-BBBC-13635788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我到底缺什么？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7C99A-1942-4FA2-B535-4B47E27E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9146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规则分散、字段不清；</a:t>
            </a:r>
          </a:p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提交后只看到状态，</a:t>
            </a:r>
          </a:p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看不到原因和下一步。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1006A-478F-41A2-8CD4-770B9EF2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5D36B-20C0-497B-973C-624DB4A2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51BE7-2948-46C0-9173-6408081E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1457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9F8F"/>
                </a:solidFill>
              </a:defRPr>
            </a:pPr>
            <a:r>
              <a:rPr sz="750" b="1">
                <a:solidFill>
                  <a:srgbClr val="0E9F8F"/>
                </a:solidFill>
              </a:rPr>
              <a:t>行政审核人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36E22-F85C-47CA-9DFF-D18A32FA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717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为什么重复核对？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20FD32-C3D8-46F1-B4B8-7CDD93A0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48000"/>
            <a:ext cx="29146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在表单、材料和规则间来回切换；</a:t>
            </a:r>
          </a:p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退回意见反复编写；</a:t>
            </a:r>
          </a:p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摘要无法回到证据。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99A05-921A-42E4-BE2F-464CDB4C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43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8B30C-9201-47E0-A0DF-EE7970D4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43125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24855-AC9F-4595-93A3-6FE02F2A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1457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F5F"/>
                </a:solidFill>
              </a:defRPr>
            </a:pPr>
            <a:r>
              <a:rPr sz="750" b="1">
                <a:solidFill>
                  <a:srgbClr val="173F5F"/>
                </a:solidFill>
              </a:rPr>
              <a:t>管理者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B98D6-8AF0-4E57-9DF6-BDC5813F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过程如何追溯？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CB0E8C-2B21-4186-8B27-5955AC97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29146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缺少版本、操作者、规则命中、</a:t>
            </a:r>
          </a:p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模型运行和失败降级记录。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73E24-8C63-41EE-B89E-AC9B36B8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高频 · 规则密集 · 多角色 · 需要问责</a:t>
            </a:r>
          </a:p>
        </p:txBody>
      </p:sp>
    </p:spTree>
    <p:extLst>
      <p:ext uri="{BB962C8B-B14F-4D97-AF65-F5344CB8AC3E}">
        <p14:creationId xmlns:p14="http://schemas.microsoft.com/office/powerpoint/2010/main" val="6587707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ACEC9-C255-4535-8C09-C6196591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8F"/>
                </a:solidFill>
              </a:defRPr>
            </a:pPr>
            <a:r>
              <a:rPr sz="825" b="1">
                <a:solidFill>
                  <a:srgbClr val="0E9F8F"/>
                </a:solidFill>
              </a:rPr>
              <a:t>DESIGN PRINCIPLE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45EF2-B2F8-4BEE-828E-24138955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772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AI 不是审批人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582A1-8530-432B-8013-852BC8D3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F7F"/>
                </a:solidFill>
              </a:defRPr>
            </a:pPr>
            <a:r>
              <a:rPr sz="1125" b="0">
                <a:solidFill>
                  <a:srgbClr val="5C6F7F"/>
                </a:solidFill>
              </a:rPr>
              <a:t>把能力分配给最擅长、也最能承担责任的一方。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9BDBB-0278-42DB-A95F-B8EA5977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5929C-75BB-4423-A364-FE55111A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293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F7F"/>
                </a:solidFill>
              </a:defRPr>
            </a:pPr>
            <a:r>
              <a:rPr sz="750" b="1">
                <a:solidFill>
                  <a:srgbClr val="5C6F7F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A17DC-29E2-4775-B934-4F2DFA4D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1051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0">
            <a:solidFill>
              <a:srgbClr val="DDF6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32C5A-7987-4ADD-96EB-C6216E2C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36032-AE8A-4D58-9E47-0991DDD2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47FBC-A46E-495E-92D8-E55DE533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AI 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CF5AF-6DD9-45ED-9DB7-AB5109B6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5225"/>
            <a:ext cx="2647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整理申请说明</a:t>
            </a:r>
          </a:p>
          <a:p xmlns:a="http://schemas.openxmlformats.org/drawingml/2006/main">
            <a:pPr algn="l"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生成审核摘要</a:t>
            </a:r>
          </a:p>
          <a:p xmlns:a="http://schemas.openxmlformats.org/drawingml/2006/main">
            <a:pPr algn="l"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改写已确定的退回原因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38763-B8F0-4A2F-AFBE-3561EFAC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24075"/>
            <a:ext cx="31051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solidFill>
              <a:srgbClr val="EAF2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2BDD7-25E5-47EA-B94B-94F099C2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622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80CAD-6639-4166-BBA1-3E5A06A1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765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905E4-C67B-41D2-B565-F9DE4B14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6705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程序判定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39D44-42F2-4D18-9C96-03B7C169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705225"/>
            <a:ext cx="2647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校验字段 / 日期 / 容量 / 冲突</a:t>
            </a:r>
          </a:p>
          <a:p xmlns:a="http://schemas.openxmlformats.org/drawingml/2006/main">
            <a:pPr algn="l"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控制权限与状态机</a:t>
            </a:r>
          </a:p>
          <a:p xmlns:a="http://schemas.openxmlformats.org/drawingml/2006/main">
            <a:pPr algn="l"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检查模型引用和事实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32476-A0C7-4E15-AC0A-AB1F89B7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24075"/>
            <a:ext cx="31051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solidFill>
              <a:srgbClr val="FFF3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67977-4014-4750-976E-EB4344E2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22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26B4A"/>
          </a:solidFill>
          <a:ln xmlns:a="http://schemas.openxmlformats.org/drawingml/2006/main" w="0">
            <a:solidFill>
              <a:srgbClr val="F26B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0879C-45F1-4804-A0C7-31DF45A6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D4FBB9-CCC6-4EF3-89D1-32A10C9A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6705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人工确认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7FC14-7A6E-4B05-BC81-B57977A2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05225"/>
            <a:ext cx="2647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采纳 AI 建议</a:t>
            </a:r>
          </a:p>
          <a:p xmlns:a="http://schemas.openxmlformats.org/drawingml/2006/main">
            <a:pPr algn="l"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判断软性风险</a:t>
            </a:r>
          </a:p>
          <a:p xmlns:a="http://schemas.openxmlformats.org/drawingml/2006/main">
            <a:pPr algn="l"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退回 / 批准 / 办结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10496-99BB-45E2-A0E6-5B0F2A19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9F8F"/>
                </a:solidFill>
              </a:defRPr>
            </a:pPr>
            <a:r>
              <a:rPr sz="1800" b="1">
                <a:solidFill>
                  <a:srgbClr val="0E9F8F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A7FE4-7B8B-4E52-BD34-2D17C792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4766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9F8F"/>
                </a:solidFill>
              </a:defRPr>
            </a:pPr>
            <a:r>
              <a:rPr sz="1800" b="1">
                <a:solidFill>
                  <a:srgbClr val="0E9F8F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C6C60E-C322-47AA-859F-36F8DE9B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72125"/>
            <a:ext cx="46101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3AADB-B5D0-4BBE-9986-5AB907D5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638800"/>
            <a:ext cx="445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模型可替换，责任边界不漂移</a:t>
            </a:r>
          </a:p>
        </p:txBody>
      </p:sp>
    </p:spTree>
    <p:extLst>
      <p:ext uri="{BB962C8B-B14F-4D97-AF65-F5344CB8AC3E}">
        <p14:creationId xmlns:p14="http://schemas.microsoft.com/office/powerpoint/2010/main" val="4898583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D6BF1C-585E-487C-A9D8-06A0C2C4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8F"/>
                </a:solidFill>
              </a:defRPr>
            </a:pPr>
            <a:r>
              <a:rPr sz="825" b="1">
                <a:solidFill>
                  <a:srgbClr val="0E9F8F"/>
                </a:solidFill>
              </a:rPr>
              <a:t>USER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740AA-CCD4-40DC-90A2-9427375C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772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一条包含退回与修订的完整事务链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B82E6-DC1B-4B71-8683-834D5B7F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F7F"/>
                </a:solidFill>
              </a:defRPr>
            </a:pPr>
            <a:r>
              <a:rPr sz="1125" b="0">
                <a:solidFill>
                  <a:srgbClr val="5C6F7F"/>
                </a:solidFill>
              </a:rPr>
              <a:t>每一步都有角色、状态、版本和事件记录。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9C4CE-1D3C-4137-8256-8C33E163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DE8B7-F682-42B2-AB67-671D1130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293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F7F"/>
                </a:solidFill>
              </a:defRPr>
            </a:pPr>
            <a:r>
              <a:rPr sz="750" b="1">
                <a:solidFill>
                  <a:srgbClr val="5C6F7F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334E2-EC9E-4A46-95FD-44A76CA4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1470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A8424-9EDF-4546-A722-76DF2E4F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9DB32-EE1B-41D8-946C-F93F05B2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D8C76-A42B-4F07-AE01-9230CD21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8481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填表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4D1B5-851C-4EDA-9893-BFA34F98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814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C6F7F"/>
                </a:solidFill>
              </a:defRPr>
            </a:pPr>
            <a:r>
              <a:rPr sz="750" b="0">
                <a:solidFill>
                  <a:srgbClr val="5C6F7F"/>
                </a:solidFill>
              </a:rPr>
              <a:t>学生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46AE7-27FD-4A1F-8D9F-5BDBE98C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3847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30E51-16CE-4AF0-8E15-728FA2B4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0992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0552C-C99E-4EAC-831B-C98FF3F8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481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预检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9E29D-0EA2-4C85-98A9-538C8A27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814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C6F7F"/>
                </a:solidFill>
              </a:defRPr>
            </a:pPr>
            <a:r>
              <a:rPr sz="750" b="0">
                <a:solidFill>
                  <a:srgbClr val="5C6F7F"/>
                </a:solidFill>
              </a:rPr>
              <a:t>程序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92D41-ADFD-46DC-AB79-A9B32181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3847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DCD31-5373-43F4-9B8E-AB98AA27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992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CB4C07-0E46-4EB4-9391-2F55400E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481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提交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E3248-AA78-4276-9CBE-2702E317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1814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C6F7F"/>
                </a:solidFill>
              </a:defRPr>
            </a:pPr>
            <a:r>
              <a:rPr sz="750" b="0">
                <a:solidFill>
                  <a:srgbClr val="5C6F7F"/>
                </a:solidFill>
              </a:rPr>
              <a:t>学生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04C6BD-C3C8-49BF-ADC0-2E371833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3847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6B4A"/>
          </a:solidFill>
          <a:ln xmlns:a="http://schemas.openxmlformats.org/drawingml/2006/main" w="0">
            <a:solidFill>
              <a:srgbClr val="F26B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D8275-DBDA-4D6B-ACA3-B894547F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0992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8F854F-2537-4C9B-B9E7-772D6ED4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481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审核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AF042F-CFD9-4EE6-9E73-DF317BBF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1814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C6F7F"/>
                </a:solidFill>
              </a:defRPr>
            </a:pPr>
            <a:r>
              <a:rPr sz="750" b="0">
                <a:solidFill>
                  <a:srgbClr val="5C6F7F"/>
                </a:solidFill>
              </a:rPr>
              <a:t>审核人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A043E8-2EF8-4526-819E-E48916A2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3847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6B4A"/>
          </a:solidFill>
          <a:ln xmlns:a="http://schemas.openxmlformats.org/drawingml/2006/main" w="0">
            <a:solidFill>
              <a:srgbClr val="F26B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813842-95AF-4614-AD98-74E58C0B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992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850BB1-61AC-4E59-8A46-D1152BEF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8481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退回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049F94-CE09-4B08-BEA3-7219342E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1814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C6F7F"/>
                </a:solidFill>
              </a:defRPr>
            </a:pPr>
            <a:r>
              <a:rPr sz="750" b="0">
                <a:solidFill>
                  <a:srgbClr val="5C6F7F"/>
                </a:solidFill>
              </a:rPr>
              <a:t>审核人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0B752A-B760-40D7-A2E2-D197879D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3847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EFAEFC-6E41-46FF-A173-B647E003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0992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D195B6-E847-4C77-9838-81B35172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8481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修订 V2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90F3F9-50F2-44D5-BC04-CB69BF87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1814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C6F7F"/>
                </a:solidFill>
              </a:defRPr>
            </a:pPr>
            <a:r>
              <a:rPr sz="750" b="0">
                <a:solidFill>
                  <a:srgbClr val="5C6F7F"/>
                </a:solidFill>
              </a:rPr>
              <a:t>学生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B077E2-60CF-4400-A438-432C2956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3847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6B4A"/>
          </a:solidFill>
          <a:ln xmlns:a="http://schemas.openxmlformats.org/drawingml/2006/main" w="0">
            <a:solidFill>
              <a:srgbClr val="F26B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99CD8E-30F7-4E16-87FD-5F2F61EF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0992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42020C-B051-4921-8855-13C0557B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8481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批准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F41A50-7489-4B8A-B411-2EF0C9D5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1814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C6F7F"/>
                </a:solidFill>
              </a:defRPr>
            </a:pPr>
            <a:r>
              <a:rPr sz="750" b="0">
                <a:solidFill>
                  <a:srgbClr val="5C6F7F"/>
                </a:solidFill>
              </a:rPr>
              <a:t>审核人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6BBF97-CDC9-4115-BB56-C5CE6E2E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38475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1B7F5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B412A7-2D18-4C44-9514-85BE94B7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09925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139A7A-BE2B-4777-890F-54DA91C2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8481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办结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EA4593-AC0A-4FB1-9CEF-1C97C6F7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1814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C6F7F"/>
                </a:solidFill>
              </a:defRPr>
            </a:pPr>
            <a:r>
              <a:rPr sz="750" b="0">
                <a:solidFill>
                  <a:srgbClr val="5C6F7F"/>
                </a:solidFill>
              </a:rPr>
              <a:t>审核人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9B5CA0-032F-43FC-B3FF-503E0C36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29200"/>
            <a:ext cx="69532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D4F766-1441-41C4-8807-8AD13E04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095875"/>
            <a:ext cx="680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A43"/>
                </a:solidFill>
              </a:defRPr>
            </a:pPr>
            <a:r>
              <a:rPr sz="825" b="1">
                <a:solidFill>
                  <a:srgbClr val="102A43"/>
                </a:solidFill>
              </a:rPr>
              <a:t>draft → submitted → under_review → returned → draft(V2) → … → completed</a:t>
            </a:r>
          </a:p>
        </p:txBody>
      </p:sp>
    </p:spTree>
    <p:extLst>
      <p:ext uri="{BB962C8B-B14F-4D97-AF65-F5344CB8AC3E}">
        <p14:creationId xmlns:p14="http://schemas.microsoft.com/office/powerpoint/2010/main" val="7286280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2DF9E-81B2-429C-92A5-6FEBF0F1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E0D2"/>
                </a:solidFill>
              </a:defRPr>
            </a:pPr>
            <a:r>
              <a:rPr sz="825" b="1">
                <a:solidFill>
                  <a:srgbClr val="7BE0D2"/>
                </a:solidFill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29A3F-2905-424C-92E7-8A4CC61A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552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不是原型，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是可以现场运行的产品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864AC-9645-4D29-AB31-C20C1732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CD8"/>
                </a:solidFill>
              </a:defRPr>
            </a:pPr>
            <a:r>
              <a:rPr sz="1200" b="0">
                <a:solidFill>
                  <a:srgbClr val="B8CCD8"/>
                </a:solidFill>
              </a:rPr>
              <a:t>固定演示数据 · 一键重置 · 角色动作 · 规则证据 · 故障注入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C9907-1F29-4CBB-B5F6-4569DBE5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7145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153A52"/>
          </a:solidFill>
          <a:ln xmlns:a="http://schemas.openxmlformats.org/drawingml/2006/main" w="0">
            <a:solidFill>
              <a:srgbClr val="153A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0BC46-6373-4370-BDF8-307201D7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BE0D2"/>
                </a:solidFill>
              </a:defRPr>
            </a:pPr>
            <a:r>
              <a:rPr sz="825" b="1">
                <a:solidFill>
                  <a:srgbClr val="7BE0D2"/>
                </a:solidFill>
              </a:rPr>
              <a:t>学生申请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A3544-2F3D-4E52-8B17-4821AD1E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05150"/>
            <a:ext cx="17145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153A52"/>
          </a:solidFill>
          <a:ln xmlns:a="http://schemas.openxmlformats.org/drawingml/2006/main" w="0">
            <a:solidFill>
              <a:srgbClr val="153A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088B0-B2E8-42D9-86F3-94BF4B5D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7182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BE0D2"/>
                </a:solidFill>
              </a:defRPr>
            </a:pPr>
            <a:r>
              <a:rPr sz="825" b="1">
                <a:solidFill>
                  <a:srgbClr val="7BE0D2"/>
                </a:solidFill>
              </a:rPr>
              <a:t>审核协作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ECC7E-9101-41E5-9221-2DB577D1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17145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153A52"/>
          </a:solidFill>
          <a:ln xmlns:a="http://schemas.openxmlformats.org/drawingml/2006/main" w="0">
            <a:solidFill>
              <a:srgbClr val="153A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BA955-BAF3-4459-A5B7-6409AC6E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7182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BE0D2"/>
                </a:solidFill>
              </a:defRPr>
            </a:pPr>
            <a:r>
              <a:rPr sz="825" b="1">
                <a:solidFill>
                  <a:srgbClr val="7BE0D2"/>
                </a:solidFill>
              </a:rPr>
              <a:t>证据审计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2BA6C-B218-43E1-8970-8D01E6E1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61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2738"/>
          </a:solidFill>
          <a:ln xmlns:a="http://schemas.openxmlformats.org/drawingml/2006/main" w="9525">
            <a:solidFill>
              <a:srgbClr val="244B6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F0F8E-4158-4802-A640-3A4E12E2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9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BE0D2"/>
                </a:solidFill>
              </a:defRPr>
            </a:pPr>
            <a:r>
              <a:rPr sz="975" b="1">
                <a:solidFill>
                  <a:srgbClr val="7BE0D2"/>
                </a:solidFill>
              </a:rPr>
              <a:t>现场可证明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6BF24-22E2-4AA7-BDEA-92222EFB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正常闭环  /  退回修订  /  非法模型输出被拒绝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FA8FC-3263-48C3-B7C2-3D2709D8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90550"/>
            <a:ext cx="3476625" cy="567690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4C6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6621a9293471c"/>
          <a:stretch xmlns:a="http://schemas.openxmlformats.org/drawingml/2006/main"/>
        </p:blipFill>
        <p:spPr>
          <a:xfrm xmlns:a="http://schemas.openxmlformats.org/drawingml/2006/main">
            <a:off x="7570740" y="781050"/>
            <a:ext cx="3003645" cy="5295900"/>
          </a:xfrm>
          <a:prstGeom xmlns:a="http://schemas.openxmlformats.org/drawingml/2006/main" prst="roundRect">
            <a:avLst>
              <a:gd name="adj" fmla="val 3785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9FD01-856D-4FE1-BC7F-9A96DE50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293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FB6C5"/>
                </a:solidFill>
              </a:defRPr>
            </a:pPr>
            <a:r>
              <a:rPr sz="750" b="1">
                <a:solidFill>
                  <a:srgbClr val="9FB6C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09485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0D815-5F50-4FA4-A63D-E9962157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8F"/>
                </a:solidFill>
              </a:defRPr>
            </a:pPr>
            <a:r>
              <a:rPr sz="825" b="1">
                <a:solidFill>
                  <a:srgbClr val="0E9F8F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FF0AC-0BC4-4211-A4FC-1A27B7D8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772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业务控制面包围模型能力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97677-6078-494E-9B7B-CAFE6BF1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F7F"/>
                </a:solidFill>
              </a:defRPr>
            </a:pPr>
            <a:r>
              <a:rPr sz="1125" b="0">
                <a:solidFill>
                  <a:srgbClr val="5C6F7F"/>
                </a:solidFill>
              </a:rPr>
              <a:t>模型只在受限任务和结构化输出中工作。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5CE18-3FD0-43B4-BF7C-D102D575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4F9A3-6770-43F8-849B-26D3784D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293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F7F"/>
                </a:solidFill>
              </a:defRPr>
            </a:pPr>
            <a:r>
              <a:rPr sz="750" b="1">
                <a:solidFill>
                  <a:srgbClr val="5C6F7F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1739C-573F-4B4D-8333-CAEE010B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0">
            <a:solidFill>
              <a:srgbClr val="DDF6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AAF78-1AD7-4D0C-A15C-F43201A3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9F8F"/>
                </a:solidFill>
              </a:defRPr>
            </a:pPr>
            <a:r>
              <a:rPr sz="1200" b="1">
                <a:solidFill>
                  <a:srgbClr val="0E9F8F"/>
                </a:solidFill>
              </a:rPr>
              <a:t>交互层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42BF8-ED50-4F72-986A-927213BD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57400"/>
            <a:ext cx="852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学生申请 / 审核台 / 证据视图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4FEBE-139C-43C2-809B-01DD4E3A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solidFill>
              <a:srgbClr val="EAF2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2BD5C-7D73-46E8-8DE0-420C6C22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F5F"/>
                </a:solidFill>
              </a:defRPr>
            </a:pPr>
            <a:r>
              <a:rPr sz="1200" b="1">
                <a:solidFill>
                  <a:srgbClr val="173F5F"/>
                </a:solidFill>
              </a:rPr>
              <a:t>领域层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2C609-1A28-44E0-B7B8-2B0C51E9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00350"/>
            <a:ext cx="852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表单 Schema / 规则 / 状态机 / 版本 / 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14E67-AB18-48B6-BDA9-E57D8CA9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solidFill>
              <a:srgbClr val="FFF3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A385A-8AF5-4921-8AC3-49720F12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6B4A"/>
                </a:solidFill>
              </a:defRPr>
            </a:pPr>
            <a:r>
              <a:rPr sz="1200" b="1">
                <a:solidFill>
                  <a:srgbClr val="F26B4A"/>
                </a:solidFill>
              </a:rPr>
              <a:t>Agent 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41EB6-7636-47CB-BACC-2DA84A94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43300"/>
            <a:ext cx="852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任务模板 / 最小上下文 / 解析 / 校验 / 降级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2343C-8FB9-4343-BB79-3DA68702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3ECFF"/>
          </a:solidFill>
          <a:ln xmlns:a="http://schemas.openxmlformats.org/drawingml/2006/main" w="0">
            <a:solidFill>
              <a:srgbClr val="F3E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7FEBF-DE61-4759-A669-0DD52F47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知识层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15307-D16C-4FAF-88A6-FC40AE0C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86250"/>
            <a:ext cx="852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规则 / 指南 / 设备说明 / 来源片段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8C71C-12EA-4553-858A-665B9565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ED"/>
          </a:solidFill>
          <a:ln xmlns:a="http://schemas.openxmlformats.org/drawingml/2006/main" w="0">
            <a:solidFill>
              <a:srgbClr val="E9F7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05689-2CA8-4327-8CB2-08EC8BF1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5C"/>
                </a:solidFill>
              </a:defRPr>
            </a:pPr>
            <a:r>
              <a:rPr sz="1200" b="1">
                <a:solidFill>
                  <a:srgbClr val="1B7F5C"/>
                </a:solidFill>
              </a:rPr>
              <a:t>数据层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8247A6-8F72-42F7-89E7-94D498AE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29200"/>
            <a:ext cx="852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D1 / SQLite · 7 张表 · 事件与 AI 运行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CB100-01C4-46F1-BE8E-8A9C7D28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553075"/>
            <a:ext cx="29718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E7DCAF-52FD-4006-9E70-4B595766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6197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密钥仅在服务端环境变量</a:t>
            </a:r>
          </a:p>
        </p:txBody>
      </p:sp>
    </p:spTree>
    <p:extLst>
      <p:ext uri="{BB962C8B-B14F-4D97-AF65-F5344CB8AC3E}">
        <p14:creationId xmlns:p14="http://schemas.microsoft.com/office/powerpoint/2010/main" val="17320214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4B981C-219D-491C-95AD-5AEE9278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8F"/>
                </a:solidFill>
              </a:defRPr>
            </a:pPr>
            <a:r>
              <a:rPr sz="825" b="1">
                <a:solidFill>
                  <a:srgbClr val="0E9F8F"/>
                </a:solidFill>
              </a:rPr>
              <a:t>AGENT CONTRACTS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25BAA-C715-4482-A90B-27786783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772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三个窄任务，统一安全外壳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20541-3C09-4B58-8095-60BFB657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F7F"/>
                </a:solidFill>
              </a:defRPr>
            </a:pPr>
            <a:r>
              <a:rPr sz="1125" b="0">
                <a:solidFill>
                  <a:srgbClr val="5C6F7F"/>
                </a:solidFill>
              </a:rPr>
              <a:t>清晰契约比高权限自治更适合正式校园事务。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4D5D2-3D1E-472F-93B2-EA6BCAE1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27C8E-375F-4335-87EF-76B12909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293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F7F"/>
                </a:solidFill>
              </a:defRPr>
            </a:pPr>
            <a:r>
              <a:rPr sz="750" b="1">
                <a:solidFill>
                  <a:srgbClr val="5C6F7F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E532D-777D-4D54-8FCB-A7CE4D7C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333750" cy="33909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71F81-ADCF-4D75-BA0F-D6E4E130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6200" cy="3390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C89F0-D787-4191-9423-9F6C80D6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9F8F"/>
                </a:solidFill>
              </a:defRPr>
            </a:pPr>
            <a:r>
              <a:rPr sz="750" b="1">
                <a:solidFill>
                  <a:srgbClr val="0E9F8F"/>
                </a:solidFill>
              </a:rPr>
              <a:t>FORM_ASSIST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F3715-593D-4A93-BB93-BBF665B4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把申请说清楚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F2D43-E6B0-4068-A6B3-20E0587E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29146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输入：已填字段 + 最小指南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输出：润色建议 / 缺项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人工确认后才采用；</a:t>
            </a:r>
          </a:p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不改人数、日期等事实。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D82B5-63F8-4D73-95E7-48F21C00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333750" cy="33909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77DF4-A22D-446E-A34D-4573074A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76200" cy="3390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BC356-A5C4-40A8-863B-1CC69ECA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717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F5F"/>
                </a:solidFill>
              </a:defRPr>
            </a:pPr>
            <a:r>
              <a:rPr sz="750" b="1">
                <a:solidFill>
                  <a:srgbClr val="173F5F"/>
                </a:solidFill>
              </a:rPr>
              <a:t>REVIEW_BRIEF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47FC2-0AA0-495C-BC23-1F26F9C3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288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把证据排整齐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E19B8-39A2-48DF-83F3-D5F04CDF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05125"/>
            <a:ext cx="29146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输入：事实 + 规则结果 + 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输出：摘要 / 通过失败项 / 人工判断项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不能发明规则，不能批准。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2FFD0-8FCE-4136-A014-30438E6D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3333750" cy="33909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4EC55-E171-4BE3-B829-DC438EF7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76200" cy="3390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A"/>
          </a:solidFill>
          <a:ln xmlns:a="http://schemas.openxmlformats.org/drawingml/2006/main" w="0">
            <a:solidFill>
              <a:srgbClr val="F26B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CBE19-71FD-4D1F-A4BA-DA1CB6B3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717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6B4A"/>
                </a:solidFill>
              </a:defRPr>
            </a:pPr>
            <a:r>
              <a:rPr sz="750" b="1">
                <a:solidFill>
                  <a:srgbClr val="F26B4A"/>
                </a:solidFill>
              </a:rPr>
              <a:t>RETURN_MESSAGE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164FC-EFAB-45A5-BDF0-E0B8F15B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288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把原因讲明白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912BD4-E526-4286-892B-18F6280F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05125"/>
            <a:ext cx="29146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输入：程序已确认的退回原因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输出：友好说明 / 修改步骤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不能增加新理由，不能自动发送。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5E3788-56BA-4C10-9D93-40BE8FC9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657850"/>
            <a:ext cx="61912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19759-1097-4C8F-8BA1-0E1F0FB0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724525"/>
            <a:ext cx="603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严格 JSON → Schema → 任务 → 引用 → 事实 → 降级</a:t>
            </a:r>
          </a:p>
        </p:txBody>
      </p:sp>
    </p:spTree>
    <p:extLst>
      <p:ext uri="{BB962C8B-B14F-4D97-AF65-F5344CB8AC3E}">
        <p14:creationId xmlns:p14="http://schemas.microsoft.com/office/powerpoint/2010/main" val="6188541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F4BE99-8E25-4B9D-AB72-AC967983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8F"/>
                </a:solidFill>
              </a:defRPr>
            </a:pPr>
            <a:r>
              <a:rPr sz="825" b="1">
                <a:solidFill>
                  <a:srgbClr val="0E9F8F"/>
                </a:solidFill>
              </a:rPr>
              <a:t>DETERMINISTIC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2082F-30E7-40C3-822B-1A03AE07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772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可计算规则，不交给大模型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88F28-D177-4EC3-9CBF-C1EC3350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F7F"/>
                </a:solidFill>
              </a:defRPr>
            </a:pPr>
            <a:r>
              <a:rPr sz="1125" b="0">
                <a:solidFill>
                  <a:srgbClr val="5C6F7F"/>
                </a:solidFill>
              </a:rPr>
              <a:t>模型负责解释；程序负责是否通过。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B8DAE-CA7D-4926-A520-E68AA64E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67808-4F22-4EDF-850F-AFA2A7CC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293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F7F"/>
                </a:solidFill>
              </a:defRPr>
            </a:pPr>
            <a:r>
              <a:rPr sz="750" b="1">
                <a:solidFill>
                  <a:srgbClr val="5C6F7F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D4ECB-8855-4C67-A0B2-0292F2AA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524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0">
            <a:solidFill>
              <a:srgbClr val="DDF6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C9890-6A0D-4D45-96CF-D96D8DC7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E9F8F"/>
                </a:solidFill>
              </a:defRPr>
            </a:pPr>
            <a:r>
              <a:rPr sz="825" b="1">
                <a:solidFill>
                  <a:srgbClr val="0E9F8F"/>
                </a:solidFill>
              </a:rPr>
              <a:t>REQ-001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10FFE-AB8A-4FF7-AE08-27ACD435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24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必填字段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DD386-BD5C-42CD-98AD-78C33BCD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335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F7F"/>
                </a:solidFill>
              </a:defRPr>
            </a:pPr>
            <a:r>
              <a:rPr sz="975" b="0">
                <a:solidFill>
                  <a:srgbClr val="5C6F7F"/>
                </a:solidFill>
              </a:rPr>
              <a:t>缺失字段列表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0A7CC-3E3D-4A5E-A046-FCEDD4F5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66900"/>
            <a:ext cx="19812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solidFill>
              <a:srgbClr val="F4F7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88089-95BD-4438-AC79-8B68560D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335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C6F7F"/>
                </a:solidFill>
              </a:defRPr>
            </a:pPr>
            <a:r>
              <a:rPr sz="825" b="1">
                <a:solidFill>
                  <a:srgbClr val="5C6F7F"/>
                </a:solidFill>
              </a:rPr>
              <a:t>返回明确证据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700BB-3D70-4E7F-9880-E6666052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524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solidFill>
              <a:srgbClr val="FFF3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00950-4C71-4781-A13A-BAC8A97B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574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6B4A"/>
                </a:solidFill>
              </a:defRPr>
            </a:pPr>
            <a:r>
              <a:rPr sz="825" b="1">
                <a:solidFill>
                  <a:srgbClr val="F26B4A"/>
                </a:solidFill>
              </a:rPr>
              <a:t>CAP-001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746EE-ABFD-4A60-9012-D10D1892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47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人数 ≤ 容量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09BDB-A423-480C-9ECF-CF9B69C9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574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F7F"/>
                </a:solidFill>
              </a:defRPr>
            </a:pPr>
            <a:r>
              <a:rPr sz="975" b="0">
                <a:solidFill>
                  <a:srgbClr val="5C6F7F"/>
                </a:solidFill>
              </a:rPr>
              <a:t>申请人数 / 容量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A1F14-0901-4047-AFC2-1014A2E3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90800"/>
            <a:ext cx="19812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solidFill>
              <a:srgbClr val="FFF3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A1C4A-9F82-4C91-BC10-BF627A61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574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2318"/>
                </a:solidFill>
              </a:defRPr>
            </a:pPr>
            <a:r>
              <a:rPr sz="825" b="1">
                <a:solidFill>
                  <a:srgbClr val="B42318"/>
                </a:solidFill>
              </a:rPr>
              <a:t>失败即阻止提交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E612CD-AAEC-41E6-9CCE-93D33855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524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0">
            <a:solidFill>
              <a:srgbClr val="DDF6F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5A3501-FE99-4A5D-92CE-58570D86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E9F8F"/>
                </a:solidFill>
              </a:defRPr>
            </a:pPr>
            <a:r>
              <a:rPr sz="825" b="1">
                <a:solidFill>
                  <a:srgbClr val="0E9F8F"/>
                </a:solidFill>
              </a:rPr>
              <a:t>TIME-001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4C6A4-44A1-450D-85B6-8DFF8E77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71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结束 &gt; 开始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69C63-80B7-44C6-A480-D17A2295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813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F7F"/>
                </a:solidFill>
              </a:defRPr>
            </a:pPr>
            <a:r>
              <a:rPr sz="975" b="0">
                <a:solidFill>
                  <a:srgbClr val="5C6F7F"/>
                </a:solidFill>
              </a:rPr>
              <a:t>起止时间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1A721-8D7D-4F0C-A2BC-F7145C5B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19812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solidFill>
              <a:srgbClr val="F4F7F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F9552-7B4B-4EA9-BF5C-2E7BECDD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813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C6F7F"/>
                </a:solidFill>
              </a:defRPr>
            </a:pPr>
            <a:r>
              <a:rPr sz="825" b="1">
                <a:solidFill>
                  <a:srgbClr val="5C6F7F"/>
                </a:solidFill>
              </a:rPr>
              <a:t>返回明确证据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2805F1-C91C-4256-9A9A-C01D7F8B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524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0">
            <a:solidFill>
              <a:srgbClr val="DDF6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E59CCD-FF03-4CC3-92F6-72C543D6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E9F8F"/>
                </a:solidFill>
              </a:defRPr>
            </a:pPr>
            <a:r>
              <a:rPr sz="825" b="1">
                <a:solidFill>
                  <a:srgbClr val="0E9F8F"/>
                </a:solidFill>
              </a:rPr>
              <a:t>HOUR-001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E02FAE-7618-423B-8AF6-E54CE92D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95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处于开放时段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DC7448-96CE-4268-8F39-FB802C28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052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F7F"/>
                </a:solidFill>
              </a:defRPr>
            </a:pPr>
            <a:r>
              <a:rPr sz="975" b="0">
                <a:solidFill>
                  <a:srgbClr val="5C6F7F"/>
                </a:solidFill>
              </a:rPr>
              <a:t>申请/开放时段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70CD3B-B806-4CB0-AF00-BAAD6E44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38600"/>
            <a:ext cx="19812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solidFill>
              <a:srgbClr val="F4F7F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8E08FE-1A33-4B55-9794-23B001A9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052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C6F7F"/>
                </a:solidFill>
              </a:defRPr>
            </a:pPr>
            <a:r>
              <a:rPr sz="825" b="1">
                <a:solidFill>
                  <a:srgbClr val="5C6F7F"/>
                </a:solidFill>
              </a:rPr>
              <a:t>返回明确证据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FC6163-46C6-4A59-A8BC-F4558640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524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0">
            <a:solidFill>
              <a:srgbClr val="DDF6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CD25D3-CF72-4F06-AD4C-A5A22251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E9F8F"/>
                </a:solidFill>
              </a:defRPr>
            </a:pPr>
            <a:r>
              <a:rPr sz="825" b="1">
                <a:solidFill>
                  <a:srgbClr val="0E9F8F"/>
                </a:solidFill>
              </a:rPr>
              <a:t>CONFLICT-001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580CB1-4D41-4B03-9D49-F0864B5A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19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同场地无冲突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E8A976-6E11-4A4C-97FD-20725C2E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291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F7F"/>
                </a:solidFill>
              </a:defRPr>
            </a:pPr>
            <a:r>
              <a:rPr sz="975" b="0">
                <a:solidFill>
                  <a:srgbClr val="5C6F7F"/>
                </a:solidFill>
              </a:rPr>
              <a:t>冲突事务编号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FDDCA3-199C-421F-9D1F-5478E2E0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19812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solidFill>
              <a:srgbClr val="F4F7F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EB1485-2708-4A94-BE91-8DE58340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291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C6F7F"/>
                </a:solidFill>
              </a:defRPr>
            </a:pPr>
            <a:r>
              <a:rPr sz="825" b="1">
                <a:solidFill>
                  <a:srgbClr val="5C6F7F"/>
                </a:solidFill>
              </a:rPr>
              <a:t>返回明确证据</a:t>
            </a:r>
          </a:p>
        </p:txBody>
      </p:sp>
    </p:spTree>
    <p:extLst>
      <p:ext uri="{BB962C8B-B14F-4D97-AF65-F5344CB8AC3E}">
        <p14:creationId xmlns:p14="http://schemas.microsoft.com/office/powerpoint/2010/main" val="1678747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C664F3-8561-4C54-94BE-42D6A35B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8F"/>
                </a:solidFill>
              </a:defRPr>
            </a:pPr>
            <a:r>
              <a:rPr sz="825" b="1">
                <a:solidFill>
                  <a:srgbClr val="0E9F8F"/>
                </a:solidFill>
              </a:rPr>
              <a:t>AUDIT TRAIL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C9F88-9FD2-4865-A024-EE9336E9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772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退回不是覆盖，而是生成 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5A031-3686-4136-BBD2-EB91B9A7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F7F"/>
                </a:solidFill>
              </a:defRPr>
            </a:pPr>
            <a:r>
              <a:rPr sz="1125" b="0">
                <a:solidFill>
                  <a:srgbClr val="5C6F7F"/>
                </a:solidFill>
              </a:rPr>
              <a:t>历史版本保持只读，状态变化追加事件。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5FCD4-7E32-48FF-97D6-DDD91C41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6779E-EA26-4026-A3B0-B3D2E043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293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F7F"/>
                </a:solidFill>
              </a:defRPr>
            </a:pPr>
            <a:r>
              <a:rPr sz="750" b="1">
                <a:solidFill>
                  <a:srgbClr val="5C6F7F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D8ECC-A7CF-4795-AA2E-1D9F0049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857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D9EF6-B40F-405F-847F-8AE6BE0A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solidFill>
              <a:srgbClr val="EAF2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8F3DA-E5CB-413D-94F9-FD9D2060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02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3F5F"/>
                </a:solidFill>
              </a:defRPr>
            </a:pPr>
            <a:r>
              <a:rPr sz="825" b="1">
                <a:solidFill>
                  <a:srgbClr val="173F5F"/>
                </a:solidFill>
              </a:rPr>
              <a:t>版本记录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6FBC9-C99D-456A-BDC6-B6E667BD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43434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5E988-2E5D-481A-839F-D2BE7D5D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7620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A"/>
          </a:solidFill>
          <a:ln xmlns:a="http://schemas.openxmlformats.org/drawingml/2006/main" w="0">
            <a:solidFill>
              <a:srgbClr val="F26B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540A1-5259-4EA8-94ED-0B850865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90825"/>
            <a:ext cx="394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6B4A"/>
                </a:solidFill>
              </a:defRPr>
            </a:pPr>
            <a:r>
              <a:rPr sz="750" b="1">
                <a:solidFill>
                  <a:srgbClr val="F26B4A"/>
                </a:solidFill>
              </a:rPr>
              <a:t>V1 · RETURNED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409DA-94F3-4523-9ABD-14E389B6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申请人数 120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27E67-8F82-4179-A44D-6D9D0CC8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24250"/>
            <a:ext cx="3924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保留原始事实与退回理由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015BE-9339-4311-A841-4A048DE1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9433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9F8F"/>
                </a:solidFill>
              </a:defRPr>
            </a:pPr>
            <a:r>
              <a:rPr sz="1800" b="1">
                <a:solidFill>
                  <a:srgbClr val="0E9F8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4C490-1807-406D-94DE-D3F13D72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76725"/>
            <a:ext cx="43434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8C8393-147C-4BCD-9187-D8676D35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76725"/>
            <a:ext cx="7620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58F86-C4C0-4FC3-9EB8-2F5C7235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48175"/>
            <a:ext cx="394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9F8F"/>
                </a:solidFill>
              </a:defRPr>
            </a:pPr>
            <a:r>
              <a:rPr sz="750" b="1">
                <a:solidFill>
                  <a:srgbClr val="0E9F8F"/>
                </a:solidFill>
              </a:rPr>
              <a:t>V2 · APPROVED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0813D-36C2-497C-AFA6-B5A7519F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申请人数 80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04253-3FB2-4110-AFFA-3575BB6B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81600"/>
            <a:ext cx="3924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修改后重新提交并批准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550DFD-F744-4A14-8DC6-C3D6AAA5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24050"/>
            <a:ext cx="55435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81D2C"/>
          </a:solidFill>
          <a:ln xmlns:a="http://schemas.openxmlformats.org/drawingml/2006/main" w="0">
            <a:solidFill>
              <a:srgbClr val="081D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ED043-4D30-44C3-A242-10C46FCB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71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E0D2"/>
                </a:solidFill>
              </a:defRPr>
            </a:pPr>
            <a:r>
              <a:rPr sz="1125" b="1">
                <a:solidFill>
                  <a:srgbClr val="7BE0D2"/>
                </a:solidFill>
              </a:rPr>
              <a:t>事件时间轴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7A602E-1714-4B8E-B214-2C45B19D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860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7451D-CD79-44FA-B898-9AC55004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创建申请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97D0A8-4E52-48C2-BDDC-8DBB2729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099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393F73-A29F-4DCE-8328-D66CCDA4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718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AI 表单建议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C2ED93-00AD-43FC-9635-6EBFBFDA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1F0F26-7047-43D0-A0FC-9F61AEF4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规则预检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787634-9639-408D-9E0C-DAB7D778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576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E584D2-EF7B-42F0-A485-F39DA703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95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提交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905237-12CD-47A9-B98E-B2592A96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815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FF48C4-CFAF-4703-BFFA-142A2ECA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开始审核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D84846-AEA9-4098-A1C7-1C6C6517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89C0A0-B089-416D-BD26-D28C86BD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退回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88FF43-4DBB-4F9E-88F5-F3004C9A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099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ACD031-DD8A-46EB-847D-C1F04C8C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718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创建 V2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968949-6DB4-4B77-81E3-68B7F546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33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645D9F-7388-4DC1-8627-9B3C9BFB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重新提交 / 审核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E251E8-0CDB-48F1-92D5-C60CD7E8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576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49D461-A806-4CA6-80BF-835FE127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195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批准 / 办结</a:t>
            </a:r>
          </a:p>
        </p:txBody>
      </p:sp>
    </p:spTree>
    <p:extLst>
      <p:ext uri="{BB962C8B-B14F-4D97-AF65-F5344CB8AC3E}">
        <p14:creationId xmlns:p14="http://schemas.microsoft.com/office/powerpoint/2010/main" val="10147341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811597-F333-4C62-B949-F9F521B6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8F"/>
                </a:solidFill>
              </a:defRPr>
            </a:pPr>
            <a:r>
              <a:rPr sz="825" b="1">
                <a:solidFill>
                  <a:srgbClr val="0E9F8F"/>
                </a:solidFill>
              </a:rPr>
              <a:t>FAIL SAFE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E8595-1095-4F86-BE9C-975FDDBC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772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安全不是口号：现场注入故障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7D188-68D4-45A8-A139-4C9082A5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F7F"/>
                </a:solidFill>
              </a:defRPr>
            </a:pPr>
            <a:r>
              <a:rPr sz="1125" b="0">
                <a:solidFill>
                  <a:srgbClr val="5C6F7F"/>
                </a:solidFill>
              </a:rPr>
              <a:t>错误被看见、被记录，但不会改变事务状态。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07D14-9F3B-4587-8676-E28948D3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5BBBA-2D66-48A8-903F-35E0848E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293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F7F"/>
                </a:solidFill>
              </a:defRPr>
            </a:pPr>
            <a:r>
              <a:rPr sz="750" b="1">
                <a:solidFill>
                  <a:srgbClr val="5C6F7F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0A206-E6CB-464D-A5B2-9AAC1BAC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3337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85A7A-E5F3-42A2-BA08-E75FB3C5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6200" cy="2047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A"/>
          </a:solidFill>
          <a:ln xmlns:a="http://schemas.openxmlformats.org/drawingml/2006/main" w="0">
            <a:solidFill>
              <a:srgbClr val="F26B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7AF22-9C86-411C-85FE-7DA94140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6B4A"/>
                </a:solidFill>
              </a:defRPr>
            </a:pPr>
            <a:r>
              <a:rPr sz="750" b="1">
                <a:solidFill>
                  <a:srgbClr val="F26B4A"/>
                </a:solidFill>
              </a:rPr>
              <a:t>invalid_json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A9759-23FD-484E-8CD2-5D88CB0F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模型返回非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CF833-A294-4DA0-B017-1D961E78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9425"/>
            <a:ext cx="2914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结果：结构解析拒绝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正式状态：保持不变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10AD5-B056-4342-9D06-AD874391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14550"/>
            <a:ext cx="33337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41C48-F889-4263-845F-C824546D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14550"/>
            <a:ext cx="76200" cy="2047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063EA-04C7-4F60-9716-B75194F4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42318"/>
                </a:solidFill>
              </a:defRPr>
            </a:pPr>
            <a:r>
              <a:rPr sz="750" b="1">
                <a:solidFill>
                  <a:srgbClr val="B42318"/>
                </a:solidFill>
              </a:rPr>
              <a:t>rule_999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79647-30B7-4F01-91E1-D5FF83BD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431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引用不存在规则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5B28E-3C84-49BC-8C69-F9466F7F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19425"/>
            <a:ext cx="2914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结果：RULE_NOT_FOUND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正式状态：保持不变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06FB5-47B5-4D03-A049-46B5C58A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33337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161C4-FF2F-4228-9F0A-67C5A5F7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76200" cy="2047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FDDFE-F259-47D1-B149-3444C1CE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F5F"/>
                </a:solidFill>
              </a:defRPr>
            </a:pPr>
            <a:r>
              <a:rPr sz="750" b="1">
                <a:solidFill>
                  <a:srgbClr val="173F5F"/>
                </a:solidFill>
              </a:rPr>
              <a:t>timeout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02F314-EF9C-445C-A5B9-E6B8D086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431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模型超时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A2643E-5C7A-4261-86B4-13D3C273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19425"/>
            <a:ext cx="29146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结果：固定模板降级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正式状态：保持不变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84C0B-0164-4149-9E57-A66597F3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1D2C"/>
          </a:solidFill>
          <a:ln xmlns:a="http://schemas.openxmlformats.org/drawingml/2006/main" w="0">
            <a:solidFill>
              <a:srgbClr val="081D2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B1299-DCEA-40AE-84B8-430CB5FA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模型失败 ≠ 业务失败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93EF8-EC2F-419C-8F09-2A470449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19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CD8"/>
                </a:solidFill>
              </a:defRPr>
            </a:pPr>
            <a:r>
              <a:rPr sz="1125" b="0">
                <a:solidFill>
                  <a:srgbClr val="B8CCD8"/>
                </a:solidFill>
              </a:rPr>
              <a:t>记录 AI 运行 → 返回明确错误 → 启用确定性降级 → 人工继续处理</a:t>
            </a:r>
          </a:p>
        </p:txBody>
      </p:sp>
    </p:spTree>
    <p:extLst>
      <p:ext uri="{BB962C8B-B14F-4D97-AF65-F5344CB8AC3E}">
        <p14:creationId xmlns:p14="http://schemas.microsoft.com/office/powerpoint/2010/main" val="3934380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F55117-0BF4-48D9-B18D-9864CBA0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8F"/>
                </a:solidFill>
              </a:defRPr>
            </a:pPr>
            <a:r>
              <a:rPr sz="825" b="1">
                <a:solidFill>
                  <a:srgbClr val="0E9F8F"/>
                </a:solidFill>
              </a:rPr>
              <a:t>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526FE-C690-4044-9091-46306A8A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772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已经执行的结果，不是愿景数字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D47BE-9DD7-4BBA-A1D9-3224287A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F7F"/>
                </a:solidFill>
              </a:defRPr>
            </a:pPr>
            <a:r>
              <a:rPr sz="1125" b="0">
                <a:solidFill>
                  <a:srgbClr val="5C6F7F"/>
                </a:solidFill>
              </a:rPr>
              <a:t>工程测试、浏览器验收和依赖审计共同构成证据。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F4CA6-DF56-45F8-A936-52AF73C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722B9-357F-45E4-B299-62E0E026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293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F7F"/>
                </a:solidFill>
              </a:defRPr>
            </a:pPr>
            <a:r>
              <a:rPr sz="750" b="1">
                <a:solidFill>
                  <a:srgbClr val="5C6F7F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30F14-5ADC-4D4D-8F7F-B4AFA8D7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2457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F122D-CCDA-42C3-BC49-41AADB08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02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E9F8F"/>
                </a:solidFill>
              </a:defRPr>
            </a:pPr>
            <a:r>
              <a:rPr sz="2250" b="1">
                <a:solidFill>
                  <a:srgbClr val="0E9F8F"/>
                </a:solidFill>
              </a:rPr>
              <a:t>13 / 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A41D0-7574-4FAF-9BB9-EB0B3C0E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Vitest 单测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45423-624D-4C16-BA30-109BB93B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C6F7F"/>
                </a:solidFill>
              </a:defRPr>
            </a:pPr>
            <a:r>
              <a:rPr sz="750" b="0">
                <a:solidFill>
                  <a:srgbClr val="5C6F7F"/>
                </a:solidFill>
              </a:rPr>
              <a:t>规则 / 状态 / AI 契约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56043-910B-4B15-BB9A-A7329F17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28825"/>
            <a:ext cx="2457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96F16-DB54-4B01-9A12-03552A24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002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F5F"/>
                </a:solidFill>
              </a:defRPr>
            </a:pPr>
            <a:r>
              <a:rPr sz="2250" b="1">
                <a:solidFill>
                  <a:srgbClr val="173F5F"/>
                </a:solidFill>
              </a:rPr>
              <a:t>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15C09-B150-47D8-AF2A-B972DDF9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3842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完整 E2E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0A8FF-A11E-423A-80BC-CD522930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908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C6F7F"/>
                </a:solidFill>
              </a:defRPr>
            </a:pPr>
            <a:r>
              <a:rPr sz="750" b="0">
                <a:solidFill>
                  <a:srgbClr val="5C6F7F"/>
                </a:solidFill>
              </a:rPr>
              <a:t>含退回 / V2 / 办结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24A06-F203-42BD-BB7A-BC840E19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28825"/>
            <a:ext cx="2457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2745A-4099-49ED-8252-D6044A01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02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6B4A"/>
                </a:solidFill>
              </a:defRPr>
            </a:pPr>
            <a:r>
              <a:rPr sz="2250" b="1">
                <a:solidFill>
                  <a:srgbClr val="F26B4A"/>
                </a:solidFill>
              </a:rPr>
              <a:t>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AB3FA-9C8A-42D3-9C70-1D92A8F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3842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WebMCP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40121-ECCA-4BB1-8D5C-DE13FC0F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908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C6F7F"/>
                </a:solidFill>
              </a:defRPr>
            </a:pPr>
            <a:r>
              <a:rPr sz="750" b="0">
                <a:solidFill>
                  <a:srgbClr val="5C6F7F"/>
                </a:solidFill>
              </a:rPr>
              <a:t>3 项工具契约验证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0DCFB3-B61A-451A-B13C-DF5E4877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28825"/>
            <a:ext cx="2762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3A2110-11D0-4261-832E-CC6CB818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00275"/>
            <a:ext cx="241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B7F5C"/>
                </a:solidFill>
              </a:defRPr>
            </a:pPr>
            <a:r>
              <a:rPr sz="2250" b="1">
                <a:solidFill>
                  <a:srgbClr val="1B7F5C"/>
                </a:solidFill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360D8-2D2A-4D89-8776-94D06595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384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高危依赖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0CE7C8-D28C-44DE-A11F-0FBCCC3F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9085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C6F7F"/>
                </a:solidFill>
              </a:defRPr>
            </a:pPr>
            <a:r>
              <a:rPr sz="750" b="0">
                <a:solidFill>
                  <a:srgbClr val="5C6F7F"/>
                </a:solidFill>
              </a:rPr>
              <a:t>Critical / High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9D4E7B-3151-4FAF-96B4-27F2AE94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52006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B4BD06-81BC-4F27-8921-BBCC0080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C4FDDC-357E-4A54-8CBE-3AA1900B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480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9F8F"/>
                </a:solidFill>
              </a:defRPr>
            </a:pPr>
            <a:r>
              <a:rPr sz="750" b="1">
                <a:solidFill>
                  <a:srgbClr val="0E9F8F"/>
                </a:solidFill>
              </a:rPr>
              <a:t>幂等性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E96D19-F3A4-4DAB-8712-68B78CEA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重复迁移不产生重复事件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464C96-1094-4CC5-95AB-74398387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478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同一幂等键重复调用，事件总数保持不变。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4FFCB-5491-4DA2-A640-2AAB1D39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67125"/>
            <a:ext cx="5353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0086AB-458C-44ED-870E-B9F7DB71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6712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A"/>
          </a:solidFill>
          <a:ln xmlns:a="http://schemas.openxmlformats.org/drawingml/2006/main" w="0">
            <a:solidFill>
              <a:srgbClr val="F26B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A93242-4654-4A5B-B46B-DD6B4BCD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385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6B4A"/>
                </a:solidFill>
              </a:defRPr>
            </a:pPr>
            <a:r>
              <a:rPr sz="750" b="1">
                <a:solidFill>
                  <a:srgbClr val="F26B4A"/>
                </a:solidFill>
              </a:rPr>
              <a:t>模型引用校验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197B96-4DDE-479D-ACBA-14BA01F5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rule_999 被拒绝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6B38F8-DB0C-411A-BF41-C3E3C7C5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493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返回 RULE_NOT_FOUND；事务状态保持不变。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327184-1419-4863-A11B-8B644EAA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619750"/>
            <a:ext cx="52578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solidFill>
              <a:srgbClr val="FFF3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87D777-68DD-4738-9852-ADB80473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686425"/>
            <a:ext cx="510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6B4A"/>
                </a:solidFill>
              </a:defRPr>
            </a:pPr>
            <a:r>
              <a:rPr sz="825" b="1">
                <a:solidFill>
                  <a:srgbClr val="F26B4A"/>
                </a:solidFill>
              </a:rPr>
              <a:t>真实用户试点：待团队组织 ≥3 人并保留原始记录</a:t>
            </a:r>
          </a:p>
        </p:txBody>
      </p:sp>
    </p:spTree>
    <p:extLst>
      <p:ext uri="{BB962C8B-B14F-4D97-AF65-F5344CB8AC3E}">
        <p14:creationId xmlns:p14="http://schemas.microsoft.com/office/powerpoint/2010/main" val="12307598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07F29A-620E-4D80-B289-C0C8CCFE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8F"/>
                </a:solidFill>
              </a:defRPr>
            </a:pPr>
            <a:r>
              <a:rPr sz="825" b="1">
                <a:solidFill>
                  <a:srgbClr val="0E9F8F"/>
                </a:solidFill>
              </a:rPr>
              <a:t>INNOVATION &amp;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1EC8F-E16F-4CCE-A678-6EE252C6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772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创新不在“让模型做更多”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72794-B780-43C3-8A01-F90A09D0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F7F"/>
                </a:solidFill>
              </a:defRPr>
            </a:pPr>
            <a:r>
              <a:rPr sz="1125" b="0">
                <a:solidFill>
                  <a:srgbClr val="5C6F7F"/>
                </a:solidFill>
              </a:rPr>
              <a:t>而在让每个结论都可验证、每个高风险动作都可控。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221EF-9FD7-4E3C-BD7E-4D260078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752FC-D87D-4F54-8273-EEE7D48F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293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F7F"/>
                </a:solidFill>
              </a:defRPr>
            </a:pPr>
            <a:r>
              <a:rPr sz="750" b="1">
                <a:solidFill>
                  <a:srgbClr val="5C6F7F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148AE-1A4B-4BFE-A77B-96DEBD98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006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84E45-627E-41BC-8BBC-458B0E3B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9525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B50E2-D847-4815-B886-4CB19FEA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双控制面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9FF4E-B495-477D-9A9C-523306C9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336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F7F"/>
                </a:solidFill>
              </a:defRPr>
            </a:pPr>
            <a:r>
              <a:rPr sz="975" b="0">
                <a:solidFill>
                  <a:srgbClr val="5C6F7F"/>
                </a:solidFill>
              </a:rPr>
              <a:t>语言理解与业务决策解耦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8398E-E4F6-4CD9-8FF1-26BD289A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52006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FD76E-33DD-45F1-A9D6-278FA550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9525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BDCDF-71A6-4DB4-9421-B586BC62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860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证据化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43D90-A607-4DA8-8B5F-DC0489DD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336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F7F"/>
                </a:solidFill>
              </a:defRPr>
            </a:pPr>
            <a:r>
              <a:rPr sz="975" b="0">
                <a:solidFill>
                  <a:srgbClr val="5C6F7F"/>
                </a:solidFill>
              </a:rPr>
              <a:t>规则 / 知识 / 事实 / 版本统一引用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F2299-3656-441C-AAA1-73FFD6DF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2006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0D854-A07E-4538-8C8E-D0D6DC21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9525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A"/>
          </a:solidFill>
          <a:ln xmlns:a="http://schemas.openxmlformats.org/drawingml/2006/main" w="0">
            <a:solidFill>
              <a:srgbClr val="F26B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774A4-2B5C-4C71-BFBF-3E91D433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故障可演示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E3168-2907-49A2-B49F-29EC6CF9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F7F"/>
                </a:solidFill>
              </a:defRPr>
            </a:pPr>
            <a:r>
              <a:rPr sz="975" b="0">
                <a:solidFill>
                  <a:srgbClr val="5C6F7F"/>
                </a:solidFill>
              </a:rPr>
              <a:t>非 JSON / 超时 / 虚假规则现场验证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24B7D-D9F7-4341-9429-AFCB2971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57600"/>
            <a:ext cx="52006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76D7D-E6D8-4BD5-8965-2BF54C27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9525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1B7F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9DEDDB-270C-476D-8ECF-7DCEA3AE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052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跨场景复用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0DB97-DDEA-4E37-978B-547077C4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5292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F7F"/>
                </a:solidFill>
              </a:defRPr>
            </a:pPr>
            <a:r>
              <a:rPr sz="975" b="0">
                <a:solidFill>
                  <a:srgbClr val="5C6F7F"/>
                </a:solidFill>
              </a:rPr>
              <a:t>可信控制面可迁移到其他校园事务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99ED7-E366-438C-A47F-6B8BF88C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57825"/>
            <a:ext cx="80391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BB6CDE-61AC-4EAE-B7E7-76FA8894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524500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价值用真实指标验证：填表时长 / 首次通过率 / 退回次数 / 审核时长</a:t>
            </a:r>
          </a:p>
        </p:txBody>
      </p:sp>
    </p:spTree>
    <p:extLst>
      <p:ext uri="{BB962C8B-B14F-4D97-AF65-F5344CB8AC3E}">
        <p14:creationId xmlns:p14="http://schemas.microsoft.com/office/powerpoint/2010/main" val="1102926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8DC1D7-70F1-4034-A1EC-38E87BD3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8F"/>
                </a:solidFill>
              </a:defRPr>
            </a:pPr>
            <a:r>
              <a:rPr sz="825" b="1">
                <a:solidFill>
                  <a:srgbClr val="0E9F8F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856D9-CDF5-4FB9-9CE2-79DF4D8E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772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从可信样板到校内试点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9C993-7F81-4697-ADC7-88B70DE0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F7F"/>
                </a:solidFill>
              </a:defRPr>
            </a:pPr>
            <a:r>
              <a:rPr sz="1125" b="0">
                <a:solidFill>
                  <a:srgbClr val="5C6F7F"/>
                </a:solidFill>
              </a:rPr>
              <a:t>先验证，再接入；先治理，再扩展。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020D3-C5C4-43AD-9A4B-61682246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5C2E2-E413-4B2D-A3B9-F59F1BD6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293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C6F7F"/>
                </a:solidFill>
              </a:defRPr>
            </a:pPr>
            <a:r>
              <a:rPr sz="750" b="1">
                <a:solidFill>
                  <a:srgbClr val="5C6F7F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20783-C77F-49E3-BB73-DFC4C965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2457450" cy="30480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17680-BE51-41E5-AE1B-2B34C05B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24574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E196C-87B6-47E8-AB9A-2373EDFA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7C128-9548-49B0-86DB-2733E364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初赛样板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0E837-6945-448D-9693-BC1652B3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2825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产品 / 测试 / 部署 / 路演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50830-D0AD-4989-9B0F-450D3C6D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20002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0">
            <a:solidFill>
              <a:srgbClr val="DDF6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FA941-A46B-4618-A7A4-AD26FA10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E9F8F"/>
                </a:solidFill>
              </a:defRPr>
            </a:pPr>
            <a:r>
              <a:rPr sz="825" b="1">
                <a:solidFill>
                  <a:srgbClr val="0E9F8F"/>
                </a:solidFill>
              </a:rPr>
              <a:t>已完成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EF524-5ADA-47A4-9CAA-72445002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24075"/>
            <a:ext cx="2457450" cy="30480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44499-838B-4B27-B761-886BA2A2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24075"/>
            <a:ext cx="24574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6B4A"/>
          </a:solidFill>
          <a:ln xmlns:a="http://schemas.openxmlformats.org/drawingml/2006/main" w="0">
            <a:solidFill>
              <a:srgbClr val="F26B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AB2CF-5F65-4D3E-9965-F306CF29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05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8F6C6-2BF4-4D19-A3F3-3FB84F56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813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小规模试点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7B695-CE41-4377-9C17-4037F52E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52825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3–10 名用户 / 指标基线 / 规则校对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8629D-C55A-4FDB-8B5C-554A2C36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81525"/>
            <a:ext cx="20002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solidFill>
              <a:srgbClr val="F4F7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52D40-2A41-4566-A67E-52514625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482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C6F7F"/>
                </a:solidFill>
              </a:defRPr>
            </a:pPr>
            <a:r>
              <a:rPr sz="825" b="1">
                <a:solidFill>
                  <a:srgbClr val="5C6F7F"/>
                </a:solidFill>
              </a:rPr>
              <a:t>下一步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31FEC4-2F79-4E01-AB79-73924A14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24075"/>
            <a:ext cx="2457450" cy="30480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3827B1-680A-4493-B8EE-EE8D9C93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24075"/>
            <a:ext cx="24574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48E44-E66D-40B5-9B84-214A511D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420049-A9E1-44FB-9010-54EB75BC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813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真实系统接入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608718-D574-4469-AC43-FDF27A7F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52825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SSO / OA / 场地数据 / 合规评审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C875A9-F789-4BDB-8E8A-3526AEC9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81525"/>
            <a:ext cx="20002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solidFill>
              <a:srgbClr val="F4F7F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F321F6-C078-42BC-B5DF-509F364C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482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C6F7F"/>
                </a:solidFill>
              </a:defRPr>
            </a:pPr>
            <a:r>
              <a:rPr sz="825" b="1">
                <a:solidFill>
                  <a:srgbClr val="5C6F7F"/>
                </a:solidFill>
              </a:rPr>
              <a:t>需校方授权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A8F8E0-AEC7-4D63-8D5A-3EDBFC00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24075"/>
            <a:ext cx="2457450" cy="30480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266665-A337-43D8-83BC-6285F5E7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24075"/>
            <a:ext cx="24574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1B7F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C436CF-A6A1-4CA7-8372-4A872211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05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AD38DB-12B0-48EA-8871-5066A04D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813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复制新场景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AD0E94-3910-4B8C-B06A-EE3C054C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52825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F7F"/>
                </a:solidFill>
              </a:defRPr>
            </a:pPr>
            <a:r>
              <a:rPr sz="900" b="0">
                <a:solidFill>
                  <a:srgbClr val="5C6F7F"/>
                </a:solidFill>
              </a:rPr>
              <a:t>设备借用 / 访客 / 证明申请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55BC67-3112-4FBC-9A62-E67CFAEF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81525"/>
            <a:ext cx="20002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solidFill>
              <a:srgbClr val="F4F7F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EA1F9B-A7F8-4AD0-8652-E0C41A8D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482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C6F7F"/>
                </a:solidFill>
              </a:defRPr>
            </a:pPr>
            <a:r>
              <a:rPr sz="825" b="1">
                <a:solidFill>
                  <a:srgbClr val="5C6F7F"/>
                </a:solidFill>
              </a:rPr>
              <a:t>中期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7AB339-3142-4970-997E-7A58C41F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514975"/>
            <a:ext cx="63817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solidFill>
              <a:srgbClr val="FFF3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A1794D-E35A-48B0-8902-D50E0A6D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581650"/>
            <a:ext cx="622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6B4A"/>
                </a:solidFill>
              </a:defRPr>
            </a:pPr>
            <a:r>
              <a:rPr sz="825" b="1">
                <a:solidFill>
                  <a:srgbClr val="F26B4A"/>
                </a:solidFill>
              </a:rPr>
              <a:t>团队信息待补：产品答辩 / 前端交互 / 后端 Agent / 测试材料</a:t>
            </a:r>
          </a:p>
        </p:txBody>
      </p:sp>
    </p:spTree>
    <p:extLst>
      <p:ext uri="{BB962C8B-B14F-4D97-AF65-F5344CB8AC3E}">
        <p14:creationId xmlns:p14="http://schemas.microsoft.com/office/powerpoint/2010/main" val="20377350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80A3E-7C2B-43F4-AA16-817B6A74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2C"/>
          </a:solidFill>
          <a:ln xmlns:a="http://schemas.openxmlformats.org/drawingml/2006/main" w="0">
            <a:solidFill>
              <a:srgbClr val="081D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B0FE1-6ADB-4553-AB34-CFD3BF61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0"/>
            <a:ext cx="5200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95fd9b0214af5"/>
          <a:stretch xmlns:a="http://schemas.openxmlformats.org/drawingml/2006/main"/>
        </p:blipFill>
        <p:spPr>
          <a:xfrm xmlns:a="http://schemas.openxmlformats.org/drawingml/2006/main">
            <a:off x="7500408" y="1219200"/>
            <a:ext cx="4182533" cy="2352675"/>
          </a:xfrm>
          <a:prstGeom xmlns:a="http://schemas.openxmlformats.org/drawingml/2006/main" prst="roundRect">
            <a:avLst>
              <a:gd name="adj" fmla="val 647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5FA26-6AD1-4154-8BD0-EDB75ECB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991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2C"/>
          </a:solidFill>
          <a:ln xmlns:a="http://schemas.openxmlformats.org/drawingml/2006/main" w="0">
            <a:solidFill>
              <a:srgbClr val="081D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7AFC5-66AA-417F-ADEC-34208403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16192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153A52"/>
          </a:solidFill>
          <a:ln xmlns:a="http://schemas.openxmlformats.org/drawingml/2006/main" w="0">
            <a:solidFill>
              <a:srgbClr val="153A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023EC-2137-4E1A-9B90-FBE54CE8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624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BE0D2"/>
                </a:solidFill>
              </a:defRPr>
            </a:pPr>
            <a:r>
              <a:rPr sz="825" b="1">
                <a:solidFill>
                  <a:srgbClr val="7BE0D2"/>
                </a:solidFill>
              </a:rPr>
              <a:t>规则优先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7ADFC-4640-4E4B-B8BB-151F27AF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95750"/>
            <a:ext cx="1905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153A52"/>
          </a:solidFill>
          <a:ln xmlns:a="http://schemas.openxmlformats.org/drawingml/2006/main" w="0">
            <a:solidFill>
              <a:srgbClr val="153A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37888-DEAF-42E9-A237-1C7211BC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624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BE0D2"/>
                </a:solidFill>
              </a:defRPr>
            </a:pPr>
            <a:r>
              <a:rPr sz="825" b="1">
                <a:solidFill>
                  <a:srgbClr val="7BE0D2"/>
                </a:solidFill>
              </a:rPr>
              <a:t>证据可追溯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D8283-BE84-4C58-AA2B-BF9B75CE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29150"/>
            <a:ext cx="36766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153A52"/>
          </a:solidFill>
          <a:ln xmlns:a="http://schemas.openxmlformats.org/drawingml/2006/main" w="0">
            <a:solidFill>
              <a:srgbClr val="153A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F82ED-C298-40C7-80A5-E6426981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958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BE0D2"/>
                </a:solidFill>
              </a:defRPr>
            </a:pPr>
            <a:r>
              <a:rPr sz="825" b="1">
                <a:solidFill>
                  <a:srgbClr val="7BE0D2"/>
                </a:solidFill>
              </a:rPr>
              <a:t>人工最终确认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93AF0-0919-4E78-AA0C-C0FF9D7F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E0D2"/>
                </a:solidFill>
              </a:defRPr>
            </a:pPr>
            <a:r>
              <a:rPr sz="825" b="1">
                <a:solidFill>
                  <a:srgbClr val="7BE0D2"/>
                </a:solidFill>
              </a:rPr>
              <a:t>CAMPUSONE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3D293-072D-48FB-A905-C2E7F163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810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让校园智能体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真正进入业务，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又始终保持可控。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5FE8A-3248-4818-B585-CDBC2C68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CD8"/>
                </a:solidFill>
              </a:defRPr>
            </a:pPr>
            <a:r>
              <a:rPr sz="1500" b="0">
                <a:solidFill>
                  <a:srgbClr val="B8CCD8"/>
                </a:solidFill>
              </a:rPr>
              <a:t>AI 理解  ·  程序判定  ·  人工确认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BD6EA-B4CD-40B0-9A2E-30E843E1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4953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153A52"/>
          </a:solidFill>
          <a:ln xmlns:a="http://schemas.openxmlformats.org/drawingml/2006/main" w="0">
            <a:solidFill>
              <a:srgbClr val="153A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B9255-301D-4E18-8228-D38A213F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480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BE0D2"/>
                </a:solidFill>
              </a:defRPr>
            </a:pPr>
            <a:r>
              <a:rPr sz="825" b="1">
                <a:solidFill>
                  <a:srgbClr val="7BE0D2"/>
                </a:solidFill>
              </a:rPr>
              <a:t>可运行 · 可审计 · 可降级 · 可复制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2D534-AF9C-4B46-81FA-F3A43867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E0D2"/>
                </a:solidFill>
              </a:defRPr>
            </a:pPr>
            <a:r>
              <a:rPr sz="825" b="1">
                <a:solidFill>
                  <a:srgbClr val="7BE0D2"/>
                </a:solidFill>
              </a:rPr>
              <a:t>私有演示站点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0F448-3800-4E0F-B933-CB4586AE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campusone-agentflow.atticus-5951.chatgpt.site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C4E59-69DD-4AD4-839A-A2327927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FB6C5"/>
                </a:solidFill>
              </a:defRPr>
            </a:pPr>
            <a:r>
              <a:rPr sz="825" b="1">
                <a:solidFill>
                  <a:srgbClr val="9FB6C5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26242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2026-09-02T11:35:34.1170000Z</dcterms:created>
  <dcterms:modified xsi:type="dcterms:W3CDTF">2026-09-02T11:35:34.1170000Z</dcterms:modified>
</coreProperties>
</file>