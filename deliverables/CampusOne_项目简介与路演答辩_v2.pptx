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c5103ad61465d" /><Relationship Type="http://schemas.openxmlformats.org/officeDocument/2006/relationships/extended-properties" Target="/docProps/app.xml" Id="R683ad43fef304b57" /><Relationship Type="http://schemas.openxmlformats.org/officeDocument/2006/relationships/officeDocument" Target="/ppt/presentation.xml" Id="R450d583f00a2403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0ea70811e234a87"/>
  </p:sldMasterIdLst>
  <p:notesMasterIdLst>
    <p:notesMasterId xmlns:r="http://schemas.openxmlformats.org/officeDocument/2006/relationships" r:id="R75894dd5b05c4a07"/>
  </p:notesMasterIdLst>
  <p:sldIdLst>
    <p:sldId xmlns:r="http://schemas.openxmlformats.org/officeDocument/2006/relationships" id="256" r:id="Ra96d0770a0a6480d"/>
    <p:sldId xmlns:r="http://schemas.openxmlformats.org/officeDocument/2006/relationships" id="257" r:id="Rf85cc58c95654548"/>
    <p:sldId xmlns:r="http://schemas.openxmlformats.org/officeDocument/2006/relationships" id="258" r:id="Rf516177845f04ed3"/>
    <p:sldId xmlns:r="http://schemas.openxmlformats.org/officeDocument/2006/relationships" id="259" r:id="Rcb4d7f34e3774b70"/>
    <p:sldId xmlns:r="http://schemas.openxmlformats.org/officeDocument/2006/relationships" id="260" r:id="Rf12d032612b74f2a"/>
    <p:sldId xmlns:r="http://schemas.openxmlformats.org/officeDocument/2006/relationships" id="261" r:id="R0de9e34aa2934eb5"/>
    <p:sldId xmlns:r="http://schemas.openxmlformats.org/officeDocument/2006/relationships" id="262" r:id="Rc60174f23f934f33"/>
    <p:sldId xmlns:r="http://schemas.openxmlformats.org/officeDocument/2006/relationships" id="263" r:id="Ra38855abd068422c"/>
    <p:sldId xmlns:r="http://schemas.openxmlformats.org/officeDocument/2006/relationships" id="264" r:id="Rb1339fd056914758"/>
    <p:sldId xmlns:r="http://schemas.openxmlformats.org/officeDocument/2006/relationships" id="265" r:id="R3624412326d849d4"/>
    <p:sldId xmlns:r="http://schemas.openxmlformats.org/officeDocument/2006/relationships" id="266" r:id="R262b9327c69a4b53"/>
    <p:sldId xmlns:r="http://schemas.openxmlformats.org/officeDocument/2006/relationships" id="267" r:id="Rc1c34e02efeb4312"/>
    <p:sldId xmlns:r="http://schemas.openxmlformats.org/officeDocument/2006/relationships" id="268" r:id="R57f3084ce2df453f"/>
    <p:sldId xmlns:r="http://schemas.openxmlformats.org/officeDocument/2006/relationships" id="269" r:id="R3234d62311094fe9"/>
  </p:sldIdLst>
  <p:sldSz cx="18288000" cy="10287000"/>
  <p:notesSz cx="6858000" cy="9144000"/>
  <p:embeddedFontLst>
    <p:embeddedFont>
      <p:font typeface="League Spartan"/>
      <p:regular xmlns:r="http://schemas.openxmlformats.org/officeDocument/2006/relationships" r:id="Rc26eb611347d413e"/>
    </p:embeddedFont>
    <p:embeddedFont>
      <p:font typeface="Poppins Bold"/>
      <p:regular xmlns:r="http://schemas.openxmlformats.org/officeDocument/2006/relationships" r:id="R1f2d9b7debf64db4"/>
    </p:embeddedFont>
    <p:embeddedFont>
      <p:font typeface="DM Sans Bold"/>
      <p:regular xmlns:r="http://schemas.openxmlformats.org/officeDocument/2006/relationships" r:id="R8ff7cbf7955b456d"/>
    </p:embeddedFont>
    <p:embeddedFont>
      <p:font typeface="Poppins"/>
      <p:regular xmlns:r="http://schemas.openxmlformats.org/officeDocument/2006/relationships" r:id="Rb74bc5de9e264f5a"/>
    </p:embeddedFont>
    <p:embeddedFont>
      <p:font typeface="Poppins Medium"/>
      <p:regular xmlns:r="http://schemas.openxmlformats.org/officeDocument/2006/relationships" r:id="Rdb25cbeb29454184"/>
    </p:embeddedFont>
    <p:embeddedFont>
      <p:font typeface="DM Sans"/>
      <p:regular xmlns:r="http://schemas.openxmlformats.org/officeDocument/2006/relationships" r:id="Re496e0a025b846b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523d35a9b64c8c" /><Relationship Type="http://schemas.openxmlformats.org/officeDocument/2006/relationships/slideMaster" Target="/ppt/slideMasters/slideMaster1.xml" Id="Rb0ea70811e234a87" /><Relationship Type="http://schemas.openxmlformats.org/officeDocument/2006/relationships/notesMaster" Target="/ppt/notesMasters/notesMaster1.xml" Id="R75894dd5b05c4a07" /><Relationship Type="http://schemas.openxmlformats.org/officeDocument/2006/relationships/presProps" Target="/ppt/presProps.xml" Id="R16109cc2888c43b5" /><Relationship Type="http://schemas.openxmlformats.org/officeDocument/2006/relationships/viewProps" Target="/ppt/viewProps.xml" Id="R1c513ae225b946e0" /><Relationship Type="http://schemas.openxmlformats.org/officeDocument/2006/relationships/tableStyles" Target="/ppt/tableStyles.xml" Id="R808654d413014d2a" /><Relationship Type="http://schemas.openxmlformats.org/officeDocument/2006/relationships/font" Target="/ppt/fonts/font.dat" Id="Rc26eb611347d413e" /><Relationship Type="http://schemas.openxmlformats.org/officeDocument/2006/relationships/font" Target="/ppt/fonts/font2.dat" Id="R1f2d9b7debf64db4" /><Relationship Type="http://schemas.openxmlformats.org/officeDocument/2006/relationships/font" Target="/ppt/fonts/font3.dat" Id="R8ff7cbf7955b456d" /><Relationship Type="http://schemas.openxmlformats.org/officeDocument/2006/relationships/font" Target="/ppt/fonts/font4.dat" Id="Rb74bc5de9e264f5a" /><Relationship Type="http://schemas.openxmlformats.org/officeDocument/2006/relationships/font" Target="/ppt/fonts/font5.dat" Id="Rdb25cbeb29454184" /><Relationship Type="http://schemas.openxmlformats.org/officeDocument/2006/relationships/font" Target="/ppt/fonts/font6.dat" Id="Re496e0a025b846b9" /><Relationship Type="http://schemas.openxmlformats.org/officeDocument/2006/relationships/slide" Target="/ppt/slides/slide1.xml" Id="Ra96d0770a0a6480d" /><Relationship Type="http://schemas.openxmlformats.org/officeDocument/2006/relationships/slide" Target="/ppt/slides/slide2.xml" Id="Rf85cc58c95654548" /><Relationship Type="http://schemas.openxmlformats.org/officeDocument/2006/relationships/slide" Target="/ppt/slides/slide3.xml" Id="Rf516177845f04ed3" /><Relationship Type="http://schemas.openxmlformats.org/officeDocument/2006/relationships/slide" Target="/ppt/slides/slide4.xml" Id="Rcb4d7f34e3774b70" /><Relationship Type="http://schemas.openxmlformats.org/officeDocument/2006/relationships/slide" Target="/ppt/slides/slide5.xml" Id="Rf12d032612b74f2a" /><Relationship Type="http://schemas.openxmlformats.org/officeDocument/2006/relationships/slide" Target="/ppt/slides/slide6.xml" Id="R0de9e34aa2934eb5" /><Relationship Type="http://schemas.openxmlformats.org/officeDocument/2006/relationships/slide" Target="/ppt/slides/slide7.xml" Id="Rc60174f23f934f33" /><Relationship Type="http://schemas.openxmlformats.org/officeDocument/2006/relationships/slide" Target="/ppt/slides/slide8.xml" Id="Ra38855abd068422c" /><Relationship Type="http://schemas.openxmlformats.org/officeDocument/2006/relationships/slide" Target="/ppt/slides/slide9.xml" Id="Rb1339fd056914758" /><Relationship Type="http://schemas.openxmlformats.org/officeDocument/2006/relationships/slide" Target="/ppt/slides/slide10.xml" Id="R3624412326d849d4" /><Relationship Type="http://schemas.openxmlformats.org/officeDocument/2006/relationships/slide" Target="/ppt/slides/slide11.xml" Id="R262b9327c69a4b53" /><Relationship Type="http://schemas.openxmlformats.org/officeDocument/2006/relationships/slide" Target="/ppt/slides/slide12.xml" Id="Rc1c34e02efeb4312" /><Relationship Type="http://schemas.openxmlformats.org/officeDocument/2006/relationships/slide" Target="/ppt/slides/slide13.xml" Id="R57f3084ce2df453f" /><Relationship Type="http://schemas.openxmlformats.org/officeDocument/2006/relationships/slide" Target="/ppt/slides/slide14.xml" Id="R3234d62311094f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e5a0feddee4c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677ae9395e48fc" /><Relationship Type="http://schemas.openxmlformats.org/officeDocument/2006/relationships/notesMaster" Target="/ppt/notesMasters/notesMaster1.xml" Id="R63bf2c087b8644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7101b4aaf947eb" /><Relationship Type="http://schemas.openxmlformats.org/officeDocument/2006/relationships/notesMaster" Target="/ppt/notesMasters/notesMaster1.xml" Id="Rb81c65ee1edf47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4636b57bd8499c" /><Relationship Type="http://schemas.openxmlformats.org/officeDocument/2006/relationships/notesMaster" Target="/ppt/notesMasters/notesMaster1.xml" Id="R3090f784078e45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4a2d16fc6443ea" /><Relationship Type="http://schemas.openxmlformats.org/officeDocument/2006/relationships/notesMaster" Target="/ppt/notesMasters/notesMaster1.xml" Id="R492ff1fa056247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bcbe6dc6b04425" /><Relationship Type="http://schemas.openxmlformats.org/officeDocument/2006/relationships/notesMaster" Target="/ppt/notesMasters/notesMaster1.xml" Id="Rcc151f4fcc3542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0dd0e9e7a442df" /><Relationship Type="http://schemas.openxmlformats.org/officeDocument/2006/relationships/notesMaster" Target="/ppt/notesMasters/notesMaster1.xml" Id="R6df1cfb9d42746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ba2e1a4e99444a" /><Relationship Type="http://schemas.openxmlformats.org/officeDocument/2006/relationships/notesMaster" Target="/ppt/notesMasters/notesMaster1.xml" Id="R8bc2e00cfb974d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79c6e83bb945e2" /><Relationship Type="http://schemas.openxmlformats.org/officeDocument/2006/relationships/notesMaster" Target="/ppt/notesMasters/notesMaster1.xml" Id="R42c072dfafc04c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a71f21f8274c9f" /><Relationship Type="http://schemas.openxmlformats.org/officeDocument/2006/relationships/notesMaster" Target="/ppt/notesMasters/notesMaster1.xml" Id="R9b419bf5510046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d99ff1263d48e7" /><Relationship Type="http://schemas.openxmlformats.org/officeDocument/2006/relationships/notesMaster" Target="/ppt/notesMasters/notesMaster1.xml" Id="R91a15b691c2a4f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ebd5695f6d4218" /><Relationship Type="http://schemas.openxmlformats.org/officeDocument/2006/relationships/notesMaster" Target="/ppt/notesMasters/notesMaster1.xml" Id="R741459b84e354a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31154e41784426" /><Relationship Type="http://schemas.openxmlformats.org/officeDocument/2006/relationships/notesMaster" Target="/ppt/notesMasters/notesMaster1.xml" Id="R9f5a7a22831245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04df26b6be43db" /><Relationship Type="http://schemas.openxmlformats.org/officeDocument/2006/relationships/notesMaster" Target="/ppt/notesMasters/notesMaster1.xml" Id="Rf1abc0672b6743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0443abbc9c482e" /><Relationship Type="http://schemas.openxmlformats.org/officeDocument/2006/relationships/notesMaster" Target="/ppt/notesMasters/notesMaster1.xml" Id="R45dba1c75bc340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CampusOne 以校园场地申请为演示场景，协助学生准备申请，帮助管理员核对证据和整理意见。正式审批由管理员确认。</a:t>
            </a:r>
          </a:p>
          <a:p xmlns:a="http://schemas.openxmlformats.org/drawingml/2006/main">
            <a:r>
              <a:t>参赛单位、队长、成员、指导教师需按 competition.config.json 补充真实信息。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资料依据：README.md；competition.config.json；docs/architecture.md。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这些问题来自项目需求分析，作为场地申请场景的设计出发点。学生需要清晰的填写引导，审核人需要集中的事实与规则，管理者需要可追溯的过程。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资料依据：docs/competition-scope.md；原稿第 2 页。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仅承担三个受限的语言任务。程序依据规则和服务端会话校验，管理员拥有正式审批权限。模型不能直接写入事务状态。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资料依据：docs/architecture.md；lib/server/session.ts。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完整动作包括填表、预检、提交、审核、退回、修订、批准和办结。退回后的修改生成新版本，原始版本继续保存。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资料依据：docs/demo-script.md；docs/architecture.md。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切换到实际系统演示申请、规则预检、管理员审核和故障注入。首页图片为工作区保留的既有产品截图。演示身份切换是专用入口，生产接入需由统一身份认证提供会话。</a:t>
            </a:r>
          </a:p>
          <a:p xmlns:a="http://schemas.openxmlformats.org/drawingml/2006/main">
            <a:r>
              <a:t>演示地址：https://campusone-agentflow.atticus-5951.chatgpt.site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资料依据：work/slides/campusone-dashboard-viewport.png；docs/demo-script.md；docs/architecture.md。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正式状态写入由领域逻辑、权限与状态机控制。每位演示访问者拥有独立案件。模型只收到完成当前任务所需的最小上下文；密钥保存在服务端环境变量。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三个任务分别为 FORM_ASSIST、REVIEW_BRIEF 和 RETURN_MESSAGE。输出契约由 Zod Schema 生成；验证包括 JSON 结构、任务类型、规则与证据引用，以及人数、日期等事实。真实模型输出校验失败时最多进行一次携带报错的修复，注入故障与超时按既定降级逻辑处理。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资料依据：docs/architecture.md；lib/agent。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六项规则依次对应 VENUE-REQ-001、VENUE-TIME-001、VENUE-CAP-001、VENUE-SLOT-001、VENUE-EQP-001、VENUE-HOUR-001。相关证据来自统一的规则目录与知识条目。演示时可先输入超出容量的人数，再修正为符合规则的值。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资料依据：docs/architecture.md；lib/domain/rules.ts。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此页示意版本机制。管理员退回后，申请人创建 V2 并补充说明，随后重新提交审核。旧版本保持只读，状态变化以事件追加。批准和办结仍需管理员确认。重复操作通过幂等控制避免重复事件。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资料依据：docs/architecture.md；tests/case-lifecycle.test.ts；docs/demo-script.md。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现场演示选择“引用不存在规则”，查看 RULE_NOT_FOUND、降级提示和未变化的状态。非法 JSON、虚构规则和超时三类故障均会保留运行记录。演示故障可在真实模型模式生效。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资料依据：docs/architecture.md；docs/test-plan.md；tests/fault-injection.test.ts。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78 个自动化用例与 9 个真实模型故障组合来自已有项目测试文档及交付检查表。真实模型验证使用 DeepSeek，三个任务与三类故障交叉覆盖。此页引用项目记录，不把它表述为本次排版过程中重新执行的结果。用户试点尚未完成，暂无可报告的效率提升比例。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资料依据：docs/test-plan.md；docs/delivery-checklist.md。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点体现在语言任务与业务审批的分工、带来源的建议、可演示的故障处理和可复用的事务机制。应用价值计划通过填表时长、首次通过率、退回次数与审核时长进行验证。跨场景扩展是后续方向，当前重点为场地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资料依据：原稿第 12 页；docs/architecture.md；docs/test-plan.md。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先保存原始记录，再报告效率结果。试点指标包括填表时长、首次通过率、退回次数和审核时长。生产化接入需校方授权与统一身份认证替换演示身份切换入口。参赛单位、团队姓名、指导教师和联系方式仍需参赛者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资料依据：docs/test-plan.md；docs/delivery-checklist.md；competition.config.json。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结束后进入问答，可按需要打开演示工作台查看规则依据、版本记录或故障运行详情。</a:t>
            </a:r>
          </a:p>
          <a:p xmlns:a="http://schemas.openxmlformats.org/drawingml/2006/main">
            <a:r>
              <a:t>演示地址：https://campusone-agentflow.atticus-5951.chatgpt.site</a:t>
            </a:r>
          </a:p>
          <a:p xmlns:a="http://schemas.openxmlformats.org/drawingml/2006/main">
            <a:r>
              <a:t>代码仓库：https://github.com/echo5177/campusone-agentflow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资料依据：competition.config.json；README.md。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9ed3a1d0440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df3bfd5e24e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cab4594204c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4f543521147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614e0fc454e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74b48188748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465eb318c4a6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f33b6722e43d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6f8ee63264e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10e2463d2459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598b3c3e4449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CFBC85-452D-4F23-BDCB-66274EF7E22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895017C-2A08-4D58-858E-4343C784A8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0DDBD-E95A-4E6D-B4C4-E4E0C1FD11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BA5006-7A55-4D0C-BDFB-4271EF64ED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D80254-7D1A-44E4-8942-5CE55BDB9B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1C3FB6-ADB3-4815-B722-BC6A120E24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4E025E-2753-4EAF-9688-6DE55F0492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CA1956-E8A1-488F-97ED-90FF268FA2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2A77FE-C0E3-4700-9A59-D7A252A4EA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9BF2F2-6A19-4391-B801-760D6CD580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A55451-0069-4727-92B6-2EFE962F24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63E5A5-B583-40B9-9B02-2EB1254CB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B02F6B-A46D-4D92-A299-61657E804E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F7FC56-035C-4BB8-930D-94C3B2BF96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0B628A-97E8-46F8-800F-94FEF1F788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185F07-FB03-459F-B459-89A85FB9F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60DE10-9A88-4A7D-8839-75D19C26A0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396A03C-5AAF-437D-B8F7-F5D1836B51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30758BF-10FA-4497-831A-B380B5FFD3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15CD11B-A3E5-4D7A-A37D-EAF28DD222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0743CE3-70A4-4571-A110-48D31449F1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4FE9E9-C459-4084-B9E1-96D7AD012C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17B831-15D7-41B7-99DB-6B1DD54EEF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69927A7-65C0-4EE3-AAE1-9C7D3017977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9C06441-910D-4783-A13C-F588E0C4ADD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8A5BAA2-F518-4EF4-A2AB-D2B35BDF4B2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F1521CD-C150-4779-9B98-B84077D0CA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543E0CD-C356-4F66-8B6B-01B8603C4B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63CEB15-2BBA-4C16-8CF0-4B539357D4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A02506-1D93-458D-9A28-E691634A6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4A4405E-D72F-4537-A42D-3FBFA3D15A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5C98B30-33C4-4520-92AF-7A73B1955A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E0D94F6-3001-46C8-8BF0-DA40BB692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E26E727-C4C7-4DCD-BB26-18E1B8615D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125B312-42DF-4EAC-BE13-8E61DA4CE4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4228484-9837-4DF7-ACAA-B68A57E023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4FC99A-B27D-45C5-BCE6-DFF9DD49E3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CEBBBCA-0222-42DC-A053-E6643ACABB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F00E4D1-9C4D-4B9A-A41D-F0C669134F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5DA6D0-3C8B-4EEB-9A72-AA48AE7400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20E8A85-68F8-4655-9052-BEFCA332FB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9BB89E-C844-41CE-8A7A-B424A062D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C15032-3EE9-488D-9037-E3488A6D2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D477E07-4FB4-4173-B90D-D7764B6A3AB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CDE3F25-D237-414B-9C43-3DB510BE9E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1E27E90-F70D-48D5-A1DE-BE57C99AF2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998DC71-8BAB-403D-B693-D289B9E2FD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A95EAD-34C2-47C0-AC3F-66E068A116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8BD00C-A9EA-4C84-A78D-B648070ED1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BC2CE6-0E3E-44EB-9DBB-01A591083C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6367B4-B720-4D22-8551-5FBD7F5E6D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252F7D-28AE-485C-A247-67E699B84F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E5874B-E249-47B7-A9C7-243E5A4127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46CD3CB-6CC2-496F-ADC3-FEA01F48D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9284DF-DBA2-40D5-A360-A1C8BA2354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609B8D-8DE5-4AE7-9B3F-BF215DB3C0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DBFB8E-F02F-4CC7-934D-1864114057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2662BC-B5EB-408D-887D-2F08C19CF7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b8d3afb74045e6" /><Relationship Type="http://schemas.openxmlformats.org/officeDocument/2006/relationships/slideLayout" Target="/ppt/slideLayouts/slideLayout1.xml" Id="Refffc9c2bb3a472d" /><Relationship Type="http://schemas.openxmlformats.org/officeDocument/2006/relationships/slideLayout" Target="/ppt/slideLayouts/slideLayout2.xml" Id="R648d243d00994b9d" /><Relationship Type="http://schemas.openxmlformats.org/officeDocument/2006/relationships/slideLayout" Target="/ppt/slideLayouts/slideLayout3.xml" Id="R5a3ea531ac7f4f27" /><Relationship Type="http://schemas.openxmlformats.org/officeDocument/2006/relationships/slideLayout" Target="/ppt/slideLayouts/slideLayout4.xml" Id="R4d425ec8e31e4843" /><Relationship Type="http://schemas.openxmlformats.org/officeDocument/2006/relationships/slideLayout" Target="/ppt/slideLayouts/slideLayout5.xml" Id="Rc59418d2bf234df6" /><Relationship Type="http://schemas.openxmlformats.org/officeDocument/2006/relationships/slideLayout" Target="/ppt/slideLayouts/slideLayout6.xml" Id="Rc9f48116186b4335" /><Relationship Type="http://schemas.openxmlformats.org/officeDocument/2006/relationships/slideLayout" Target="/ppt/slideLayouts/slideLayout7.xml" Id="Raba2fb7785dc4fec" /><Relationship Type="http://schemas.openxmlformats.org/officeDocument/2006/relationships/slideLayout" Target="/ppt/slideLayouts/slideLayout8.xml" Id="Rb3bec99be0f54ddf" /><Relationship Type="http://schemas.openxmlformats.org/officeDocument/2006/relationships/slideLayout" Target="/ppt/slideLayouts/slideLayout9.xml" Id="Rc19a19c42ff4490a" /><Relationship Type="http://schemas.openxmlformats.org/officeDocument/2006/relationships/slideLayout" Target="/ppt/slideLayouts/slideLayout10.xml" Id="R07dfd174f5414d9a" /><Relationship Type="http://schemas.openxmlformats.org/officeDocument/2006/relationships/slideLayout" Target="/ppt/slideLayouts/slideLayout11.xml" Id="R6ddcccd9f2544ea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F1FF779-0715-445A-A257-C76C06EC7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B4E197-CED0-4F9C-A17C-D75B8FACFF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0DAC00-5945-4B45-B09C-32AB96FCFDD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66E9B1-C0F4-4E19-AB04-A27EADE2C5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53F690-5CCF-454C-AADB-E6A14979FA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ffc9c2bb3a472d"/>
    <p:sldLayoutId xmlns:r="http://schemas.openxmlformats.org/officeDocument/2006/relationships" id="2147483650" r:id="R648d243d00994b9d"/>
    <p:sldLayoutId xmlns:r="http://schemas.openxmlformats.org/officeDocument/2006/relationships" id="2147483651" r:id="R5a3ea531ac7f4f27"/>
    <p:sldLayoutId xmlns:r="http://schemas.openxmlformats.org/officeDocument/2006/relationships" id="2147483652" r:id="R4d425ec8e31e4843"/>
    <p:sldLayoutId xmlns:r="http://schemas.openxmlformats.org/officeDocument/2006/relationships" id="2147483653" r:id="Rc59418d2bf234df6"/>
    <p:sldLayoutId xmlns:r="http://schemas.openxmlformats.org/officeDocument/2006/relationships" id="2147483654" r:id="Rc9f48116186b4335"/>
    <p:sldLayoutId xmlns:r="http://schemas.openxmlformats.org/officeDocument/2006/relationships" id="2147483655" r:id="Raba2fb7785dc4fec"/>
    <p:sldLayoutId xmlns:r="http://schemas.openxmlformats.org/officeDocument/2006/relationships" id="2147483656" r:id="Rb3bec99be0f54ddf"/>
    <p:sldLayoutId xmlns:r="http://schemas.openxmlformats.org/officeDocument/2006/relationships" id="2147483657" r:id="Rc19a19c42ff4490a"/>
    <p:sldLayoutId xmlns:r="http://schemas.openxmlformats.org/officeDocument/2006/relationships" id="2147483658" r:id="R07dfd174f5414d9a"/>
    <p:sldLayoutId xmlns:r="http://schemas.openxmlformats.org/officeDocument/2006/relationships" id="2147483659" r:id="R6ddcccd9f2544ea2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ccb5764f564d16" /><Relationship Type="http://schemas.openxmlformats.org/officeDocument/2006/relationships/image" Target="/ppt/media/image.png" Id="Rc3e7b67d7a7a470a" /><Relationship Type="http://schemas.openxmlformats.org/officeDocument/2006/relationships/image" Target="/ppt/media/image2.png" Id="R3cfe528dce6240c6" /><Relationship Type="http://schemas.openxmlformats.org/officeDocument/2006/relationships/image" Target="/ppt/media/image3.png" Id="R802af4fb108f4999" /><Relationship Type="http://schemas.openxmlformats.org/officeDocument/2006/relationships/image" Target="/ppt/media/image.svg" Id="R4333ff6f8f344b10" /><Relationship Type="http://schemas.openxmlformats.org/officeDocument/2006/relationships/image" Target="/ppt/media/image4.png" Id="R579e50924d884a08" /><Relationship Type="http://schemas.openxmlformats.org/officeDocument/2006/relationships/image" Target="/ppt/media/image2.svg" Id="Rb2acec35aeda4219" /><Relationship Type="http://schemas.openxmlformats.org/officeDocument/2006/relationships/image" Target="/ppt/media/image5.png" Id="R38305d092dae4cb9" /><Relationship Type="http://schemas.openxmlformats.org/officeDocument/2006/relationships/image" Target="/ppt/media/image3.svg" Id="Ra9c8fd47c71847d8" /><Relationship Type="http://schemas.openxmlformats.org/officeDocument/2006/relationships/notesSlide" Target="/ppt/notesSlides/notesSlide1.xml" Id="R2dc5ac3d95e043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8d5fc0b2054863" /><Relationship Type="http://schemas.openxmlformats.org/officeDocument/2006/relationships/image" Target="/ppt/media/image5.png" Id="R67ea15feccf2437a" /><Relationship Type="http://schemas.openxmlformats.org/officeDocument/2006/relationships/image" Target="/ppt/media/image3.svg" Id="R1a029ef5cdd64e7d" /><Relationship Type="http://schemas.openxmlformats.org/officeDocument/2006/relationships/image" Target="/ppt/media/image6.png" Id="R55a17cdc21094087" /><Relationship Type="http://schemas.openxmlformats.org/officeDocument/2006/relationships/notesSlide" Target="/ppt/notesSlides/notesSlide2.xml" Id="Rc23535a95d6648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b495a6d6634c23" /><Relationship Type="http://schemas.openxmlformats.org/officeDocument/2006/relationships/image" Target="/ppt/media/image5.png" Id="R04b69196b71b4988" /><Relationship Type="http://schemas.openxmlformats.org/officeDocument/2006/relationships/image" Target="/ppt/media/image3.svg" Id="R601bd7beb4c94b9d" /><Relationship Type="http://schemas.openxmlformats.org/officeDocument/2006/relationships/notesSlide" Target="/ppt/notesSlides/notesSlide3.xml" Id="R5530837f63074c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2da4a98d9e479e" /><Relationship Type="http://schemas.openxmlformats.org/officeDocument/2006/relationships/image" Target="/ppt/media/image5.png" Id="Raaf063eaa7e84141" /><Relationship Type="http://schemas.openxmlformats.org/officeDocument/2006/relationships/image" Target="/ppt/media/image3.svg" Id="R870366a89a4f489b" /><Relationship Type="http://schemas.openxmlformats.org/officeDocument/2006/relationships/notesSlide" Target="/ppt/notesSlides/notesSlide4.xml" Id="R018dffc605d543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10219f92e24602" /><Relationship Type="http://schemas.openxmlformats.org/officeDocument/2006/relationships/image" Target="/ppt/media/image.jpeg" Id="Ra7de765a2ada4ec0" /><Relationship Type="http://schemas.openxmlformats.org/officeDocument/2006/relationships/notesSlide" Target="/ppt/notesSlides/notesSlide5.xml" Id="R042934058f894f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86eabf94dd4d41" /><Relationship Type="http://schemas.openxmlformats.org/officeDocument/2006/relationships/notesSlide" Target="/ppt/notesSlides/notesSlide6.xml" Id="R11e32a09d81d44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4cad8370c0455d" /><Relationship Type="http://schemas.openxmlformats.org/officeDocument/2006/relationships/image" Target="/ppt/media/image5.png" Id="R3297a806b8ae4114" /><Relationship Type="http://schemas.openxmlformats.org/officeDocument/2006/relationships/image" Target="/ppt/media/image3.svg" Id="R5170d9e498d84d61" /><Relationship Type="http://schemas.openxmlformats.org/officeDocument/2006/relationships/notesSlide" Target="/ppt/notesSlides/notesSlide7.xml" Id="Rf80f80573a5e4d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d4021b7213422c" /><Relationship Type="http://schemas.openxmlformats.org/officeDocument/2006/relationships/image" Target="/ppt/media/image5.png" Id="R6423020dea9e4035" /><Relationship Type="http://schemas.openxmlformats.org/officeDocument/2006/relationships/image" Target="/ppt/media/image3.svg" Id="Rf3a57bc1deca40b6" /><Relationship Type="http://schemas.openxmlformats.org/officeDocument/2006/relationships/notesSlide" Target="/ppt/notesSlides/notesSlide8.xml" Id="R95b1cedd06d944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2f275d8ef74ead" /><Relationship Type="http://schemas.openxmlformats.org/officeDocument/2006/relationships/image" Target="/ppt/media/image4.png" Id="R32e63f571f8749c0" /><Relationship Type="http://schemas.openxmlformats.org/officeDocument/2006/relationships/image" Target="/ppt/media/image2.svg" Id="R16c649bae41b49f6" /><Relationship Type="http://schemas.openxmlformats.org/officeDocument/2006/relationships/notesSlide" Target="/ppt/notesSlides/notesSlide9.xml" Id="Rdf7142cf62f54e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a80dbea5364371" /><Relationship Type="http://schemas.openxmlformats.org/officeDocument/2006/relationships/image" Target="/ppt/media/image4.png" Id="R97867e22d9a54509" /><Relationship Type="http://schemas.openxmlformats.org/officeDocument/2006/relationships/image" Target="/ppt/media/image2.svg" Id="Ra86f645699364bc7" /><Relationship Type="http://schemas.openxmlformats.org/officeDocument/2006/relationships/notesSlide" Target="/ppt/notesSlides/notesSlide10.xml" Id="Ra9ae9959623842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4a98debaa0461c" /><Relationship Type="http://schemas.openxmlformats.org/officeDocument/2006/relationships/image" Target="/ppt/media/image5.png" Id="R7d8dad841016425a" /><Relationship Type="http://schemas.openxmlformats.org/officeDocument/2006/relationships/image" Target="/ppt/media/image3.svg" Id="Rf4994f5900aa4448" /><Relationship Type="http://schemas.openxmlformats.org/officeDocument/2006/relationships/notesSlide" Target="/ppt/notesSlides/notesSlide11.xml" Id="R54d8478dcd1449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be28d4fc484584" /><Relationship Type="http://schemas.openxmlformats.org/officeDocument/2006/relationships/notesSlide" Target="/ppt/notesSlides/notesSlide12.xml" Id="Re2276baf9f3c42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b00d434d3e49e7" /><Relationship Type="http://schemas.openxmlformats.org/officeDocument/2006/relationships/image" Target="/ppt/media/image5.png" Id="Red16bc69b0fe4040" /><Relationship Type="http://schemas.openxmlformats.org/officeDocument/2006/relationships/image" Target="/ppt/media/image3.svg" Id="Rf30d3d9ff1af41e0" /><Relationship Type="http://schemas.openxmlformats.org/officeDocument/2006/relationships/notesSlide" Target="/ppt/notesSlides/notesSlide13.xml" Id="Rbd6367e3b06b4f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be89b1b6504570" /><Relationship Type="http://schemas.openxmlformats.org/officeDocument/2006/relationships/image" Target="/ppt/media/image4.png" Id="R50e66d23cbe5494a" /><Relationship Type="http://schemas.openxmlformats.org/officeDocument/2006/relationships/image" Target="/ppt/media/image2.svg" Id="R3ff3989d22bb42fc" /><Relationship Type="http://schemas.openxmlformats.org/officeDocument/2006/relationships/image" Target="/ppt/media/image5.png" Id="R78430586f3f540f3" /><Relationship Type="http://schemas.openxmlformats.org/officeDocument/2006/relationships/image" Target="/ppt/media/image3.svg" Id="R0270bdc9fa33464a" /><Relationship Type="http://schemas.openxmlformats.org/officeDocument/2006/relationships/notesSlide" Target="/ppt/notesSlides/notesSlide14.xml" Id="Rae44d5a783cb4ff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A179E5C-34BE-4876-8252-8DE2A3D7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077" y="8059457"/>
            <a:ext cx="4494225" cy="1477831"/>
          </a:xfrm>
          <a:custGeom xmlns:a="http://schemas.openxmlformats.org/drawingml/2006/main">
            <a:rect l="l" t="t" r="r" b="b"/>
            <a:pathLst>
              <a:path w="4494225" h="1477831">
                <a:moveTo>
                  <a:pt x="0" y="0"/>
                </a:moveTo>
                <a:lnTo>
                  <a:pt x="4494226" y="0"/>
                </a:lnTo>
                <a:lnTo>
                  <a:pt x="4494226" y="1477831"/>
                </a:lnTo>
                <a:lnTo>
                  <a:pt x="0" y="147783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e7b67d7a7a470a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9AE8AA7-C0FE-4784-89B2-422E31A4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366372"/>
            <a:ext cx="6584399" cy="7213246"/>
          </a:xfrm>
          <a:custGeom xmlns:a="http://schemas.openxmlformats.org/drawingml/2006/main">
            <a:rect l="l" t="t" r="r" b="b"/>
            <a:pathLst>
              <a:path w="6584399" h="7213246">
                <a:moveTo>
                  <a:pt x="0" y="0"/>
                </a:moveTo>
                <a:lnTo>
                  <a:pt x="6584399" y="0"/>
                </a:lnTo>
                <a:lnTo>
                  <a:pt x="6584399" y="7213246"/>
                </a:lnTo>
                <a:lnTo>
                  <a:pt x="0" y="721324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fe528dce6240c6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0E83304-5116-4D8F-BDE5-6571118B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36472" y="7168265"/>
            <a:ext cx="7663324" cy="3692329"/>
          </a:xfrm>
          <a:custGeom xmlns:a="http://schemas.openxmlformats.org/drawingml/2006/main">
            <a:rect l="l" t="t" r="r" b="b"/>
            <a:pathLst>
              <a:path w="7663324" h="3692329">
                <a:moveTo>
                  <a:pt x="0" y="0"/>
                </a:moveTo>
                <a:lnTo>
                  <a:pt x="7663324" y="0"/>
                </a:lnTo>
                <a:lnTo>
                  <a:pt x="7663324" y="3692329"/>
                </a:lnTo>
                <a:lnTo>
                  <a:pt x="0" y="369232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02af4fb108f4999">
              <a:extLst>
                <a:ext uri="{96DAC541-7B7A-43D3-8B79-37D633B846F1}">
                  <asvg:svgBlip xmlns:asvg="http://schemas.microsoft.com/office/drawing/2016/SVG/main" r:embed="R4333ff6f8f344b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25CCE6C-DBB3-416A-9163-542AC348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66723" y="1529452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9e50924d884a08">
              <a:extLst>
                <a:ext uri="{96DAC541-7B7A-43D3-8B79-37D633B846F1}">
                  <asvg:svgBlip xmlns:asvg="http://schemas.microsoft.com/office/drawing/2016/SVG/main" r:embed="Rb2acec35aeda42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BDB78E50-540B-4A82-AA38-7A3DEA4C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2303" y="3167183"/>
            <a:ext cx="1143541" cy="1143541"/>
          </a:xfrm>
          <a:custGeom xmlns:a="http://schemas.openxmlformats.org/drawingml/2006/main">
            <a:rect l="l" t="t" r="r" b="b"/>
            <a:pathLst>
              <a:path w="1143541" h="1143541">
                <a:moveTo>
                  <a:pt x="0" y="0"/>
                </a:moveTo>
                <a:lnTo>
                  <a:pt x="1143540" y="0"/>
                </a:lnTo>
                <a:lnTo>
                  <a:pt x="1143540" y="1143540"/>
                </a:lnTo>
                <a:lnTo>
                  <a:pt x="0" y="11435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9e50924d884a08">
              <a:extLst>
                <a:ext uri="{96DAC541-7B7A-43D3-8B79-37D633B846F1}">
                  <asvg:svgBlip xmlns:asvg="http://schemas.microsoft.com/office/drawing/2016/SVG/main" r:embed="Rb2acec35aeda42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7422E98-9D7D-401A-B02E-274BABA5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47751" y="846365"/>
            <a:ext cx="2320817" cy="2320817"/>
          </a:xfrm>
          <a:custGeom xmlns:a="http://schemas.openxmlformats.org/drawingml/2006/main">
            <a:rect l="l" t="t" r="r" b="b"/>
            <a:pathLst>
              <a:path w="2320817" h="2320817">
                <a:moveTo>
                  <a:pt x="0" y="0"/>
                </a:moveTo>
                <a:lnTo>
                  <a:pt x="2320817" y="0"/>
                </a:lnTo>
                <a:lnTo>
                  <a:pt x="2320817" y="2320818"/>
                </a:lnTo>
                <a:lnTo>
                  <a:pt x="0" y="232081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9e50924d884a08">
              <a:extLst>
                <a:ext uri="{96DAC541-7B7A-43D3-8B79-37D633B846F1}">
                  <asvg:svgBlip xmlns:asvg="http://schemas.microsoft.com/office/drawing/2016/SVG/main" r:embed="Rb2acec35aeda42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0C8AA72-1EAF-4098-B8A3-C136B9F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6422" y="-1931178"/>
            <a:ext cx="3795301" cy="3862356"/>
          </a:xfrm>
          <a:custGeom xmlns:a="http://schemas.openxmlformats.org/drawingml/2006/main">
            <a:rect l="l" t="t" r="r" b="b"/>
            <a:pathLst>
              <a:path w="3795301" h="3862356">
                <a:moveTo>
                  <a:pt x="0" y="0"/>
                </a:moveTo>
                <a:lnTo>
                  <a:pt x="3795302" y="0"/>
                </a:lnTo>
                <a:lnTo>
                  <a:pt x="3795302" y="3862356"/>
                </a:lnTo>
                <a:lnTo>
                  <a:pt x="0" y="386235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305d092dae4cb9">
              <a:extLst>
                <a:ext uri="{96DAC541-7B7A-43D3-8B79-37D633B846F1}">
                  <asvg:svgBlip xmlns:asvg="http://schemas.microsoft.com/office/drawing/2016/SVG/main" r:embed="Ra9c8fd47c71847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B8F2A537-6AE8-4802-B037-3C6FFE9A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3435088" y="5644252"/>
            <a:ext cx="8091042" cy="8233994"/>
          </a:xfrm>
          <a:custGeom xmlns:a="http://schemas.openxmlformats.org/drawingml/2006/main">
            <a:rect l="l" t="t" r="r" b="b"/>
            <a:pathLst>
              <a:path w="8091042" h="8233994">
                <a:moveTo>
                  <a:pt x="0" y="8233993"/>
                </a:moveTo>
                <a:lnTo>
                  <a:pt x="8091042" y="8233993"/>
                </a:lnTo>
                <a:lnTo>
                  <a:pt x="8091042" y="0"/>
                </a:lnTo>
                <a:lnTo>
                  <a:pt x="0" y="0"/>
                </a:lnTo>
                <a:lnTo>
                  <a:pt x="0" y="823399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305d092dae4cb9">
              <a:extLst>
                <a:ext uri="{96DAC541-7B7A-43D3-8B79-37D633B846F1}">
                  <asvg:svgBlip xmlns:asvg="http://schemas.microsoft.com/office/drawing/2016/SVG/main" r:embed="Ra9c8fd47c71847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教育管理应用创新赛">
            <a:extLst xmlns:a="http://schemas.openxmlformats.org/drawingml/2006/main">
              <a:ext uri="{FF2B5EF4-FFF2-40B4-BE49-F238E27FC236}">
                <a16:creationId xmlns:a16="http://schemas.microsoft.com/office/drawing/2014/main" id="{69E4E172-806F-4D72-9657-09052639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240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教育管理应用创新赛</a:t>
            </a:r>
          </a:p>
        </p:txBody>
      </p:sp>
      <p:sp>
        <p:nvSpPr>
          <p:cNvPr id="14" name="CampusOne">
            <a:extLst xmlns:a="http://schemas.openxmlformats.org/drawingml/2006/main">
              <a:ext uri="{FF2B5EF4-FFF2-40B4-BE49-F238E27FC236}">
                <a16:creationId xmlns:a16="http://schemas.microsoft.com/office/drawing/2014/main" id="{D35B844A-B763-48FC-B002-55D707C2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14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0" b="0">
                <a:solidFill>
                  <a:srgbClr val="DDF4FC"/>
                </a:solidFill>
                <a:latin typeface="League Spartan"/>
                <a:ea typeface="League Spartan"/>
                <a:cs typeface="League Spartan"/>
              </a:defRPr>
            </a:pPr>
            <a:r>
              <a:rPr sz="10650" b="0">
                <a:solidFill>
                  <a:srgbClr val="DDF4FC"/>
                </a:solidFill>
                <a:latin typeface="League Spartan"/>
                <a:ea typeface="League Spartan"/>
                <a:cs typeface="League Spartan"/>
              </a:rPr>
              <a:t>CampusOne</a:t>
            </a:r>
          </a:p>
        </p:txBody>
      </p:sp>
      <p:sp>
        <p:nvSpPr>
          <p:cNvPr id="15" name="可信校园事务智能体">
            <a:extLst xmlns:a="http://schemas.openxmlformats.org/drawingml/2006/main">
              <a:ext uri="{FF2B5EF4-FFF2-40B4-BE49-F238E27FC236}">
                <a16:creationId xmlns:a16="http://schemas.microsoft.com/office/drawing/2014/main" id="{BB7A416D-6298-4287-AF88-A77A5252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24375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可信校园事务智能体</a:t>
            </a:r>
          </a:p>
        </p:txBody>
      </p:sp>
      <p:sp>
        <p:nvSpPr>
          <p:cNvPr id="16" name="协助申请与审核">
            <a:extLst xmlns:a="http://schemas.openxmlformats.org/drawingml/2006/main">
              <a:ext uri="{FF2B5EF4-FFF2-40B4-BE49-F238E27FC236}">
                <a16:creationId xmlns:a16="http://schemas.microsoft.com/office/drawing/2014/main" id="{54B83415-A5A7-4890-810D-777D0E53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953125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协助申请与审核</a:t>
            </a:r>
          </a:p>
          <a:p xmlns:a="http://schemas.openxmlformats.org/drawingml/2006/main">
            <a:pPr algn="l">
              <a:defRPr sz="33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每一步都有据可查</a:t>
            </a:r>
          </a:p>
        </p:txBody>
      </p:sp>
      <p:sp>
        <p:nvSpPr>
          <p:cNvPr id="17" name="项目简介与路演答辩">
            <a:extLst xmlns:a="http://schemas.openxmlformats.org/drawingml/2006/main">
              <a:ext uri="{FF2B5EF4-FFF2-40B4-BE49-F238E27FC236}">
                <a16:creationId xmlns:a16="http://schemas.microsoft.com/office/drawing/2014/main" id="{00F3EFFB-EABB-4B23-8212-8E60E379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7781925"/>
            <a:ext cx="790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项目简介与路演答辩</a:t>
            </a:r>
          </a:p>
        </p:txBody>
      </p:sp>
      <p:sp>
        <p:nvSpPr>
          <p:cNvPr id="18" name="参赛单位、团队成员、指导教师：待补充">
            <a:extLst xmlns:a="http://schemas.openxmlformats.org/drawingml/2006/main">
              <a:ext uri="{FF2B5EF4-FFF2-40B4-BE49-F238E27FC236}">
                <a16:creationId xmlns:a16="http://schemas.microsoft.com/office/drawing/2014/main" id="{D7A59381-1221-429C-95DE-2A031F97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629650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参赛单位、团队成员、指导教师：待补充</a:t>
            </a:r>
          </a:p>
        </p:txBody>
      </p:sp>
    </p:spTree>
    <p:extLst>
      <p:ext uri="{BB962C8B-B14F-4D97-AF65-F5344CB8AC3E}">
        <p14:creationId xmlns:p14="http://schemas.microsoft.com/office/powerpoint/2010/main" val="1646880983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93677AD-25DE-42ED-A161-1075748C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3554864" y="-1544588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0" y="7235341"/>
                </a:moveTo>
                <a:lnTo>
                  <a:pt x="7109728" y="7235341"/>
                </a:lnTo>
                <a:lnTo>
                  <a:pt x="7109728" y="0"/>
                </a:lnTo>
                <a:lnTo>
                  <a:pt x="0" y="0"/>
                </a:lnTo>
                <a:lnTo>
                  <a:pt x="0" y="723534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ea15feccf2437a">
              <a:extLst>
                <a:ext uri="{96DAC541-7B7A-43D3-8B79-37D633B846F1}">
                  <asvg:svgBlip xmlns:asvg="http://schemas.microsoft.com/office/drawing/2016/SVG/main" r:embed="R1a029ef5cdd64e7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E1D2403-AF91-4346-AE9D-1FF9EC7A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80621" flipH="1" flipV="0">
            <a:off x="-2622106" y="1281674"/>
            <a:ext cx="9373423" cy="10152513"/>
          </a:xfrm>
          <a:custGeom xmlns:a="http://schemas.openxmlformats.org/drawingml/2006/main">
            <a:rect l="l" t="t" r="r" b="b"/>
            <a:pathLst>
              <a:path w="9373423" h="10152513">
                <a:moveTo>
                  <a:pt x="9373423" y="0"/>
                </a:moveTo>
                <a:lnTo>
                  <a:pt x="0" y="0"/>
                </a:lnTo>
                <a:lnTo>
                  <a:pt x="0" y="10152513"/>
                </a:lnTo>
                <a:lnTo>
                  <a:pt x="9373423" y="10152513"/>
                </a:lnTo>
                <a:lnTo>
                  <a:pt x="93734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a17cdc21094087"/>
            <a:stretch>
              <a:fillRect l="0" t="0" r="0" b="0"/>
            </a:stretch>
          </a:blipFill>
        </p:spPr>
      </p:sp>
      <p:sp>
        <p:nvSpPr>
          <p:cNvPr id="5" name="场地申请的三个难点">
            <a:extLst xmlns:a="http://schemas.openxmlformats.org/drawingml/2006/main">
              <a:ext uri="{FF2B5EF4-FFF2-40B4-BE49-F238E27FC236}">
                <a16:creationId xmlns:a16="http://schemas.microsoft.com/office/drawing/2014/main" id="{8842EDA9-C220-47C7-B302-5BE42BAB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3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3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场地申请的三个难点</a:t>
            </a:r>
          </a:p>
        </p:txBody>
      </p:sp>
      <p:sp>
        <p:nvSpPr>
          <p:cNvPr id="6" name="学生">
            <a:extLst xmlns:a="http://schemas.openxmlformats.org/drawingml/2006/main">
              <a:ext uri="{FF2B5EF4-FFF2-40B4-BE49-F238E27FC236}">
                <a16:creationId xmlns:a16="http://schemas.microsoft.com/office/drawing/2014/main" id="{614320B8-C4C2-42C7-9724-1C074EAC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7" name="规则分散，填写时难以判断缺什么。">
            <a:extLst xmlns:a="http://schemas.openxmlformats.org/drawingml/2006/main">
              <a:ext uri="{FF2B5EF4-FFF2-40B4-BE49-F238E27FC236}">
                <a16:creationId xmlns:a16="http://schemas.microsoft.com/office/drawing/2014/main" id="{CC229645-F3D8-460A-9FCB-6B067572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规则分散，填写时难以判断缺什么。</a:t>
            </a:r>
          </a:p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收到退回后，还需要弄清具体修改要求。</a:t>
            </a:r>
          </a:p>
        </p:txBody>
      </p:sp>
      <p:sp>
        <p:nvSpPr>
          <p:cNvPr id="8" name="审核人">
            <a:extLst xmlns:a="http://schemas.openxmlformats.org/drawingml/2006/main">
              <a:ext uri="{FF2B5EF4-FFF2-40B4-BE49-F238E27FC236}">
                <a16:creationId xmlns:a16="http://schemas.microsoft.com/office/drawing/2014/main" id="{BE83F029-47EF-4CB3-8528-1033DDCA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审核人</a:t>
            </a:r>
          </a:p>
        </p:txBody>
      </p:sp>
      <p:sp>
        <p:nvSpPr>
          <p:cNvPr id="9" name="反复核对材料、场地和制度。">
            <a:extLst xmlns:a="http://schemas.openxmlformats.org/drawingml/2006/main">
              <a:ext uri="{FF2B5EF4-FFF2-40B4-BE49-F238E27FC236}">
                <a16:creationId xmlns:a16="http://schemas.microsoft.com/office/drawing/2014/main" id="{5E6A26A7-9DF1-4C7B-83DB-393A7558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72175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反复核对材料、场地和制度。</a:t>
            </a:r>
          </a:p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审核摘要和退回意见都需要整理。</a:t>
            </a:r>
          </a:p>
        </p:txBody>
      </p:sp>
      <p:sp>
        <p:nvSpPr>
          <p:cNvPr id="10" name="管理者">
            <a:extLst xmlns:a="http://schemas.openxmlformats.org/drawingml/2006/main">
              <a:ext uri="{FF2B5EF4-FFF2-40B4-BE49-F238E27FC236}">
                <a16:creationId xmlns:a16="http://schemas.microsoft.com/office/drawing/2014/main" id="{5269863B-BA74-4B8A-818E-7BC66134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248525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1" name="需要查清谁做了什么、依据哪条规则，">
            <a:extLst xmlns:a="http://schemas.openxmlformats.org/drawingml/2006/main">
              <a:ext uri="{FF2B5EF4-FFF2-40B4-BE49-F238E27FC236}">
                <a16:creationId xmlns:a16="http://schemas.microsoft.com/office/drawing/2014/main" id="{74E01A2D-3D88-4A71-9443-28F5723F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001000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需要查清谁做了什么、依据哪条规则，</a:t>
            </a:r>
          </a:p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以及退回前后的申请有哪些变化。</a:t>
            </a:r>
          </a:p>
        </p:txBody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EE0CFF18-F1EC-4E6E-A6A7-9073C515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5283764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F9F0649-E3A8-453E-9B80-BF134715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3554864" y="1028700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0" y="7235341"/>
                </a:moveTo>
                <a:lnTo>
                  <a:pt x="7109728" y="7235341"/>
                </a:lnTo>
                <a:lnTo>
                  <a:pt x="7109728" y="0"/>
                </a:lnTo>
                <a:lnTo>
                  <a:pt x="0" y="0"/>
                </a:lnTo>
                <a:lnTo>
                  <a:pt x="0" y="723534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b69196b71b4988">
              <a:extLst>
                <a:ext uri="{96DAC541-7B7A-43D3-8B79-37D633B846F1}">
                  <asvg:svgBlip xmlns:asvg="http://schemas.microsoft.com/office/drawing/2016/SVG/main" r:embed="R601bd7beb4c94b9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74EF8702-21B7-4B80-A216-98710022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734716" y="1525829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7109727" y="7235342"/>
                </a:moveTo>
                <a:lnTo>
                  <a:pt x="0" y="7235342"/>
                </a:lnTo>
                <a:lnTo>
                  <a:pt x="0" y="0"/>
                </a:lnTo>
                <a:lnTo>
                  <a:pt x="7109727" y="0"/>
                </a:lnTo>
                <a:lnTo>
                  <a:pt x="7109727" y="72353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b69196b71b4988">
              <a:extLst>
                <a:ext uri="{96DAC541-7B7A-43D3-8B79-37D633B846F1}">
                  <asvg:svgBlip xmlns:asvg="http://schemas.microsoft.com/office/drawing/2016/SVG/main" r:embed="R601bd7beb4c94b9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AI、程序与人的分工">
            <a:extLst xmlns:a="http://schemas.openxmlformats.org/drawingml/2006/main">
              <a:ext uri="{FF2B5EF4-FFF2-40B4-BE49-F238E27FC236}">
                <a16:creationId xmlns:a16="http://schemas.microsoft.com/office/drawing/2014/main" id="{ABF8DBD7-7283-479B-ADC5-CC412CED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04925"/>
            <a:ext cx="1133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AI、程序与人的分工</a:t>
            </a:r>
          </a:p>
        </p:txBody>
      </p:sp>
      <p:sp>
        <p:nvSpPr>
          <p:cNvPr id="10" name="每类能力都有明确的职责">
            <a:extLst xmlns:a="http://schemas.openxmlformats.org/drawingml/2006/main">
              <a:ext uri="{FF2B5EF4-FFF2-40B4-BE49-F238E27FC236}">
                <a16:creationId xmlns:a16="http://schemas.microsoft.com/office/drawing/2014/main" id="{4338F71E-5F6F-4F31-B789-BE50D57D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050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每类能力都有明确的职责</a:t>
            </a:r>
          </a:p>
        </p:txBody>
      </p:sp>
      <p:sp>
        <p:nvSpPr>
          <p:cNvPr id="11" name="01">
            <a:extLst xmlns:a="http://schemas.openxmlformats.org/drawingml/2006/main">
              <a:ext uri="{FF2B5EF4-FFF2-40B4-BE49-F238E27FC236}">
                <a16:creationId xmlns:a16="http://schemas.microsoft.com/office/drawing/2014/main" id="{70C91826-D892-45F6-AA1A-886CCECB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433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01</a:t>
            </a:r>
          </a:p>
        </p:txBody>
      </p:sp>
      <p:sp>
        <p:nvSpPr>
          <p:cNvPr id="12" name="AI 协助">
            <a:extLst xmlns:a="http://schemas.openxmlformats.org/drawingml/2006/main">
              <a:ext uri="{FF2B5EF4-FFF2-40B4-BE49-F238E27FC236}">
                <a16:creationId xmlns:a16="http://schemas.microsoft.com/office/drawing/2014/main" id="{B600BBB0-0AA3-4EB4-8A67-0ABC7AA6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339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AI 协助</a:t>
            </a:r>
          </a:p>
        </p:txBody>
      </p:sp>
      <p:sp>
        <p:nvSpPr>
          <p:cNvPr id="13" name="整理申请说明">
            <a:extLst xmlns:a="http://schemas.openxmlformats.org/drawingml/2006/main">
              <a:ext uri="{FF2B5EF4-FFF2-40B4-BE49-F238E27FC236}">
                <a16:creationId xmlns:a16="http://schemas.microsoft.com/office/drawing/2014/main" id="{8A950859-B8D0-49C7-9143-EE211C9F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315075"/>
            <a:ext cx="3667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整理申请说明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生成审核摘要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润色退回意见</a:t>
            </a:r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50A0682C-EC15-414A-AF62-9C4D7EE0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433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02</a:t>
            </a:r>
          </a:p>
        </p:txBody>
      </p:sp>
      <p:sp>
        <p:nvSpPr>
          <p:cNvPr id="15" name="程序校验">
            <a:extLst xmlns:a="http://schemas.openxmlformats.org/drawingml/2006/main">
              <a:ext uri="{FF2B5EF4-FFF2-40B4-BE49-F238E27FC236}">
                <a16:creationId xmlns:a16="http://schemas.microsoft.com/office/drawing/2014/main" id="{08D309A0-99D5-4B69-BF7A-3DE7F9C8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1339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程序校验</a:t>
            </a:r>
          </a:p>
        </p:txBody>
      </p:sp>
      <p:sp>
        <p:nvSpPr>
          <p:cNvPr id="16" name="检查字段与场地规则">
            <a:extLst xmlns:a="http://schemas.openxmlformats.org/drawingml/2006/main">
              <a:ext uri="{FF2B5EF4-FFF2-40B4-BE49-F238E27FC236}">
                <a16:creationId xmlns:a16="http://schemas.microsoft.com/office/drawing/2014/main" id="{00BC0562-F2BB-4E29-9346-F479FDC5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315075"/>
            <a:ext cx="3667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检查字段与场地规则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校验引用和事实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执行权限与状态控制</a:t>
            </a:r>
          </a:p>
        </p:txBody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D52D4CF5-F4B6-496F-8A37-E81FA7BD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9433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03</a:t>
            </a:r>
          </a:p>
        </p:txBody>
      </p:sp>
      <p:sp>
        <p:nvSpPr>
          <p:cNvPr id="18" name="人工决定">
            <a:extLst xmlns:a="http://schemas.openxmlformats.org/drawingml/2006/main">
              <a:ext uri="{FF2B5EF4-FFF2-40B4-BE49-F238E27FC236}">
                <a16:creationId xmlns:a16="http://schemas.microsoft.com/office/drawing/2014/main" id="{EFD4C1E5-27EA-49EA-A72B-59FE3055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339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人工决定</a:t>
            </a:r>
          </a:p>
        </p:txBody>
      </p:sp>
      <p:sp>
        <p:nvSpPr>
          <p:cNvPr id="19" name="确认采纳建议">
            <a:extLst xmlns:a="http://schemas.openxmlformats.org/drawingml/2006/main">
              <a:ext uri="{FF2B5EF4-FFF2-40B4-BE49-F238E27FC236}">
                <a16:creationId xmlns:a16="http://schemas.microsoft.com/office/drawing/2014/main" id="{AC291616-1DE6-4679-A2EC-6D4D955D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315075"/>
            <a:ext cx="3667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确认采纳建议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评估需人工判断的风险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确认退回、批准与办结</a:t>
            </a:r>
          </a:p>
        </p:txBody>
      </p:sp>
      <p:sp>
        <p:nvSpPr>
          <p:cNvPr id="20" name="模型输出经过校验，再交给用户确认">
            <a:extLst xmlns:a="http://schemas.openxmlformats.org/drawingml/2006/main">
              <a:ext uri="{FF2B5EF4-FFF2-40B4-BE49-F238E27FC236}">
                <a16:creationId xmlns:a16="http://schemas.microsoft.com/office/drawing/2014/main" id="{917F4044-C263-4072-8338-B4482CF1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5820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模型输出经过校验，再交给用户确认</a:t>
            </a:r>
          </a:p>
        </p:txBody>
      </p:sp>
      <p:sp>
        <p:nvSpPr>
          <p:cNvPr id="21" name="03">
            <a:extLst xmlns:a="http://schemas.openxmlformats.org/drawingml/2006/main">
              <a:ext uri="{FF2B5EF4-FFF2-40B4-BE49-F238E27FC236}">
                <a16:creationId xmlns:a16="http://schemas.microsoft.com/office/drawing/2014/main" id="{EB4B482A-263B-4375-A546-84D09FD2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1643418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8FA569C-7FEE-4221-9116-2474C166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317219" y="-2891445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7109727" y="7235342"/>
                </a:moveTo>
                <a:lnTo>
                  <a:pt x="0" y="7235342"/>
                </a:lnTo>
                <a:lnTo>
                  <a:pt x="0" y="0"/>
                </a:lnTo>
                <a:lnTo>
                  <a:pt x="7109727" y="0"/>
                </a:lnTo>
                <a:lnTo>
                  <a:pt x="7109727" y="72353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f063eaa7e84141">
              <a:extLst>
                <a:ext uri="{96DAC541-7B7A-43D3-8B79-37D633B846F1}">
                  <asvg:svgBlip xmlns:asvg="http://schemas.microsoft.com/office/drawing/2016/SVG/main" r:embed="R870366a89a4f489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一条场地申请的办理过程">
            <a:extLst xmlns:a="http://schemas.openxmlformats.org/drawingml/2006/main">
              <a:ext uri="{FF2B5EF4-FFF2-40B4-BE49-F238E27FC236}">
                <a16:creationId xmlns:a16="http://schemas.microsoft.com/office/drawing/2014/main" id="{68B6CB86-308C-4F79-816A-BEC886D2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81125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一条场地申请的办理过程</a:t>
            </a:r>
          </a:p>
        </p:txBody>
      </p:sp>
      <p:sp>
        <p:nvSpPr>
          <p:cNvPr id="10" name="覆盖退回、修订和再次审核">
            <a:extLst xmlns:a="http://schemas.openxmlformats.org/drawingml/2006/main">
              <a:ext uri="{FF2B5EF4-FFF2-40B4-BE49-F238E27FC236}">
                <a16:creationId xmlns:a16="http://schemas.microsoft.com/office/drawing/2014/main" id="{64AB1398-42AD-417C-8D1C-D6CF1C22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1238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覆盖退回、修订和再次审核</a:t>
            </a:r>
          </a:p>
        </p:txBody>
      </p:sp>
      <p:sp>
        <p:nvSpPr>
          <p:cNvPr id="11" name="01">
            <a:extLst xmlns:a="http://schemas.openxmlformats.org/drawingml/2006/main">
              <a:ext uri="{FF2B5EF4-FFF2-40B4-BE49-F238E27FC236}">
                <a16:creationId xmlns:a16="http://schemas.microsoft.com/office/drawing/2014/main" id="{8842FF91-998D-44B1-B2B7-0910E6A0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338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01</a:t>
            </a:r>
          </a:p>
        </p:txBody>
      </p:sp>
      <p:sp>
        <p:nvSpPr>
          <p:cNvPr id="12" name="填写与预检">
            <a:extLst xmlns:a="http://schemas.openxmlformats.org/drawingml/2006/main">
              <a:ext uri="{FF2B5EF4-FFF2-40B4-BE49-F238E27FC236}">
                <a16:creationId xmlns:a16="http://schemas.microsoft.com/office/drawing/2014/main" id="{1BF8A059-29A2-43E9-9602-D5929020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10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填写与预检</a:t>
            </a:r>
          </a:p>
        </p:txBody>
      </p:sp>
      <p:sp>
        <p:nvSpPr>
          <p:cNvPr id="13" name="学生完善申请">
            <a:extLst xmlns:a="http://schemas.openxmlformats.org/drawingml/2006/main">
              <a:ext uri="{FF2B5EF4-FFF2-40B4-BE49-F238E27FC236}">
                <a16:creationId xmlns:a16="http://schemas.microsoft.com/office/drawing/2014/main" id="{43B32ED4-12AE-4067-972C-D0717651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9056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学生完善申请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程序检查六项规则</a:t>
            </a:r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F0345437-26F3-4215-8168-11DDE6C9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338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02</a:t>
            </a:r>
          </a:p>
        </p:txBody>
      </p:sp>
      <p:sp>
        <p:nvSpPr>
          <p:cNvPr id="15" name="提交与审核">
            <a:extLst xmlns:a="http://schemas.openxmlformats.org/drawingml/2006/main">
              <a:ext uri="{FF2B5EF4-FFF2-40B4-BE49-F238E27FC236}">
                <a16:creationId xmlns:a16="http://schemas.microsoft.com/office/drawing/2014/main" id="{899C857F-953C-4EBF-88C7-EEB79389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810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提交与审核</a:t>
            </a:r>
          </a:p>
        </p:txBody>
      </p:sp>
      <p:sp>
        <p:nvSpPr>
          <p:cNvPr id="16" name="学生确认提交">
            <a:extLst xmlns:a="http://schemas.openxmlformats.org/drawingml/2006/main">
              <a:ext uri="{FF2B5EF4-FFF2-40B4-BE49-F238E27FC236}">
                <a16:creationId xmlns:a16="http://schemas.microsoft.com/office/drawing/2014/main" id="{16BBEE97-0397-4EE1-8812-B9B69051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056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学生确认提交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管理员核对事实和证据</a:t>
            </a:r>
          </a:p>
        </p:txBody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9DF6C45B-2D48-47EB-8A22-F66E8A4D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338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03</a:t>
            </a:r>
          </a:p>
        </p:txBody>
      </p:sp>
      <p:sp>
        <p:nvSpPr>
          <p:cNvPr id="18" name="退回与修订">
            <a:extLst xmlns:a="http://schemas.openxmlformats.org/drawingml/2006/main">
              <a:ext uri="{FF2B5EF4-FFF2-40B4-BE49-F238E27FC236}">
                <a16:creationId xmlns:a16="http://schemas.microsoft.com/office/drawing/2014/main" id="{EE3A6F2B-8C45-462A-AC9C-54317B4F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10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退回与修订</a:t>
            </a:r>
          </a:p>
        </p:txBody>
      </p:sp>
      <p:sp>
        <p:nvSpPr>
          <p:cNvPr id="19" name="管理员说明修改要求">
            <a:extLst xmlns:a="http://schemas.openxmlformats.org/drawingml/2006/main">
              <a:ext uri="{FF2B5EF4-FFF2-40B4-BE49-F238E27FC236}">
                <a16:creationId xmlns:a16="http://schemas.microsoft.com/office/drawing/2014/main" id="{B5B4E27E-FA6C-4CCC-97AD-B0E3376D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9056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管理员说明修改要求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学生创建新版本并重提</a:t>
            </a:r>
          </a:p>
        </p:txBody>
      </p: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7FCC9D8C-EC54-43FC-9F59-265BC1A8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3338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04</a:t>
            </a:r>
          </a:p>
        </p:txBody>
      </p:sp>
      <p:sp>
        <p:nvSpPr>
          <p:cNvPr id="21" name="批准与办结">
            <a:extLst xmlns:a="http://schemas.openxmlformats.org/drawingml/2006/main">
              <a:ext uri="{FF2B5EF4-FFF2-40B4-BE49-F238E27FC236}">
                <a16:creationId xmlns:a16="http://schemas.microsoft.com/office/drawing/2014/main" id="{4985DAAA-B75C-4A8F-A413-E278D90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810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批准与办结</a:t>
            </a:r>
          </a:p>
        </p:txBody>
      </p:sp>
      <p:sp>
        <p:nvSpPr>
          <p:cNvPr id="22" name="管理员确认处理">
            <a:extLst xmlns:a="http://schemas.openxmlformats.org/drawingml/2006/main">
              <a:ext uri="{FF2B5EF4-FFF2-40B4-BE49-F238E27FC236}">
                <a16:creationId xmlns:a16="http://schemas.microsoft.com/office/drawing/2014/main" id="{A2E83284-DE94-4499-8FE3-BC9D7792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9056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管理员确认处理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记录状态与操作时间</a:t>
            </a:r>
          </a:p>
        </p:txBody>
      </p:sp>
      <p:sp>
        <p:nvSpPr>
          <p:cNvPr id="23" name="每次处理都保留操作者、版本和事件记录">
            <a:extLst xmlns:a="http://schemas.openxmlformats.org/drawingml/2006/main">
              <a:ext uri="{FF2B5EF4-FFF2-40B4-BE49-F238E27FC236}">
                <a16:creationId xmlns:a16="http://schemas.microsoft.com/office/drawing/2014/main" id="{C9C8C285-05CF-45FE-BA7F-67E805F0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839200"/>
            <a:ext cx="1476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每次处理都保留操作者、版本和事件记录</a:t>
            </a:r>
          </a:p>
        </p:txBody>
      </p:sp>
      <p:sp>
        <p:nvSpPr>
          <p:cNvPr id="24" name="04">
            <a:extLst xmlns:a="http://schemas.openxmlformats.org/drawingml/2006/main">
              <a:ext uri="{FF2B5EF4-FFF2-40B4-BE49-F238E27FC236}">
                <a16:creationId xmlns:a16="http://schemas.microsoft.com/office/drawing/2014/main" id="{C0EA5285-A764-44D0-A0EC-D9643940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7756731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产品现场演示">
            <a:extLst xmlns:a="http://schemas.openxmlformats.org/drawingml/2006/main">
              <a:ext uri="{FF2B5EF4-FFF2-40B4-BE49-F238E27FC236}">
                <a16:creationId xmlns:a16="http://schemas.microsoft.com/office/drawing/2014/main" id="{F653AB39-F654-41F3-B54F-26B387FE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90650"/>
            <a:ext cx="942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产品现场演示</a:t>
            </a:r>
          </a:p>
        </p:txBody>
      </p:sp>
      <p:sp>
        <p:nvSpPr>
          <p:cNvPr id="2" name="学生申请、管理员审核">
            <a:extLst xmlns:a="http://schemas.openxmlformats.org/drawingml/2006/main">
              <a:ext uri="{FF2B5EF4-FFF2-40B4-BE49-F238E27FC236}">
                <a16:creationId xmlns:a16="http://schemas.microsoft.com/office/drawing/2014/main" id="{B31A5359-2B7C-48D9-BC7C-01D4FD3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学生申请、管理员审核</a:t>
            </a:r>
          </a:p>
          <a:p xmlns:a="http://schemas.openxmlformats.org/drawingml/2006/main">
            <a:pPr algn="l">
              <a:def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在同一个工作台完成</a:t>
            </a:r>
          </a:p>
        </p:txBody>
      </p:sp>
      <p:sp>
        <p:nvSpPr>
          <p:cNvPr id="3" name="申请区">
            <a:extLst xmlns:a="http://schemas.openxmlformats.org/drawingml/2006/main">
              <a:ext uri="{FF2B5EF4-FFF2-40B4-BE49-F238E27FC236}">
                <a16:creationId xmlns:a16="http://schemas.microsoft.com/office/drawing/2014/main" id="{BFB000D7-C4A7-4EB4-BFFA-AC699A8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申请区</a:t>
            </a:r>
          </a:p>
        </p:txBody>
      </p:sp>
      <p:sp>
        <p:nvSpPr>
          <p:cNvPr id="4" name="填写活动信息，查看预检与 AI 建议">
            <a:extLst xmlns:a="http://schemas.openxmlformats.org/drawingml/2006/main">
              <a:ext uri="{FF2B5EF4-FFF2-40B4-BE49-F238E27FC236}">
                <a16:creationId xmlns:a16="http://schemas.microsoft.com/office/drawing/2014/main" id="{91CC86A5-F83E-4906-B4A5-D311AB8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341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填写活动信息，查看预检与 AI 建议</a:t>
            </a:r>
          </a:p>
        </p:txBody>
      </p:sp>
      <p:sp>
        <p:nvSpPr>
          <p:cNvPr id="5" name="审核与证据">
            <a:extLst xmlns:a="http://schemas.openxmlformats.org/drawingml/2006/main">
              <a:ext uri="{FF2B5EF4-FFF2-40B4-BE49-F238E27FC236}">
                <a16:creationId xmlns:a16="http://schemas.microsoft.com/office/drawing/2014/main" id="{2471A087-94DC-462F-9476-7003D96E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438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审核与证据</a:t>
            </a:r>
          </a:p>
        </p:txBody>
      </p:sp>
      <p:sp>
        <p:nvSpPr>
          <p:cNvPr id="6" name="查看来源、处理意见、版本与运行记录">
            <a:extLst xmlns:a="http://schemas.openxmlformats.org/drawingml/2006/main">
              <a:ext uri="{FF2B5EF4-FFF2-40B4-BE49-F238E27FC236}">
                <a16:creationId xmlns:a16="http://schemas.microsoft.com/office/drawing/2014/main" id="{6FE9271E-6AEF-4FE5-B2E6-E008E426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3058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查看来源、处理意见、版本与运行记录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e765a2ada4ec0"/>
          <a:stretch xmlns:a="http://schemas.openxmlformats.org/drawingml/2006/main"/>
        </p:blipFill>
        <p:spPr>
          <a:xfrm xmlns:a="http://schemas.openxmlformats.org/drawingml/2006/main">
            <a:off x="11525250" y="870535"/>
            <a:ext cx="4857750" cy="8564980"/>
          </a:xfrm>
          <a:prstGeom xmlns:a="http://schemas.openxmlformats.org/drawingml/2006/main" prst="rect">
            <a:avLst/>
          </a:prstGeom>
        </p:spPr>
      </p:pic>
      <p:sp>
        <p:nvSpPr>
          <p:cNvPr id="8" name="05">
            <a:extLst xmlns:a="http://schemas.openxmlformats.org/drawingml/2006/main">
              <a:ext uri="{FF2B5EF4-FFF2-40B4-BE49-F238E27FC236}">
                <a16:creationId xmlns:a16="http://schemas.microsoft.com/office/drawing/2014/main" id="{E6206BC4-7457-4638-8039-EFC45DDB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608900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系统架构">
            <a:extLst xmlns:a="http://schemas.openxmlformats.org/drawingml/2006/main">
              <a:ext uri="{FF2B5EF4-FFF2-40B4-BE49-F238E27FC236}">
                <a16:creationId xmlns:a16="http://schemas.microsoft.com/office/drawing/2014/main" id="{E65263E6-973B-41B9-977D-0947C155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57300"/>
            <a:ext cx="1343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2" name="交互层">
            <a:extLst xmlns:a="http://schemas.openxmlformats.org/drawingml/2006/main">
              <a:ext uri="{FF2B5EF4-FFF2-40B4-BE49-F238E27FC236}">
                <a16:creationId xmlns:a16="http://schemas.microsoft.com/office/drawing/2014/main" id="{FE223D90-D960-4FBA-B7F6-D5FE2A04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3" name="学生申请、审核台、场地时段、知识库与证据视图">
            <a:extLst xmlns:a="http://schemas.openxmlformats.org/drawingml/2006/main">
              <a:ext uri="{FF2B5EF4-FFF2-40B4-BE49-F238E27FC236}">
                <a16:creationId xmlns:a16="http://schemas.microsoft.com/office/drawing/2014/main" id="{BD8C2FA8-2785-4A6C-8413-206E596E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71825"/>
            <a:ext cx="1162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学生申请、审核台、场地时段、知识库与证据视图</a:t>
            </a:r>
          </a:p>
        </p:txBody>
      </p:sp>
      <p:sp>
        <p:nvSpPr>
          <p:cNvPr id="4" name="领域层">
            <a:extLst xmlns:a="http://schemas.openxmlformats.org/drawingml/2006/main">
              <a:ext uri="{FF2B5EF4-FFF2-40B4-BE49-F238E27FC236}">
                <a16:creationId xmlns:a16="http://schemas.microsoft.com/office/drawing/2014/main" id="{02343060-C7A5-4975-937E-9331A6F7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领域层</a:t>
            </a:r>
          </a:p>
        </p:txBody>
      </p:sp>
      <p:sp>
        <p:nvSpPr>
          <p:cNvPr id="5" name="表单校验、规则引擎、状态机、版本和权限">
            <a:extLst xmlns:a="http://schemas.openxmlformats.org/drawingml/2006/main">
              <a:ext uri="{FF2B5EF4-FFF2-40B4-BE49-F238E27FC236}">
                <a16:creationId xmlns:a16="http://schemas.microsoft.com/office/drawing/2014/main" id="{CCDE8F52-C966-4C7E-90D7-185BCE0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1162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表单校验、规则引擎、状态机、版本和权限</a:t>
            </a:r>
          </a:p>
        </p:txBody>
      </p:sp>
      <p:sp>
        <p:nvSpPr>
          <p:cNvPr id="6" name="Agent 层">
            <a:extLst xmlns:a="http://schemas.openxmlformats.org/drawingml/2006/main">
              <a:ext uri="{FF2B5EF4-FFF2-40B4-BE49-F238E27FC236}">
                <a16:creationId xmlns:a16="http://schemas.microsoft.com/office/drawing/2014/main" id="{0E2CCD3D-8A05-48AA-87B0-25BC018F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Agent 层</a:t>
            </a:r>
          </a:p>
        </p:txBody>
      </p:sp>
      <p:sp>
        <p:nvSpPr>
          <p:cNvPr id="7" name="任务模板、最小上下文、输出解析、校验与降级">
            <a:extLst xmlns:a="http://schemas.openxmlformats.org/drawingml/2006/main">
              <a:ext uri="{FF2B5EF4-FFF2-40B4-BE49-F238E27FC236}">
                <a16:creationId xmlns:a16="http://schemas.microsoft.com/office/drawing/2014/main" id="{79C719F9-2A4E-41DB-8B7E-F4B6A4EF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76875"/>
            <a:ext cx="1162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任务模板、最小上下文、输出解析、校验与降级</a:t>
            </a:r>
          </a:p>
        </p:txBody>
      </p:sp>
      <p:sp>
        <p:nvSpPr>
          <p:cNvPr id="8" name="知识层">
            <a:extLst xmlns:a="http://schemas.openxmlformats.org/drawingml/2006/main">
              <a:ext uri="{FF2B5EF4-FFF2-40B4-BE49-F238E27FC236}">
                <a16:creationId xmlns:a16="http://schemas.microsoft.com/office/drawing/2014/main" id="{2738ADF8-1B28-4CFB-AA02-47244AC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627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9" name="场地规则、申请指南、设备说明与来源片段">
            <a:extLst xmlns:a="http://schemas.openxmlformats.org/drawingml/2006/main">
              <a:ext uri="{FF2B5EF4-FFF2-40B4-BE49-F238E27FC236}">
                <a16:creationId xmlns:a16="http://schemas.microsoft.com/office/drawing/2014/main" id="{1CD30246-AB21-4ACE-873F-1F2114E3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629400"/>
            <a:ext cx="1162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场地规则、申请指南、设备说明与来源片段</a:t>
            </a:r>
          </a:p>
        </p:txBody>
      </p:sp>
      <p:sp>
        <p:nvSpPr>
          <p:cNvPr id="10" name="数据层">
            <a:extLst xmlns:a="http://schemas.openxmlformats.org/drawingml/2006/main">
              <a:ext uri="{FF2B5EF4-FFF2-40B4-BE49-F238E27FC236}">
                <a16:creationId xmlns:a16="http://schemas.microsoft.com/office/drawing/2014/main" id="{C38C10CE-7E9F-4413-B78A-547CB6D3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15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1" name="D1 / SQLite 保存事务、版本、事件和 AI 运行">
            <a:extLst xmlns:a="http://schemas.openxmlformats.org/drawingml/2006/main">
              <a:ext uri="{FF2B5EF4-FFF2-40B4-BE49-F238E27FC236}">
                <a16:creationId xmlns:a16="http://schemas.microsoft.com/office/drawing/2014/main" id="{CAC6FDCF-5F6E-489F-A6CF-B2CAAF2E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781925"/>
            <a:ext cx="1162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D1 / SQLite 保存事务、版本、事件和 AI 运行</a:t>
            </a:r>
          </a:p>
        </p:txBody>
      </p:sp>
      <p:sp>
        <p:nvSpPr>
          <p:cNvPr id="12" name="业务写入由服务端控制，模型密钥仅在服务端使用">
            <a:extLst xmlns:a="http://schemas.openxmlformats.org/drawingml/2006/main">
              <a:ext uri="{FF2B5EF4-FFF2-40B4-BE49-F238E27FC236}">
                <a16:creationId xmlns:a16="http://schemas.microsoft.com/office/drawing/2014/main" id="{3E65A116-B2E2-45DB-BDFC-01F941CA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201150"/>
            <a:ext cx="1419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业务写入由服务端控制，模型密钥仅在服务端使用</a:t>
            </a:r>
          </a:p>
        </p:txBody>
      </p:sp>
      <p:sp>
        <p:nvSpPr>
          <p:cNvPr id="13" name="06">
            <a:extLst xmlns:a="http://schemas.openxmlformats.org/drawingml/2006/main">
              <a:ext uri="{FF2B5EF4-FFF2-40B4-BE49-F238E27FC236}">
                <a16:creationId xmlns:a16="http://schemas.microsoft.com/office/drawing/2014/main" id="{E184A545-CDEE-4C91-93BF-0745069A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916369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8F4D800-CAAD-4B58-9910-5337FA08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78749" y="-1895416"/>
            <a:ext cx="7203182" cy="7330447"/>
          </a:xfrm>
          <a:custGeom xmlns:a="http://schemas.openxmlformats.org/drawingml/2006/main">
            <a:rect l="l" t="t" r="r" b="b"/>
            <a:pathLst>
              <a:path w="7203182" h="7330447">
                <a:moveTo>
                  <a:pt x="0" y="0"/>
                </a:moveTo>
                <a:lnTo>
                  <a:pt x="7203183" y="0"/>
                </a:lnTo>
                <a:lnTo>
                  <a:pt x="7203183" y="7330447"/>
                </a:lnTo>
                <a:lnTo>
                  <a:pt x="0" y="73304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97a806b8ae4114">
              <a:extLst>
                <a:ext uri="{96DAC541-7B7A-43D3-8B79-37D633B846F1}">
                  <asvg:svgBlip xmlns:asvg="http://schemas.microsoft.com/office/drawing/2016/SVG/main" r:embed="R5170d9e498d84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AI 承担的三个任务">
            <a:extLst xmlns:a="http://schemas.openxmlformats.org/drawingml/2006/main">
              <a:ext uri="{FF2B5EF4-FFF2-40B4-BE49-F238E27FC236}">
                <a16:creationId xmlns:a16="http://schemas.microsoft.com/office/drawing/2014/main" id="{E56186B4-BA3C-4549-9EF5-50DF2762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81125"/>
            <a:ext cx="1390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AI 承担的三个任务</a:t>
            </a:r>
          </a:p>
        </p:txBody>
      </p:sp>
      <p:sp>
        <p:nvSpPr>
          <p:cNvPr id="4" name="整理申请说明">
            <a:extLst xmlns:a="http://schemas.openxmlformats.org/drawingml/2006/main">
              <a:ext uri="{FF2B5EF4-FFF2-40B4-BE49-F238E27FC236}">
                <a16:creationId xmlns:a16="http://schemas.microsoft.com/office/drawing/2014/main" id="{D74AB2FC-B4CD-41AC-9460-FD01DE35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整理申请说明</a:t>
            </a:r>
          </a:p>
        </p:txBody>
      </p:sp>
      <p:sp>
        <p:nvSpPr>
          <p:cNvPr id="5" name="读取已填字段和填写指南，给出文案与缺项建议。">
            <a:extLst xmlns:a="http://schemas.openxmlformats.org/drawingml/2006/main">
              <a:ext uri="{FF2B5EF4-FFF2-40B4-BE49-F238E27FC236}">
                <a16:creationId xmlns:a16="http://schemas.microsoft.com/office/drawing/2014/main" id="{86CA1C2F-5484-4E2A-8540-8C7660CD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读取已填字段和填写指南，给出文案与缺项建议。</a:t>
            </a:r>
          </a:p>
        </p:txBody>
      </p:sp>
      <p:sp>
        <p:nvSpPr>
          <p:cNvPr id="6" name="人数、日期等事实保留原值，建议由学生确认。">
            <a:extLst xmlns:a="http://schemas.openxmlformats.org/drawingml/2006/main">
              <a:ext uri="{FF2B5EF4-FFF2-40B4-BE49-F238E27FC236}">
                <a16:creationId xmlns:a16="http://schemas.microsoft.com/office/drawing/2014/main" id="{2BFA2741-9470-4FBC-92E7-7CEFB799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2432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人数、日期等事实保留原值，建议由学生确认。</a:t>
            </a:r>
          </a:p>
        </p:txBody>
      </p:sp>
      <p:sp>
        <p:nvSpPr>
          <p:cNvPr id="7" name="生成审核摘要">
            <a:extLst xmlns:a="http://schemas.openxmlformats.org/drawingml/2006/main">
              <a:ext uri="{FF2B5EF4-FFF2-40B4-BE49-F238E27FC236}">
                <a16:creationId xmlns:a16="http://schemas.microsoft.com/office/drawing/2014/main" id="{5B615FEC-0DBF-4CE9-A1C0-49416676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生成审核摘要</a:t>
            </a:r>
          </a:p>
        </p:txBody>
      </p:sp>
      <p:sp>
        <p:nvSpPr>
          <p:cNvPr id="8" name="汇总申请事实、规则结果和知识来源。">
            <a:extLst xmlns:a="http://schemas.openxmlformats.org/drawingml/2006/main">
              <a:ext uri="{FF2B5EF4-FFF2-40B4-BE49-F238E27FC236}">
                <a16:creationId xmlns:a16="http://schemas.microsoft.com/office/drawing/2014/main" id="{60D561C7-C45A-431B-8A3F-C622F561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67325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汇总申请事实、规则结果和知识来源。</a:t>
            </a:r>
          </a:p>
        </p:txBody>
      </p:sp>
      <p:sp>
        <p:nvSpPr>
          <p:cNvPr id="9" name="摘要提供证据引用，供管理员判断。">
            <a:extLst xmlns:a="http://schemas.openxmlformats.org/drawingml/2006/main">
              <a:ext uri="{FF2B5EF4-FFF2-40B4-BE49-F238E27FC236}">
                <a16:creationId xmlns:a16="http://schemas.microsoft.com/office/drawing/2014/main" id="{685F1975-4F83-458C-9873-B60C70D4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579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摘要提供证据引用，供管理员判断。</a:t>
            </a:r>
          </a:p>
        </p:txBody>
      </p:sp>
      <p:sp>
        <p:nvSpPr>
          <p:cNvPr id="10" name="润色退回意见">
            <a:extLst xmlns:a="http://schemas.openxmlformats.org/drawingml/2006/main">
              <a:ext uri="{FF2B5EF4-FFF2-40B4-BE49-F238E27FC236}">
                <a16:creationId xmlns:a16="http://schemas.microsoft.com/office/drawing/2014/main" id="{15898C2A-9201-4D16-83B6-2E38FCC1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0090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润色退回意见</a:t>
            </a:r>
          </a:p>
        </p:txBody>
      </p:sp>
      <p:sp>
        <p:nvSpPr>
          <p:cNvPr id="11" name="根据已确认的退回原因，说明修改要求。">
            <a:extLst xmlns:a="http://schemas.openxmlformats.org/drawingml/2006/main">
              <a:ext uri="{FF2B5EF4-FFF2-40B4-BE49-F238E27FC236}">
                <a16:creationId xmlns:a16="http://schemas.microsoft.com/office/drawing/2014/main" id="{FDF7617B-4ADE-41B0-BDDD-6DC0035F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20090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根据已确认的退回原因，说明修改要求。</a:t>
            </a:r>
          </a:p>
        </p:txBody>
      </p:sp>
      <p:sp>
        <p:nvSpPr>
          <p:cNvPr id="12" name="保留原有理由，文案经人工确认后使用。">
            <a:extLst xmlns:a="http://schemas.openxmlformats.org/drawingml/2006/main">
              <a:ext uri="{FF2B5EF4-FFF2-40B4-BE49-F238E27FC236}">
                <a16:creationId xmlns:a16="http://schemas.microsoft.com/office/drawing/2014/main" id="{EC7576D1-9192-43B0-994D-F0BF702E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99147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保留原有理由，文案经人工确认后使用。</a:t>
            </a:r>
          </a:p>
        </p:txBody>
      </p:sp>
      <p:sp>
        <p:nvSpPr>
          <p:cNvPr id="13" name="07">
            <a:extLst xmlns:a="http://schemas.openxmlformats.org/drawingml/2006/main">
              <a:ext uri="{FF2B5EF4-FFF2-40B4-BE49-F238E27FC236}">
                <a16:creationId xmlns:a16="http://schemas.microsoft.com/office/drawing/2014/main" id="{5DB5752C-1C9E-4B6B-8FC7-736AA6CE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7407427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 xmlns:p="http://schemas.openxmlformats.org/presentationml/2006/main">
  <p:cSld>
    <p:bg>
      <p:bgPr>
        <a:gradFill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Freeform 8">
            <a:extLst>
              <a:ext uri="{FF2B5EF4-FFF2-40B4-BE49-F238E27FC236}">
                <ns2:creationId id="{92865B1B-9FA8-4926-9319-670D707954A4}"/>
              </a:ext>
            </a:extLst>
          </p:cNvPr>
          <p:cNvSpPr>
            <a:spLocks noGrp="1"/>
          </p:cNvSpPr>
          <p:nvPr/>
        </p:nvSpPr>
        <p:spPr>
          <a:xfrm rot="0" flipH="1" flipV="1">
            <a:off x="14317219" y="-2891445"/>
            <a:ext cx="7109728" cy="7235341"/>
          </a:xfrm>
          <a:custGeom>
            <a:rect l="l" t="t" r="r" b="b"/>
            <a:pathLst>
              <a:path w="7109728" h="7235341">
                <a:moveTo>
                  <a:pt x="7109727" y="7235342"/>
                </a:moveTo>
                <a:lnTo>
                  <a:pt x="0" y="7235342"/>
                </a:lnTo>
                <a:lnTo>
                  <a:pt x="0" y="0"/>
                </a:lnTo>
                <a:lnTo>
                  <a:pt x="7109727" y="0"/>
                </a:lnTo>
                <a:lnTo>
                  <a:pt x="7109727" y="7235342"/>
                </a:lnTo>
                <a:close/>
              </a:path>
            </a:pathLst>
          </a:custGeom>
          <a:blipFill>
            <a:blip ns3:embed="R6423020dea9e4035">
              <a:extLst>
                <a:ext uri="{96DAC541-7B7A-43D3-8B79-37D633B846F1}">
                  <ns4:svgBlip ns3:embed="Rf3a57bc1deca40b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六项规则，逐项核对">
            <a:extLst>
              <a:ext uri="{FF2B5EF4-FFF2-40B4-BE49-F238E27FC236}">
                <ns2:creationId id="{874AD60A-3332-4E32-8A22-C3F2BC9DD24C}"/>
              </a:ext>
            </a:extLst>
          </p:cNvPr>
          <p:cNvSpPr>
            <a:spLocks noGrp="1"/>
          </p:cNvSpPr>
          <p:nvPr/>
        </p:nvSpPr>
        <p:spPr>
          <a:xfrm>
            <a:off x="1381125" y="1333500"/>
            <a:ext cx="1381125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六项规则，逐项核对</a:t>
            </a:r>
          </a:p>
        </p:txBody>
      </p:sp>
      <p:sp>
        <p:nvSpPr>
          <p:cNvPr id="10" name="预检同时返回判定结果和可核对的依据">
            <a:extLst>
              <a:ext uri="{FF2B5EF4-FFF2-40B4-BE49-F238E27FC236}">
                <ns2:creationId id="{929026F0-B72A-4CAC-B2B8-BF3AEE979AFD}"/>
              </a:ext>
            </a:extLst>
          </p:cNvPr>
          <p:cNvSpPr>
            <a:spLocks noGrp="1"/>
          </p:cNvSpPr>
          <p:nvPr/>
        </p:nvSpPr>
        <p:spPr>
          <a:xfrm>
            <a:off x="1428750" y="2714625"/>
            <a:ext cx="13239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6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预检同时返回判定结果和可核对的依据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="1352550" y="3800475"/>
          <a:ext cx="15335250" cy="4972050"/>
        </p:xfrm>
        <a:graphic>
          <a:graphicData uri="http://schemas.openxmlformats.org/drawingml/2006/table">
            <a:tbl>
              <a:tblPr firstRow="0" firstCol="0" lastCol="0" bandRow="0"/>
              <a:tblGrid>
                <a:gridCol w="3381375"/>
                <a:gridCol w="6715125"/>
                <a:gridCol w="5238750"/>
              </a:tblGrid>
              <a:tr h="6286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ECE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ECE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通过条件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ECE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核对依据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必填字段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所需信息完整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缺失字段清单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时间顺序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结束时间晚于开始时间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申请起止时间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场地容量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人数为正整数，且不超过容量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申请人数与场地容量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时段冲突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与已有活动无重叠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占用时段及活动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设备需求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场地可满足所需设备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设备清单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开放时间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处于开放时段，且不跨日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申请时段与开放时段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</a:tbl>
          </a:graphicData>
        </a:graphic>
      </p:graphicFrame>
      <p:sp>
        <p:nvSpPr>
          <p:cNvPr id="12" name="未通过预检时，页面给出具体原因和修改方向">
            <a:extLst>
              <a:ext uri="{FF2B5EF4-FFF2-40B4-BE49-F238E27FC236}">
                <ns2:creationId id="{2AD4142D-25AA-4B70-B117-F70EED247AEA}"/>
              </a:ext>
            </a:extLst>
          </p:cNvPr>
          <p:cNvSpPr>
            <a:spLocks noGrp="1"/>
          </p:cNvSpPr>
          <p:nvPr/>
        </p:nvSpPr>
        <p:spPr>
          <a:xfrm>
            <a:off x="1428750" y="9163050"/>
            <a:ext cx="14573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未通过预检时，页面给出具体原因和修改方向</a:t>
            </a:r>
          </a:p>
        </p:txBody>
      </p:sp>
      <p:sp>
        <p:nvSpPr>
          <p:cNvPr id="13" name="08">
            <a:extLst>
              <a:ext uri="{FF2B5EF4-FFF2-40B4-BE49-F238E27FC236}">
                <ns2:creationId id="{6252E4D0-FAB8-49D3-AEF3-09A1FE43E668}"/>
              </a:ext>
            </a:extLst>
          </p:cNvPr>
          <p:cNvSpPr>
            <a:spLocks noGrp="1"/>
          </p:cNvSpPr>
          <p:nvPr/>
        </p:nvSpPr>
        <p:spPr>
          <a:xfrm>
            <a:off x="16573500" y="9477375"/>
            <a:ext cx="619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08</a:t>
            </a:r>
          </a:p>
        </p:txBody>
      </p:sp>
    </p:spTree>
    <p:extLst>
      <p:ext uri="{BB962C8B-B14F-4D97-AF65-F5344CB8AC3E}">
        <ns5:creationId val="455045522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E074B65-8EA6-4399-BC51-E9B8CD99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80123" y="4609688"/>
            <a:ext cx="526970" cy="526970"/>
          </a:xfrm>
          <a:custGeom xmlns:a="http://schemas.openxmlformats.org/drawingml/2006/main">
            <a:rect l="l" t="t" r="r" b="b"/>
            <a:pathLst>
              <a:path w="526970" h="526970">
                <a:moveTo>
                  <a:pt x="0" y="0"/>
                </a:moveTo>
                <a:lnTo>
                  <a:pt x="526970" y="0"/>
                </a:lnTo>
                <a:lnTo>
                  <a:pt x="526970" y="526969"/>
                </a:lnTo>
                <a:lnTo>
                  <a:pt x="0" y="52696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e63f571f8749c0">
              <a:extLst>
                <a:ext uri="{96DAC541-7B7A-43D3-8B79-37D633B846F1}">
                  <asvg:svgBlip xmlns:asvg="http://schemas.microsoft.com/office/drawing/2016/SVG/main" r:embed="R16c649bae41b49f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02211EA-8EB4-43EE-9E72-555889E0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972" y="6502774"/>
            <a:ext cx="526970" cy="526970"/>
          </a:xfrm>
          <a:custGeom xmlns:a="http://schemas.openxmlformats.org/drawingml/2006/main">
            <a:rect l="l" t="t" r="r" b="b"/>
            <a:pathLst>
              <a:path w="526970" h="526970">
                <a:moveTo>
                  <a:pt x="0" y="0"/>
                </a:moveTo>
                <a:lnTo>
                  <a:pt x="526969" y="0"/>
                </a:lnTo>
                <a:lnTo>
                  <a:pt x="526969" y="526970"/>
                </a:lnTo>
                <a:lnTo>
                  <a:pt x="0" y="5269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e63f571f8749c0">
              <a:extLst>
                <a:ext uri="{96DAC541-7B7A-43D3-8B79-37D633B846F1}">
                  <asvg:svgBlip xmlns:asvg="http://schemas.microsoft.com/office/drawing/2016/SVG/main" r:embed="R16c649bae41b49f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96A5E4D-6C17-4DD0-A9A4-D241B0B9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6589" y="-3741992"/>
            <a:ext cx="6454766" cy="6454766"/>
          </a:xfrm>
          <a:custGeom xmlns:a="http://schemas.openxmlformats.org/drawingml/2006/main">
            <a:rect l="l" t="t" r="r" b="b"/>
            <a:pathLst>
              <a:path w="6454766" h="6454766">
                <a:moveTo>
                  <a:pt x="0" y="0"/>
                </a:moveTo>
                <a:lnTo>
                  <a:pt x="6454766" y="0"/>
                </a:lnTo>
                <a:lnTo>
                  <a:pt x="6454766" y="6454765"/>
                </a:lnTo>
                <a:lnTo>
                  <a:pt x="0" y="64547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e63f571f8749c0">
              <a:extLst>
                <a:ext uri="{96DAC541-7B7A-43D3-8B79-37D633B846F1}">
                  <asvg:svgBlip xmlns:asvg="http://schemas.microsoft.com/office/drawing/2016/SVG/main" r:embed="R16c649bae41b49f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1478477-2ED6-4587-9E80-9EAAC8E0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305170" y="2498407"/>
            <a:ext cx="2794626" cy="2794626"/>
          </a:xfrm>
          <a:custGeom xmlns:a="http://schemas.openxmlformats.org/drawingml/2006/main">
            <a:rect l="l" t="t" r="r" b="b"/>
            <a:pathLst>
              <a:path w="2794626" h="2794626">
                <a:moveTo>
                  <a:pt x="0" y="0"/>
                </a:moveTo>
                <a:lnTo>
                  <a:pt x="2794627" y="0"/>
                </a:lnTo>
                <a:lnTo>
                  <a:pt x="2794627" y="2794626"/>
                </a:lnTo>
                <a:lnTo>
                  <a:pt x="0" y="27946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e63f571f8749c0">
              <a:extLst>
                <a:ext uri="{96DAC541-7B7A-43D3-8B79-37D633B846F1}">
                  <asvg:svgBlip xmlns:asvg="http://schemas.microsoft.com/office/drawing/2016/SVG/main" r:embed="R16c649bae41b49f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ED4C2C2-B8C5-4D18-962F-80576E30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22216" y="7591719"/>
            <a:ext cx="4594156" cy="4594156"/>
          </a:xfrm>
          <a:custGeom xmlns:a="http://schemas.openxmlformats.org/drawingml/2006/main">
            <a:rect l="l" t="t" r="r" b="b"/>
            <a:pathLst>
              <a:path w="4594156" h="4594156">
                <a:moveTo>
                  <a:pt x="0" y="0"/>
                </a:moveTo>
                <a:lnTo>
                  <a:pt x="4594156" y="0"/>
                </a:lnTo>
                <a:lnTo>
                  <a:pt x="4594156" y="4594156"/>
                </a:lnTo>
                <a:lnTo>
                  <a:pt x="0" y="459415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e63f571f8749c0">
              <a:extLst>
                <a:ext uri="{96DAC541-7B7A-43D3-8B79-37D633B846F1}">
                  <asvg:svgBlip xmlns:asvg="http://schemas.microsoft.com/office/drawing/2016/SVG/main" r:embed="R16c649bae41b49f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4" name="退回后，保留每一次修改">
            <a:extLst xmlns:a="http://schemas.openxmlformats.org/drawingml/2006/main">
              <a:ext uri="{FF2B5EF4-FFF2-40B4-BE49-F238E27FC236}">
                <a16:creationId xmlns:a16="http://schemas.microsoft.com/office/drawing/2014/main" id="{8CF768C6-748E-4D90-A1D8-42FF60B1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85875"/>
            <a:ext cx="1476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退回后，保留每一次修改</a:t>
            </a:r>
          </a:p>
        </p:txBody>
      </p:sp>
      <p:sp>
        <p:nvSpPr>
          <p:cNvPr id="25" name="V1">
            <a:extLst xmlns:a="http://schemas.openxmlformats.org/drawingml/2006/main">
              <a:ext uri="{FF2B5EF4-FFF2-40B4-BE49-F238E27FC236}">
                <a16:creationId xmlns:a16="http://schemas.microsoft.com/office/drawing/2014/main" id="{4B390679-A6A1-4477-9166-08924EEB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05200"/>
            <a:ext cx="5619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1140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V1</a:t>
            </a:r>
          </a:p>
        </p:txBody>
      </p:sp>
      <p:sp>
        <p:nvSpPr>
          <p:cNvPr id="26" name="原始申请 · 已退回">
            <a:extLst xmlns:a="http://schemas.openxmlformats.org/drawingml/2006/main">
              <a:ext uri="{FF2B5EF4-FFF2-40B4-BE49-F238E27FC236}">
                <a16:creationId xmlns:a16="http://schemas.microsoft.com/office/drawing/2014/main" id="{4D18112C-F640-4886-ADFF-4385753A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86400"/>
            <a:ext cx="642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原始申请 · 已退回</a:t>
            </a:r>
          </a:p>
        </p:txBody>
      </p:sp>
      <p:sp>
        <p:nvSpPr>
          <p:cNvPr id="27" name="保留当时的申请内容">
            <a:extLst xmlns:a="http://schemas.openxmlformats.org/drawingml/2006/main">
              <a:ext uri="{FF2B5EF4-FFF2-40B4-BE49-F238E27FC236}">
                <a16:creationId xmlns:a16="http://schemas.microsoft.com/office/drawing/2014/main" id="{846A4366-D13A-4F36-A423-4303328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7056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保留当时的申请内容</a:t>
            </a:r>
          </a:p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记录退回原因与操作者</a:t>
            </a:r>
          </a:p>
        </p:txBody>
      </p:sp>
      <p:sp>
        <p:nvSpPr>
          <p:cNvPr id="28" name="V2">
            <a:extLst xmlns:a="http://schemas.openxmlformats.org/drawingml/2006/main">
              <a:ext uri="{FF2B5EF4-FFF2-40B4-BE49-F238E27FC236}">
                <a16:creationId xmlns:a16="http://schemas.microsoft.com/office/drawing/2014/main" id="{18044814-1D4E-480E-A334-0FB4C5A6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05200"/>
            <a:ext cx="5619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1140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V2</a:t>
            </a:r>
          </a:p>
        </p:txBody>
      </p:sp>
      <p:sp>
        <p:nvSpPr>
          <p:cNvPr id="29" name="补充说明 · 再次提交">
            <a:extLst xmlns:a="http://schemas.openxmlformats.org/drawingml/2006/main">
              <a:ext uri="{FF2B5EF4-FFF2-40B4-BE49-F238E27FC236}">
                <a16:creationId xmlns:a16="http://schemas.microsoft.com/office/drawing/2014/main" id="{52FA8723-8F6B-4AA5-AB25-B2E9067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486400"/>
            <a:ext cx="690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补充说明 · 再次提交</a:t>
            </a:r>
          </a:p>
        </p:txBody>
      </p:sp>
      <p:sp>
        <p:nvSpPr>
          <p:cNvPr id="30" name="生成新的申请版本">
            <a:extLst xmlns:a="http://schemas.openxmlformats.org/drawingml/2006/main">
              <a:ext uri="{FF2B5EF4-FFF2-40B4-BE49-F238E27FC236}">
                <a16:creationId xmlns:a16="http://schemas.microsoft.com/office/drawing/2014/main" id="{39EE693C-9D5C-4DB1-8F28-AB2449D6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705600"/>
            <a:ext cx="6905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生成新的申请版本</a:t>
            </a:r>
          </a:p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重新预检，交由管理员审核</a:t>
            </a:r>
          </a:p>
        </p:txBody>
      </p:sp>
      <p:sp>
        <p:nvSpPr>
          <p:cNvPr id="31" name="版本展示内容变化，事件记录每一次处理">
            <a:extLst xmlns:a="http://schemas.openxmlformats.org/drawingml/2006/main">
              <a:ext uri="{FF2B5EF4-FFF2-40B4-BE49-F238E27FC236}">
                <a16:creationId xmlns:a16="http://schemas.microsoft.com/office/drawing/2014/main" id="{B356701D-EAB3-46D3-92F1-E4AD82A2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8963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版本展示内容变化，事件记录每一次处理</a:t>
            </a:r>
          </a:p>
        </p:txBody>
      </p:sp>
      <p:sp>
        <p:nvSpPr>
          <p:cNvPr id="32" name="09">
            <a:extLst xmlns:a="http://schemas.openxmlformats.org/drawingml/2006/main">
              <a:ext uri="{FF2B5EF4-FFF2-40B4-BE49-F238E27FC236}">
                <a16:creationId xmlns:a16="http://schemas.microsoft.com/office/drawing/2014/main" id="{E0D74B0B-EC5C-4718-A39A-C261A8EC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264872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4A5B0D0-C404-4088-A32A-F94EF62C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39970" y="793353"/>
            <a:ext cx="5645151" cy="5645151"/>
          </a:xfrm>
          <a:custGeom xmlns:a="http://schemas.openxmlformats.org/drawingml/2006/main">
            <a:rect l="l" t="t" r="r" b="b"/>
            <a:pathLst>
              <a:path w="5645151" h="5645151">
                <a:moveTo>
                  <a:pt x="0" y="0"/>
                </a:moveTo>
                <a:lnTo>
                  <a:pt x="5645152" y="0"/>
                </a:lnTo>
                <a:lnTo>
                  <a:pt x="5645152" y="5645151"/>
                </a:lnTo>
                <a:lnTo>
                  <a:pt x="0" y="564515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867e22d9a54509">
              <a:extLst>
                <a:ext uri="{96DAC541-7B7A-43D3-8B79-37D633B846F1}">
                  <asvg:svgBlip xmlns:asvg="http://schemas.microsoft.com/office/drawing/2016/SVG/main" r:embed="Ra86f645699364bc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7A7DBF7-DCB4-48D1-8CB4-98AF6A29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85032" y="7484032"/>
            <a:ext cx="1774268" cy="1774268"/>
          </a:xfrm>
          <a:custGeom xmlns:a="http://schemas.openxmlformats.org/drawingml/2006/main">
            <a:rect l="l" t="t" r="r" b="b"/>
            <a:pathLst>
              <a:path w="1774268" h="1774268">
                <a:moveTo>
                  <a:pt x="0" y="0"/>
                </a:moveTo>
                <a:lnTo>
                  <a:pt x="1774268" y="0"/>
                </a:lnTo>
                <a:lnTo>
                  <a:pt x="1774268" y="1774268"/>
                </a:lnTo>
                <a:lnTo>
                  <a:pt x="0" y="17742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867e22d9a54509">
              <a:extLst>
                <a:ext uri="{96DAC541-7B7A-43D3-8B79-37D633B846F1}">
                  <asvg:svgBlip xmlns:asvg="http://schemas.microsoft.com/office/drawing/2016/SVG/main" r:embed="Ra86f645699364bc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模型异常时，业务仍可继续">
            <a:extLst xmlns:a="http://schemas.openxmlformats.org/drawingml/2006/main">
              <a:ext uri="{FF2B5EF4-FFF2-40B4-BE49-F238E27FC236}">
                <a16:creationId xmlns:a16="http://schemas.microsoft.com/office/drawing/2014/main" id="{96803E33-9EC4-4B14-BD15-12882888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43025"/>
            <a:ext cx="1495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模型异常时，业务仍可继续</a:t>
            </a:r>
          </a:p>
        </p:txBody>
      </p:sp>
      <p:sp>
        <p:nvSpPr>
          <p:cNvPr id="9" name="非法 JSON">
            <a:extLst xmlns:a="http://schemas.openxmlformats.org/drawingml/2006/main">
              <a:ext uri="{FF2B5EF4-FFF2-40B4-BE49-F238E27FC236}">
                <a16:creationId xmlns:a16="http://schemas.microsoft.com/office/drawing/2014/main" id="{0DAFF118-E5A6-4940-886C-9186DE06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非法 JSON</a:t>
            </a:r>
          </a:p>
        </p:txBody>
      </p:sp>
      <p:sp>
        <p:nvSpPr>
          <p:cNvPr id="10" name="拒绝结构错误的输出">
            <a:extLst xmlns:a="http://schemas.openxmlformats.org/drawingml/2006/main">
              <a:ext uri="{FF2B5EF4-FFF2-40B4-BE49-F238E27FC236}">
                <a16:creationId xmlns:a16="http://schemas.microsoft.com/office/drawing/2014/main" id="{CE6BA059-FA6A-446C-A1A9-814FC032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拒绝结构错误的输出</a:t>
            </a:r>
          </a:p>
        </p:txBody>
      </p:sp>
      <p:sp>
        <p:nvSpPr>
          <p:cNvPr id="11" name="INVALID_JSON">
            <a:extLst xmlns:a="http://schemas.openxmlformats.org/drawingml/2006/main">
              <a:ext uri="{FF2B5EF4-FFF2-40B4-BE49-F238E27FC236}">
                <a16:creationId xmlns:a16="http://schemas.microsoft.com/office/drawing/2014/main" id="{E3573744-54F0-42A6-81C2-2B24F436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103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2100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INVALID_JSON</a:t>
            </a:r>
          </a:p>
        </p:txBody>
      </p:sp>
      <p:sp>
        <p:nvSpPr>
          <p:cNvPr id="12" name="虚构规则">
            <a:extLst xmlns:a="http://schemas.openxmlformats.org/drawingml/2006/main">
              <a:ext uri="{FF2B5EF4-FFF2-40B4-BE49-F238E27FC236}">
                <a16:creationId xmlns:a16="http://schemas.microsoft.com/office/drawing/2014/main" id="{07C7B37E-A748-45E0-B316-52C1D003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4810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虚构规则</a:t>
            </a:r>
          </a:p>
        </p:txBody>
      </p:sp>
      <p:sp>
        <p:nvSpPr>
          <p:cNvPr id="13" name="拦截不存在的规则引用">
            <a:extLst xmlns:a="http://schemas.openxmlformats.org/drawingml/2006/main">
              <a:ext uri="{FF2B5EF4-FFF2-40B4-BE49-F238E27FC236}">
                <a16:creationId xmlns:a16="http://schemas.microsoft.com/office/drawing/2014/main" id="{2E53756A-1916-445F-BE56-4297F7EC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91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拦截不存在的规则引用</a:t>
            </a:r>
          </a:p>
        </p:txBody>
      </p:sp>
      <p:sp>
        <p:nvSpPr>
          <p:cNvPr id="14" name="RULE_NOT_FOUND">
            <a:extLst xmlns:a="http://schemas.openxmlformats.org/drawingml/2006/main">
              <a:ext uri="{FF2B5EF4-FFF2-40B4-BE49-F238E27FC236}">
                <a16:creationId xmlns:a16="http://schemas.microsoft.com/office/drawing/2014/main" id="{1A522276-F99F-4608-8DB8-8A842D67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66103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2100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RULE_NOT_FOUND</a:t>
            </a:r>
          </a:p>
        </p:txBody>
      </p:sp>
      <p:sp>
        <p:nvSpPr>
          <p:cNvPr id="15" name="模型超时">
            <a:extLst xmlns:a="http://schemas.openxmlformats.org/drawingml/2006/main">
              <a:ext uri="{FF2B5EF4-FFF2-40B4-BE49-F238E27FC236}">
                <a16:creationId xmlns:a16="http://schemas.microsoft.com/office/drawing/2014/main" id="{D81F4DC2-8932-47AC-BAFA-7EDE8DB3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84810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模型超时</a:t>
            </a:r>
          </a:p>
        </p:txBody>
      </p:sp>
      <p:sp>
        <p:nvSpPr>
          <p:cNvPr id="16" name="中断调用并启用降级文案">
            <a:extLst xmlns:a="http://schemas.openxmlformats.org/drawingml/2006/main">
              <a:ext uri="{FF2B5EF4-FFF2-40B4-BE49-F238E27FC236}">
                <a16:creationId xmlns:a16="http://schemas.microsoft.com/office/drawing/2014/main" id="{4F833790-6B17-46F8-A84B-94192585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191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中断调用并启用降级文案</a:t>
            </a:r>
          </a:p>
        </p:txBody>
      </p:sp>
      <p:sp>
        <p:nvSpPr>
          <p:cNvPr id="17" name="MODEL_TIMEOUT">
            <a:extLst xmlns:a="http://schemas.openxmlformats.org/drawingml/2006/main">
              <a:ext uri="{FF2B5EF4-FFF2-40B4-BE49-F238E27FC236}">
                <a16:creationId xmlns:a16="http://schemas.microsoft.com/office/drawing/2014/main" id="{48CEDE62-C6D2-46E2-8145-E2618D73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6103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2100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MODEL_TIMEOUT</a:t>
            </a:r>
          </a:p>
        </p:txBody>
      </p:sp>
      <p:sp>
        <p:nvSpPr>
          <p:cNvPr id="18" name="记录错误，使用确定性结果，交由人工继续处理">
            <a:extLst xmlns:a="http://schemas.openxmlformats.org/drawingml/2006/main">
              <a:ext uri="{FF2B5EF4-FFF2-40B4-BE49-F238E27FC236}">
                <a16:creationId xmlns:a16="http://schemas.microsoft.com/office/drawing/2014/main" id="{D1A4B9F8-BD7C-4111-BCDB-9E58D3BD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124825"/>
            <a:ext cx="1495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记录错误，使用确定性结果，交由人工继续处理</a:t>
            </a:r>
          </a:p>
        </p:txBody>
      </p:sp>
      <p:sp>
        <p:nvSpPr>
          <p:cNvPr id="19" name="三种注入故障均不改变正式事务状态">
            <a:extLst xmlns:a="http://schemas.openxmlformats.org/drawingml/2006/main">
              <a:ext uri="{FF2B5EF4-FFF2-40B4-BE49-F238E27FC236}">
                <a16:creationId xmlns:a16="http://schemas.microsoft.com/office/drawing/2014/main" id="{8FAB7A1B-C3D9-4F2E-9719-A73D112F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86850"/>
            <a:ext cx="1495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三种注入故障均不改变正式事务状态</a:t>
            </a:r>
          </a:p>
        </p:txBody>
      </p:sp>
      <p:sp>
        <p:nvSpPr>
          <p:cNvPr id="20" name="10">
            <a:extLst xmlns:a="http://schemas.openxmlformats.org/drawingml/2006/main">
              <a:ext uri="{FF2B5EF4-FFF2-40B4-BE49-F238E27FC236}">
                <a16:creationId xmlns:a16="http://schemas.microsoft.com/office/drawing/2014/main" id="{15FC1056-1EF5-4987-AB74-9F0604C6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3669641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6B6D7F4-0E0A-45A4-BDEF-767C0493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3554864" y="1028700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0" y="7235341"/>
                </a:moveTo>
                <a:lnTo>
                  <a:pt x="7109728" y="7235341"/>
                </a:lnTo>
                <a:lnTo>
                  <a:pt x="7109728" y="0"/>
                </a:lnTo>
                <a:lnTo>
                  <a:pt x="0" y="0"/>
                </a:lnTo>
                <a:lnTo>
                  <a:pt x="0" y="723534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8dad841016425a">
              <a:extLst>
                <a:ext uri="{96DAC541-7B7A-43D3-8B79-37D633B846F1}">
                  <asvg:svgBlip xmlns:asvg="http://schemas.microsoft.com/office/drawing/2016/SVG/main" r:embed="Rf4994f5900aa44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00B1B7B-D5AE-49DD-9D0D-B9E758E5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734716" y="1525829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7109727" y="7235342"/>
                </a:moveTo>
                <a:lnTo>
                  <a:pt x="0" y="7235342"/>
                </a:lnTo>
                <a:lnTo>
                  <a:pt x="0" y="0"/>
                </a:lnTo>
                <a:lnTo>
                  <a:pt x="7109727" y="0"/>
                </a:lnTo>
                <a:lnTo>
                  <a:pt x="7109727" y="72353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8dad841016425a">
              <a:extLst>
                <a:ext uri="{96DAC541-7B7A-43D3-8B79-37D633B846F1}">
                  <asvg:svgBlip xmlns:asvg="http://schemas.microsoft.com/office/drawing/2016/SVG/main" r:embed="Rf4994f5900aa44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测试与验证记录">
            <a:extLst xmlns:a="http://schemas.openxmlformats.org/drawingml/2006/main">
              <a:ext uri="{FF2B5EF4-FFF2-40B4-BE49-F238E27FC236}">
                <a16:creationId xmlns:a16="http://schemas.microsoft.com/office/drawing/2014/main" id="{3CA981D2-733A-46A8-881E-A9D1B0A6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2382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测试与验证记录</a:t>
            </a:r>
          </a:p>
        </p:txBody>
      </p:sp>
      <p:sp>
        <p:nvSpPr>
          <p:cNvPr id="10" name="78">
            <a:extLst xmlns:a="http://schemas.openxmlformats.org/drawingml/2006/main">
              <a:ext uri="{FF2B5EF4-FFF2-40B4-BE49-F238E27FC236}">
                <a16:creationId xmlns:a16="http://schemas.microsoft.com/office/drawing/2014/main" id="{1F8319E4-C376-4999-87D2-CB6F8CB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25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12825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78</a:t>
            </a:r>
          </a:p>
        </p:txBody>
      </p:sp>
      <p:sp>
        <p:nvSpPr>
          <p:cNvPr id="11" name="自动化测试用例">
            <a:extLst xmlns:a="http://schemas.openxmlformats.org/drawingml/2006/main">
              <a:ext uri="{FF2B5EF4-FFF2-40B4-BE49-F238E27FC236}">
                <a16:creationId xmlns:a16="http://schemas.microsoft.com/office/drawing/2014/main" id="{39428151-AB28-428B-B419-2ABCFF23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734050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自动化测试用例</a:t>
            </a:r>
          </a:p>
        </p:txBody>
      </p:sp>
      <p:sp>
        <p:nvSpPr>
          <p:cNvPr id="12" name="规则、状态、会话、版本">
            <a:extLst xmlns:a="http://schemas.openxmlformats.org/drawingml/2006/main">
              <a:ext uri="{FF2B5EF4-FFF2-40B4-BE49-F238E27FC236}">
                <a16:creationId xmlns:a16="http://schemas.microsoft.com/office/drawing/2014/main" id="{8533039D-7545-4434-B60F-5406B65C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8770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规则、状态、会话、版本</a:t>
            </a:r>
          </a:p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输出契约与故障处理</a:t>
            </a:r>
          </a:p>
        </p:txBody>
      </p:sp>
      <p:sp>
        <p:nvSpPr>
          <p:cNvPr id="13" name="9">
            <a:extLst xmlns:a="http://schemas.openxmlformats.org/drawingml/2006/main">
              <a:ext uri="{FF2B5EF4-FFF2-40B4-BE49-F238E27FC236}">
                <a16:creationId xmlns:a16="http://schemas.microsoft.com/office/drawing/2014/main" id="{92639EAC-A935-4311-A2C2-ACCAD8B6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90900"/>
            <a:ext cx="381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25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12825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9</a:t>
            </a:r>
          </a:p>
        </p:txBody>
      </p:sp>
      <p:sp>
        <p:nvSpPr>
          <p:cNvPr id="14" name="真实模型故障组合">
            <a:extLst xmlns:a="http://schemas.openxmlformats.org/drawingml/2006/main">
              <a:ext uri="{FF2B5EF4-FFF2-40B4-BE49-F238E27FC236}">
                <a16:creationId xmlns:a16="http://schemas.microsoft.com/office/drawing/2014/main" id="{61CB91B8-CBFE-4BB5-B59B-AC1BFE41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73405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真实模型故障组合</a:t>
            </a:r>
          </a:p>
        </p:txBody>
      </p:sp>
      <p:sp>
        <p:nvSpPr>
          <p:cNvPr id="15" name="3 类任务 × 3 种故障">
            <a:extLst xmlns:a="http://schemas.openxmlformats.org/drawingml/2006/main">
              <a:ext uri="{FF2B5EF4-FFF2-40B4-BE49-F238E27FC236}">
                <a16:creationId xmlns:a16="http://schemas.microsoft.com/office/drawing/2014/main" id="{E03DC5C8-2181-4F4C-8130-A22E23E2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87705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3 类任务 × 3 种故障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记录显示错误码均符合预期</a:t>
            </a:r>
          </a:p>
        </p:txBody>
      </p:sp>
      <p:sp>
        <p:nvSpPr>
          <p:cNvPr id="16" name="依据项目已执行测试记录；真实用户试点尚未完成">
            <a:extLst xmlns:a="http://schemas.openxmlformats.org/drawingml/2006/main">
              <a:ext uri="{FF2B5EF4-FFF2-40B4-BE49-F238E27FC236}">
                <a16:creationId xmlns:a16="http://schemas.microsoft.com/office/drawing/2014/main" id="{D39E76F9-2ACF-416D-ABCC-EB851765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依据项目已执行测试记录；真实用户试点尚未完成</a:t>
            </a:r>
          </a:p>
        </p:txBody>
      </p:sp>
      <p:sp>
        <p:nvSpPr>
          <p:cNvPr id="17" name="11">
            <a:extLst xmlns:a="http://schemas.openxmlformats.org/drawingml/2006/main">
              <a:ext uri="{FF2B5EF4-FFF2-40B4-BE49-F238E27FC236}">
                <a16:creationId xmlns:a16="http://schemas.microsoft.com/office/drawing/2014/main" id="{571378C7-4735-4DF4-BE7C-96F69445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0979742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项目创新与应用价值">
            <a:extLst xmlns:a="http://schemas.openxmlformats.org/drawingml/2006/main">
              <a:ext uri="{FF2B5EF4-FFF2-40B4-BE49-F238E27FC236}">
                <a16:creationId xmlns:a16="http://schemas.microsoft.com/office/drawing/2014/main" id="{272017F2-5459-4025-9784-D30FF266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38250"/>
            <a:ext cx="1438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项目创新与应用价值</a:t>
            </a:r>
          </a:p>
        </p:txBody>
      </p:sp>
      <p:sp>
        <p:nvSpPr>
          <p:cNvPr id="2" name="可核对的 AI 建议">
            <a:extLst xmlns:a="http://schemas.openxmlformats.org/drawingml/2006/main">
              <a:ext uri="{FF2B5EF4-FFF2-40B4-BE49-F238E27FC236}">
                <a16:creationId xmlns:a16="http://schemas.microsoft.com/office/drawing/2014/main" id="{6EFC68DE-9AF5-40FD-BECF-7F88553D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可核对的 AI 建议</a:t>
            </a:r>
          </a:p>
        </p:txBody>
      </p:sp>
      <p:sp>
        <p:nvSpPr>
          <p:cNvPr id="3" name="把申请事实、制度来源和规则结果放在一起，">
            <a:extLst xmlns:a="http://schemas.openxmlformats.org/drawingml/2006/main">
              <a:ext uri="{FF2B5EF4-FFF2-40B4-BE49-F238E27FC236}">
                <a16:creationId xmlns:a16="http://schemas.microsoft.com/office/drawing/2014/main" id="{8DA92909-351B-4B42-8CF9-A7A14FCE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57725"/>
            <a:ext cx="1428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把申请事实、制度来源和规则结果放在一起，</a:t>
            </a:r>
          </a:p>
          <a:p xmlns:a="http://schemas.openxmlformats.org/drawingml/2006/main">
            <a:pPr algn="l">
              <a:def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审核时可以沿引用返回依据。</a:t>
            </a:r>
          </a:p>
        </p:txBody>
      </p:sp>
      <p:sp>
        <p:nvSpPr>
          <p:cNvPr id="4" name="可复用的事务机制">
            <a:extLst xmlns:a="http://schemas.openxmlformats.org/drawingml/2006/main">
              <a:ext uri="{FF2B5EF4-FFF2-40B4-BE49-F238E27FC236}">
                <a16:creationId xmlns:a16="http://schemas.microsoft.com/office/drawing/2014/main" id="{708EB2BE-50A2-4528-995A-7DDF9D93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4845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可复用的事务机制</a:t>
            </a:r>
          </a:p>
        </p:txBody>
      </p:sp>
      <p:sp>
        <p:nvSpPr>
          <p:cNvPr id="5" name="保留权限、版本、状态和降级机制，">
            <a:extLst xmlns:a="http://schemas.openxmlformats.org/drawingml/2006/main">
              <a:ext uri="{FF2B5EF4-FFF2-40B4-BE49-F238E27FC236}">
                <a16:creationId xmlns:a16="http://schemas.microsoft.com/office/drawing/2014/main" id="{96BAE62A-5ADD-4560-A901-6313C56E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72400"/>
            <a:ext cx="1428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保留权限、版本、状态和降级机制，</a:t>
            </a:r>
          </a:p>
          <a:p xmlns:a="http://schemas.openxmlformats.org/drawingml/2006/main">
            <a:pPr algn="l">
              <a:def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后续可扩展至设备借用、访客和证明申请。</a:t>
            </a:r>
          </a:p>
        </p:txBody>
      </p:sp>
      <p:sp>
        <p:nvSpPr>
          <p:cNvPr id="6" name="12">
            <a:extLst xmlns:a="http://schemas.openxmlformats.org/drawingml/2006/main">
              <a:ext uri="{FF2B5EF4-FFF2-40B4-BE49-F238E27FC236}">
                <a16:creationId xmlns:a16="http://schemas.microsoft.com/office/drawing/2014/main" id="{08004A73-2516-40E2-8AE8-F4C9CCB2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0667640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5904093-FD22-460B-A8BD-A7FEB5D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78749" y="-1895416"/>
            <a:ext cx="7203182" cy="7330447"/>
          </a:xfrm>
          <a:custGeom xmlns:a="http://schemas.openxmlformats.org/drawingml/2006/main">
            <a:rect l="l" t="t" r="r" b="b"/>
            <a:pathLst>
              <a:path w="7203182" h="7330447">
                <a:moveTo>
                  <a:pt x="0" y="0"/>
                </a:moveTo>
                <a:lnTo>
                  <a:pt x="7203183" y="0"/>
                </a:lnTo>
                <a:lnTo>
                  <a:pt x="7203183" y="7330447"/>
                </a:lnTo>
                <a:lnTo>
                  <a:pt x="0" y="73304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d16bc69b0fe4040">
              <a:extLst>
                <a:ext uri="{96DAC541-7B7A-43D3-8B79-37D633B846F1}">
                  <asvg:svgBlip xmlns:asvg="http://schemas.microsoft.com/office/drawing/2016/SVG/main" r:embed="Rf30d3d9ff1af41e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校内试点与后续计划">
            <a:extLst xmlns:a="http://schemas.openxmlformats.org/drawingml/2006/main">
              <a:ext uri="{FF2B5EF4-FFF2-40B4-BE49-F238E27FC236}">
                <a16:creationId xmlns:a16="http://schemas.microsoft.com/office/drawing/2014/main" id="{8D44DB3E-1C13-476F-9C2F-1508BED6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62075"/>
            <a:ext cx="1390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校内试点与后续计划</a:t>
            </a:r>
          </a:p>
        </p:txBody>
      </p:sp>
      <p:sp>
        <p:nvSpPr>
          <p:cNvPr id="4" name="当前">
            <a:extLst xmlns:a="http://schemas.openxmlformats.org/drawingml/2006/main">
              <a:ext uri="{FF2B5EF4-FFF2-40B4-BE49-F238E27FC236}">
                <a16:creationId xmlns:a16="http://schemas.microsoft.com/office/drawing/2014/main" id="{68AAB5B5-3A36-4D16-B36E-6B77B489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5" name="场地申请演示">
            <a:extLst xmlns:a="http://schemas.openxmlformats.org/drawingml/2006/main">
              <a:ext uri="{FF2B5EF4-FFF2-40B4-BE49-F238E27FC236}">
                <a16:creationId xmlns:a16="http://schemas.microsoft.com/office/drawing/2014/main" id="{02C09F46-7DFF-47B9-8604-857FF935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813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场地申请演示</a:t>
            </a:r>
          </a:p>
        </p:txBody>
      </p:sp>
      <p:sp>
        <p:nvSpPr>
          <p:cNvPr id="6" name="产品、规则与故障演示已形成可运行样板">
            <a:extLst xmlns:a="http://schemas.openxmlformats.org/drawingml/2006/main">
              <a:ext uri="{FF2B5EF4-FFF2-40B4-BE49-F238E27FC236}">
                <a16:creationId xmlns:a16="http://schemas.microsoft.com/office/drawing/2014/main" id="{69F6B572-4FAE-4127-A462-5FD8D1B6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05275"/>
            <a:ext cx="1143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产品、规则与故障演示已形成可运行样板</a:t>
            </a:r>
          </a:p>
        </p:txBody>
      </p:sp>
      <p:sp>
        <p:nvSpPr>
          <p:cNvPr id="7" name="下一步">
            <a:extLst xmlns:a="http://schemas.openxmlformats.org/drawingml/2006/main">
              <a:ext uri="{FF2B5EF4-FFF2-40B4-BE49-F238E27FC236}">
                <a16:creationId xmlns:a16="http://schemas.microsoft.com/office/drawing/2014/main" id="{5FD4D06B-E3CD-40E7-B2E3-C7752FA3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8" name="小规模试用">
            <a:extLst xmlns:a="http://schemas.openxmlformats.org/drawingml/2006/main">
              <a:ext uri="{FF2B5EF4-FFF2-40B4-BE49-F238E27FC236}">
                <a16:creationId xmlns:a16="http://schemas.microsoft.com/office/drawing/2014/main" id="{C54905C1-8A62-4F08-A7B8-4D1190F2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01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小规模试用</a:t>
            </a:r>
          </a:p>
        </p:txBody>
      </p:sp>
      <p:sp>
        <p:nvSpPr>
          <p:cNvPr id="9" name="邀请 3–10 名用户，记录填表和审核时长">
            <a:extLst xmlns:a="http://schemas.openxmlformats.org/drawingml/2006/main">
              <a:ext uri="{FF2B5EF4-FFF2-40B4-BE49-F238E27FC236}">
                <a16:creationId xmlns:a16="http://schemas.microsoft.com/office/drawing/2014/main" id="{B5F133B4-25AB-463A-A58C-841067C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34025"/>
            <a:ext cx="1143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邀请 3–10 名用户，记录填表和审核时长</a:t>
            </a:r>
          </a:p>
        </p:txBody>
      </p:sp>
      <p:sp>
        <p:nvSpPr>
          <p:cNvPr id="10" name="校方授权后">
            <a:extLst xmlns:a="http://schemas.openxmlformats.org/drawingml/2006/main">
              <a:ext uri="{FF2B5EF4-FFF2-40B4-BE49-F238E27FC236}">
                <a16:creationId xmlns:a16="http://schemas.microsoft.com/office/drawing/2014/main" id="{275CA49B-351F-43F7-B3D9-1E6AD48A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388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校方授权后</a:t>
            </a:r>
          </a:p>
        </p:txBody>
      </p:sp>
      <p:sp>
        <p:nvSpPr>
          <p:cNvPr id="11" name="真实系统接入">
            <a:extLst xmlns:a="http://schemas.openxmlformats.org/drawingml/2006/main">
              <a:ext uri="{FF2B5EF4-FFF2-40B4-BE49-F238E27FC236}">
                <a16:creationId xmlns:a16="http://schemas.microsoft.com/office/drawing/2014/main" id="{014EDF24-C822-4A15-8639-00C78406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2388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真实系统接入</a:t>
            </a:r>
          </a:p>
        </p:txBody>
      </p:sp>
      <p:sp>
        <p:nvSpPr>
          <p:cNvPr id="12" name="对接统一身份认证、OA 和真实场地数据">
            <a:extLst xmlns:a="http://schemas.openxmlformats.org/drawingml/2006/main">
              <a:ext uri="{FF2B5EF4-FFF2-40B4-BE49-F238E27FC236}">
                <a16:creationId xmlns:a16="http://schemas.microsoft.com/office/drawing/2014/main" id="{84775949-27ED-42E7-86AF-C6750CA8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962775"/>
            <a:ext cx="1143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对接统一身份认证、OA 和真实场地数据</a:t>
            </a:r>
          </a:p>
        </p:txBody>
      </p:sp>
      <p:sp>
        <p:nvSpPr>
          <p:cNvPr id="13" name="后续">
            <a:extLst xmlns:a="http://schemas.openxmlformats.org/drawingml/2006/main">
              <a:ext uri="{FF2B5EF4-FFF2-40B4-BE49-F238E27FC236}">
                <a16:creationId xmlns:a16="http://schemas.microsoft.com/office/drawing/2014/main" id="{41DC6340-F555-4AEC-8C58-F380F96F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667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14" name="扩展其他事务">
            <a:extLst xmlns:a="http://schemas.openxmlformats.org/drawingml/2006/main">
              <a:ext uri="{FF2B5EF4-FFF2-40B4-BE49-F238E27FC236}">
                <a16:creationId xmlns:a16="http://schemas.microsoft.com/office/drawing/2014/main" id="{5976ECB6-BF5E-4CAC-8DBA-74B3D218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667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扩展其他事务</a:t>
            </a:r>
          </a:p>
        </p:txBody>
      </p:sp>
      <p:sp>
        <p:nvSpPr>
          <p:cNvPr id="15" name="按试点反馈推进设备借用、访客与证明申请">
            <a:extLst xmlns:a="http://schemas.openxmlformats.org/drawingml/2006/main">
              <a:ext uri="{FF2B5EF4-FFF2-40B4-BE49-F238E27FC236}">
                <a16:creationId xmlns:a16="http://schemas.microsoft.com/office/drawing/2014/main" id="{A5A19FB2-5657-4C5B-9741-7BDB88FB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391525"/>
            <a:ext cx="1143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按试点反馈推进设备借用、访客与证明申请</a:t>
            </a:r>
          </a:p>
        </p:txBody>
      </p:sp>
      <p:sp>
        <p:nvSpPr>
          <p:cNvPr id="16" name="13">
            <a:extLst xmlns:a="http://schemas.openxmlformats.org/drawingml/2006/main">
              <a:ext uri="{FF2B5EF4-FFF2-40B4-BE49-F238E27FC236}">
                <a16:creationId xmlns:a16="http://schemas.microsoft.com/office/drawing/2014/main" id="{09EBE9FA-43ED-4C3C-AA2D-C22EA5A9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02474894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962CF4B-5AAF-4D2A-B861-8456BAD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29" y="5999178"/>
            <a:ext cx="3259122" cy="3259122"/>
          </a:xfrm>
          <a:custGeom xmlns:a="http://schemas.openxmlformats.org/drawingml/2006/main">
            <a:rect l="l" t="t" r="r" b="b"/>
            <a:pathLst>
              <a:path w="3259122" h="3259122">
                <a:moveTo>
                  <a:pt x="0" y="0"/>
                </a:moveTo>
                <a:lnTo>
                  <a:pt x="3259122" y="0"/>
                </a:lnTo>
                <a:lnTo>
                  <a:pt x="3259122" y="3259122"/>
                </a:lnTo>
                <a:lnTo>
                  <a:pt x="0" y="325912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e66d23cbe5494a">
              <a:extLst>
                <a:ext uri="{96DAC541-7B7A-43D3-8B79-37D633B846F1}">
                  <asvg:svgBlip xmlns:asvg="http://schemas.microsoft.com/office/drawing/2016/SVG/main" r:embed="R3ff3989d22bb42f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6B615F2-4445-4E53-8259-A45D508D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02132" y="2653708"/>
            <a:ext cx="1969680" cy="1969680"/>
          </a:xfrm>
          <a:custGeom xmlns:a="http://schemas.openxmlformats.org/drawingml/2006/main">
            <a:rect l="l" t="t" r="r" b="b"/>
            <a:pathLst>
              <a:path w="1969680" h="1969680">
                <a:moveTo>
                  <a:pt x="0" y="0"/>
                </a:moveTo>
                <a:lnTo>
                  <a:pt x="1969680" y="0"/>
                </a:lnTo>
                <a:lnTo>
                  <a:pt x="1969680" y="1969680"/>
                </a:lnTo>
                <a:lnTo>
                  <a:pt x="0" y="19696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e66d23cbe5494a">
              <a:extLst>
                <a:ext uri="{96DAC541-7B7A-43D3-8B79-37D633B846F1}">
                  <asvg:svgBlip xmlns:asvg="http://schemas.microsoft.com/office/drawing/2016/SVG/main" r:embed="R3ff3989d22bb42f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33CD817-4907-4342-96D0-D79A5C1B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02132" y="5534771"/>
            <a:ext cx="6535258" cy="6650722"/>
          </a:xfrm>
          <a:custGeom xmlns:a="http://schemas.openxmlformats.org/drawingml/2006/main">
            <a:rect l="l" t="t" r="r" b="b"/>
            <a:pathLst>
              <a:path w="6535258" h="6650722">
                <a:moveTo>
                  <a:pt x="0" y="0"/>
                </a:moveTo>
                <a:lnTo>
                  <a:pt x="6535258" y="0"/>
                </a:lnTo>
                <a:lnTo>
                  <a:pt x="6535258" y="6650722"/>
                </a:lnTo>
                <a:lnTo>
                  <a:pt x="0" y="665072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430586f3f540f3">
              <a:extLst>
                <a:ext uri="{96DAC541-7B7A-43D3-8B79-37D633B846F1}">
                  <asvg:svgBlip xmlns:asvg="http://schemas.microsoft.com/office/drawing/2016/SVG/main" r:embed="R0270bdc9fa33464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C380806-A1F9-408F-88C5-1DD4B74E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966296" y="-2617198"/>
            <a:ext cx="6535258" cy="6650722"/>
          </a:xfrm>
          <a:custGeom xmlns:a="http://schemas.openxmlformats.org/drawingml/2006/main">
            <a:rect l="l" t="t" r="r" b="b"/>
            <a:pathLst>
              <a:path w="6535258" h="6650722">
                <a:moveTo>
                  <a:pt x="0" y="0"/>
                </a:moveTo>
                <a:lnTo>
                  <a:pt x="6535259" y="0"/>
                </a:lnTo>
                <a:lnTo>
                  <a:pt x="6535259" y="6650722"/>
                </a:lnTo>
                <a:lnTo>
                  <a:pt x="0" y="665072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430586f3f540f3">
              <a:extLst>
                <a:ext uri="{96DAC541-7B7A-43D3-8B79-37D633B846F1}">
                  <asvg:svgBlip xmlns:asvg="http://schemas.microsoft.com/office/drawing/2016/SVG/main" r:embed="R0270bdc9fa33464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A5E08A4-2539-4547-AA70-8D084CFB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6622" y="804470"/>
            <a:ext cx="448461" cy="448461"/>
          </a:xfrm>
          <a:custGeom xmlns:a="http://schemas.openxmlformats.org/drawingml/2006/main">
            <a:rect l="l" t="t" r="r" b="b"/>
            <a:pathLst>
              <a:path w="448461" h="448461">
                <a:moveTo>
                  <a:pt x="0" y="0"/>
                </a:moveTo>
                <a:lnTo>
                  <a:pt x="448461" y="0"/>
                </a:lnTo>
                <a:lnTo>
                  <a:pt x="448461" y="448460"/>
                </a:lnTo>
                <a:lnTo>
                  <a:pt x="0" y="448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e66d23cbe5494a">
              <a:extLst>
                <a:ext uri="{96DAC541-7B7A-43D3-8B79-37D633B846F1}">
                  <asvg:svgBlip xmlns:asvg="http://schemas.microsoft.com/office/drawing/2016/SVG/main" r:embed="R3ff3989d22bb42f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62724D7-7798-4C4E-A7A5-C6E3883A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65287" y="8635901"/>
            <a:ext cx="448461" cy="448461"/>
          </a:xfrm>
          <a:custGeom xmlns:a="http://schemas.openxmlformats.org/drawingml/2006/main">
            <a:rect l="l" t="t" r="r" b="b"/>
            <a:pathLst>
              <a:path w="448461" h="448461">
                <a:moveTo>
                  <a:pt x="0" y="0"/>
                </a:moveTo>
                <a:lnTo>
                  <a:pt x="448461" y="0"/>
                </a:lnTo>
                <a:lnTo>
                  <a:pt x="448461" y="448461"/>
                </a:lnTo>
                <a:lnTo>
                  <a:pt x="0" y="4484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e66d23cbe5494a">
              <a:extLst>
                <a:ext uri="{96DAC541-7B7A-43D3-8B79-37D633B846F1}">
                  <asvg:svgBlip xmlns:asvg="http://schemas.microsoft.com/office/drawing/2016/SVG/main" r:embed="R3ff3989d22bb42f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CampusOne">
            <a:extLst xmlns:a="http://schemas.openxmlformats.org/drawingml/2006/main">
              <a:ext uri="{FF2B5EF4-FFF2-40B4-BE49-F238E27FC236}">
                <a16:creationId xmlns:a16="http://schemas.microsoft.com/office/drawing/2014/main" id="{77F0A0DF-B4E3-4CE9-A396-D3FFB88E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85975"/>
            <a:ext cx="11049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825" b="0">
                <a:solidFill>
                  <a:srgbClr val="DDF4FC"/>
                </a:solidFill>
                <a:latin typeface="League Spartan"/>
                <a:ea typeface="League Spartan"/>
                <a:cs typeface="League Spartan"/>
              </a:defRPr>
            </a:pPr>
            <a:r>
              <a:rPr sz="9825" b="0">
                <a:solidFill>
                  <a:srgbClr val="DDF4FC"/>
                </a:solidFill>
                <a:latin typeface="League Spartan"/>
                <a:ea typeface="League Spartan"/>
                <a:cs typeface="League Spartan"/>
              </a:rPr>
              <a:t>CampusOne</a:t>
            </a:r>
          </a:p>
        </p:txBody>
      </p:sp>
      <p:sp>
        <p:nvSpPr>
          <p:cNvPr id="17" name="可信校园事务智能体">
            <a:extLst xmlns:a="http://schemas.openxmlformats.org/drawingml/2006/main">
              <a:ext uri="{FF2B5EF4-FFF2-40B4-BE49-F238E27FC236}">
                <a16:creationId xmlns:a16="http://schemas.microsoft.com/office/drawing/2014/main" id="{FC3D7BA4-E89A-4AE9-A2E5-9A75C31F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4337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可信校园事务智能体</a:t>
            </a:r>
          </a:p>
        </p:txBody>
      </p:sp>
      <p:sp>
        <p:nvSpPr>
          <p:cNvPr id="18" name="AI 协助申请与审核">
            <a:extLst xmlns:a="http://schemas.openxmlformats.org/drawingml/2006/main">
              <a:ext uri="{FF2B5EF4-FFF2-40B4-BE49-F238E27FC236}">
                <a16:creationId xmlns:a16="http://schemas.microsoft.com/office/drawing/2014/main" id="{25047B0E-7394-4DEB-9871-04E8EB48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53100"/>
            <a:ext cx="1104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AI 协助申请与审核</a:t>
            </a:r>
          </a:p>
          <a:p xmlns:a="http://schemas.openxmlformats.org/drawingml/2006/main">
            <a:pPr algn="ctr">
              <a:defRPr sz="31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程序校验规则，人工确认处理</a:t>
            </a:r>
          </a:p>
        </p:txBody>
      </p:sp>
      <p:sp>
        <p:nvSpPr>
          <p:cNvPr id="19" name="感谢聆听">
            <a:extLst xmlns:a="http://schemas.openxmlformats.org/drawingml/2006/main">
              <a:ext uri="{FF2B5EF4-FFF2-40B4-BE49-F238E27FC236}">
                <a16:creationId xmlns:a16="http://schemas.microsoft.com/office/drawing/2014/main" id="{3E434B2C-FF47-4662-A944-4C2CE552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06767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20" name="campusone-agentflow.atticus-59">
            <a:extLst xmlns:a="http://schemas.openxmlformats.org/drawingml/2006/main">
              <a:ext uri="{FF2B5EF4-FFF2-40B4-BE49-F238E27FC236}">
                <a16:creationId xmlns:a16="http://schemas.microsoft.com/office/drawing/2014/main" id="{0DF3D2D2-9500-482F-BF49-502DA653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105900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20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campusone-agentflow.atticus-5951.chatgpt.site</a:t>
            </a:r>
          </a:p>
        </p:txBody>
      </p:sp>
    </p:spTree>
    <p:extLst>
      <p:ext uri="{BB962C8B-B14F-4D97-AF65-F5344CB8AC3E}">
        <p14:creationId xmlns:p14="http://schemas.microsoft.com/office/powerpoint/2010/main" val="93443654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2026-09-05T18:39:29.8140000Z</dcterms:created>
  <dcterms:modified xsi:type="dcterms:W3CDTF">2026-09-05T18:39:29.8140000Z</dcterms:modified>
</coreProperties>
</file>