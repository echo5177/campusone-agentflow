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20 秒只讲定位，不展开技术栈：CampusOne 把场地申请做成一条可信流水线，AI 负责理解和解释，程序负责事实和规则，人工负责最终审批。
[Sources]
- 项目工作区《比赛简介和要求.md》
- docs/competition-scope.md
- competition.config.json（身份信息待补齐）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三个痛点分别对应三类角色，讲的时候一人一句，不要展开。落点是：这三件事都跟"解释"和"留痕"有关，恰好是通用表单系统不管的部分。
[Sources]
- docs/competition-scope.md（目标用户与痛点）
- 参赛团队拟定的场地申请业务场景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这页是整套设计的地基。强调一句：AI 的活儿一点没少，少的只是它的权限——它可以写字，但按不了"批准"。
[Sources]
- docs/architecture.md（信任边界）
- 《CampusOne 可信校园事务智能体设计方案书》第 4–8 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在"退回 / 修订 V2"处停顿，这是与普通审批系统拉开差距的地方：V1 连同当时的事实和退回理由一起冻结，V2 另起一版。
[Sources]
- docs/architecture.md（状态机与幂等键）
- lib/domain 状态机实现；tests/case-lifecycle.test.ts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这一页直接切浏览器，别停下来讲视觉。演示顺序按 docs/demo-script.md：填表 → AI 整理 → 规则预检 → 提交 → 切管理员退回 → V2 → 批准。
[Sources]
- http://localhost:3000 本地运行实拍
- https://campusone-agentflow.atticus-5951.chatgpt.site（私有演示站点）
- docs/demo-script.md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从上往下讲，一层一句。落点在两处：领域层才有正式写权限；身份来自服务端会话，请求体里写 role: "admin" 不会被采信。
[Sources]
- docs/architecture.md（分层与信任边界）
- 源码：app/api、lib、db；db/schema.ts 共 7 张表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用"能做 / 不能做"两句话带过每个任务，重点在第三行的限制。校验失败时最多再问一次，并把校验器的具体报错回传给模型；这次修复只在真实模型且没有注入故障时发生。
[Sources]
- app/api/agent/* 与 lib/agent 输出契约实现
- 设计方案书第 6 节；docs/architecture.md（Agent 输出契约）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 VENUE-CAP-001：把人数改到超过容量，页面同时给出规则 ID、场地核定容量和申请人数，评委可以自己复算。
[Sources]
- lib/domain/rules.ts（ruleCatalog，六条规则）
- docs/architecture.md 确定性规则集；docs/test-plan.md T01–T04、T16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两侧对照着讲：左边是版本，右边是事件。重点是退回之后 V1 连同当时的事实一起冻结，任何人都覆盖不掉。
[Sources]
- db/schema.ts：case_versions、case_events
- docs/architecture.md 状态机与幂等键；tests/case-lifecycle.test.ts T13、T14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现场选"引用不存在规则"，页面给出 RULE_NOT_FOUND、固定降级文案，以及一条没有变化的事务状态。这是全场最值得停 20 秒的地方。
[Sources]
- lib/agent/faults.ts（FABRICATED_RULE_ID = VENUE-RULE-999）
- docs/architecture.md 故障注入；docs/test-plan.md T06、T07、T10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主动交代没做的部分：真实用户试点还没做，所以全片没有任何效率提升百分比。评委通常吃这一套，因为它说明其余数字是可信的。
[Sources]
- npx vitest run：9 个文件 / 78 个用例全部通过
- npm audit：critical 0、high 0（moderate 4，均在开发依赖）
- docs/test-plan.md 已执行的真实模型验证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创新与价值分两段讲：前四条是已经做出来的机制，最后一行是还要靠试点数据回答的问题。
[Sources]
- 设计方案书第 14 节
- 赛事评分维度：创新性与应用价值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最后一行是提交前唯一的身份类必填项：只改 competition.config.json，再重建 Word 与 PPT，避免多份材料对不上。
[Sources]
- 设计方案书第 15 节；docs/delivery-checklist.md
- docs/architecture.md（演示身份与生产化路径）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收在一句话上：一个可用、可审计、不会越权的数字协作员工。留出提问时间。
[Sources]
- https://campusone-agentflow.atticus-5951.chatgpt.site（私有演示站点）
- https://github.com/echo5177/campusone-agentflow（Private）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微软雅黑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微软雅黑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微软雅黑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微软雅黑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微软雅黑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微软雅黑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微软雅黑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微软雅黑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微软雅黑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微软雅黑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714232" y="1737360"/>
            <a:ext cx="1865376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8714232" y="1737360"/>
            <a:ext cx="1865376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8714232" y="1737360"/>
            <a:ext cx="1865376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 rot="8100000">
            <a:off x="8714232" y="1737360"/>
            <a:ext cx="1865376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17352" y="5068062"/>
            <a:ext cx="950976" cy="141732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10817352" y="5068062"/>
            <a:ext cx="950976" cy="141732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1" name="Shape 19"/>
          <p:cNvSpPr/>
          <p:nvPr/>
        </p:nvSpPr>
        <p:spPr>
          <a:xfrm rot="5400000">
            <a:off x="10817352" y="5068062"/>
            <a:ext cx="950976" cy="141732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2" name="Shape 20"/>
          <p:cNvSpPr/>
          <p:nvPr/>
        </p:nvSpPr>
        <p:spPr>
          <a:xfrm rot="8100000">
            <a:off x="10817352" y="5068062"/>
            <a:ext cx="950976" cy="141732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969264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090909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9692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教育管理应用创新赛 · 初赛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1700784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200" b="1" spc="-150" kern="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CampusOne</a:t>
            </a:r>
            <a:endParaRPr lang="en-US" sz="82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2889504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可信校园事务智能体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7490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一名会解释、会整理，但不越权审批的数字协作员工。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13232" y="4407408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40740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规则优先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029968" y="4407408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29968" y="440740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证据可追溯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29584" y="4407408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9584" y="440740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人工最终确认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60533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[待填写参赛单位]   ·   [待填写队长] / [待填写成员]   ·   [待填写指导教师]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WHY NOW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76809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流程搬上了线，责任没跟上来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学生看不懂规则，审核人反复核对，管理者查不到过程。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881360" y="875538"/>
            <a:ext cx="768096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10881360" y="875538"/>
            <a:ext cx="768096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rot="5400000">
            <a:off x="10881360" y="875538"/>
            <a:ext cx="768096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 rot="8100000">
            <a:off x="10881360" y="875538"/>
            <a:ext cx="768096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2395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学生申请人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27249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「我到底还缺什么？」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3310128"/>
            <a:ext cx="3127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规则分散在好几份文件里；提交之后只看得到状态，看不到原因和下一步。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315968" y="2395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行政审核人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315968" y="27249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「为什么又要重核一遍？」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4315968" y="3310128"/>
            <a:ext cx="3127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在表单、材料和规则之间来回切换；同样的退回意见每次都要重写。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918704" y="2395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管理者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918704" y="27249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「这件事怎么复盘？」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7918704" y="3310128"/>
            <a:ext cx="3127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版本、操作者、命中的规则和模型运行，都没有留下痕迹。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高频 · 规则密集 · 多角色 · 需要问责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11887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审批权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始终留在</a:t>
            </a:r>
            <a:endParaRPr lang="en-US" sz="46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人手里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8587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把每一段工作交给最擅长、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也最担得起责任的一方。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" y="552297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603504" y="552297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rot="5400000">
            <a:off x="603504" y="552297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 rot="8100000">
            <a:off x="603504" y="552297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32120" y="1170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01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1207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AI 理解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166420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整理申请说明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生成审核摘要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改写已经定下的退回原因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02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7797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程序判定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327648" y="323697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校验字段、时间、容量与冲突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控制权限和状态机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核对模型引用的规则与证据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4315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03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43525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人工确认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327648" y="480974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采纳或忽略 AI 建议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判断软性风险</a:t>
            </a:r>
            <a:endParaRPr lang="en-US" sz="13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退回、批准、办结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6144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模型可以换，责任边界不动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USER JOURNEY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76809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一条带退回的完整事务链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每一步都留下角色、状态、版本和事件。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108960"/>
            <a:ext cx="9889236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" y="2884932"/>
            <a:ext cx="448056" cy="448056"/>
          </a:xfrm>
          <a:prstGeom prst="ellipse">
            <a:avLst/>
          </a:prstGeom>
          <a:solidFill>
            <a:srgbClr val="090909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01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64592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填表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学生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11680" y="2884932"/>
            <a:ext cx="448056" cy="448056"/>
          </a:xfrm>
          <a:prstGeom prst="ellipse">
            <a:avLst/>
          </a:prstGeom>
          <a:solidFill>
            <a:srgbClr val="090909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11680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02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577340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预检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77340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程序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24428" y="2884932"/>
            <a:ext cx="448056" cy="448056"/>
          </a:xfrm>
          <a:prstGeom prst="ellipse">
            <a:avLst/>
          </a:prstGeom>
          <a:solidFill>
            <a:srgbClr val="090909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4428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03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990088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提交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990088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学生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37176" y="2884932"/>
            <a:ext cx="448056" cy="448056"/>
          </a:xfrm>
          <a:prstGeom prst="ellipse">
            <a:avLst/>
          </a:prstGeom>
          <a:solidFill>
            <a:srgbClr val="090909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37176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04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402836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审核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402836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审核人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49924" y="2884932"/>
            <a:ext cx="448056" cy="448056"/>
          </a:xfrm>
          <a:prstGeom prst="ellipse">
            <a:avLst/>
          </a:prstGeom>
          <a:solidFill>
            <a:srgbClr val="DAFFFB"/>
          </a:solidFill>
          <a:ln w="12700">
            <a:solidFill>
              <a:srgbClr val="DAFF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49924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909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05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815584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退回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815584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审核人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662672" y="2884932"/>
            <a:ext cx="448056" cy="448056"/>
          </a:xfrm>
          <a:prstGeom prst="ellipse">
            <a:avLst/>
          </a:prstGeom>
          <a:solidFill>
            <a:srgbClr val="DAFFFB"/>
          </a:solidFill>
          <a:ln w="12700">
            <a:solidFill>
              <a:srgbClr val="DAFFF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62672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909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06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228332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修订 V2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228332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学生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075420" y="2884932"/>
            <a:ext cx="448056" cy="448056"/>
          </a:xfrm>
          <a:prstGeom prst="ellipse">
            <a:avLst/>
          </a:prstGeom>
          <a:solidFill>
            <a:srgbClr val="090909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075420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07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641080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批准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641080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审核人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488168" y="2884932"/>
            <a:ext cx="448056" cy="448056"/>
          </a:xfrm>
          <a:prstGeom prst="ellipse">
            <a:avLst/>
          </a:prstGeom>
          <a:solidFill>
            <a:srgbClr val="090909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488168" y="288493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08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10053828" y="351129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办结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0053828" y="38221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审核人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713232" y="48280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C4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draft → submitted → under_review → returned → draft (V2) → under_review → approved → completed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3232" y="523036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每次写操作都带上操作者、当前版本和幂等键；退回之后的修改必须生成新版本，旧版本不可覆盖。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第 5、6 步是这条链的重点：退回之后不覆盖，另起一版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932688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打开链接</a:t>
            </a:r>
            <a:endParaRPr lang="en-US" sz="4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就能跑完</a:t>
            </a:r>
            <a:endParaRPr lang="en-US" sz="44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整条流程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310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固定演示数据，一键重置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" y="3694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右上角切换申请人 / 管理员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规则、知识与已占用时段都摆在页面上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" y="4462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现场注入模型故障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51389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每位访问者由会话派生出独立案件，评委同时打开互不干扰。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31536" y="1188720"/>
            <a:ext cx="6291072" cy="3849624"/>
          </a:xfrm>
          <a:prstGeom prst="roundRect">
            <a:avLst>
              <a:gd name="adj" fmla="val 2375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pic>
        <p:nvPicPr>
          <p:cNvPr id="28" name="Image 0" descr="C:\Users\echo\AppData\Local\Temp\claude\E--Projects-SEA-CICSIC-------------\07eeab75-1f79-486b-89e7-1cbffe840293\scratchpad\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261872"/>
            <a:ext cx="6144768" cy="370332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431536" y="5193792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本地运行实拍 · localhost:3000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现场可证明：正常闭环 / 退回修订 / 非法模型输出被拒收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76809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业务控制面包住模型能力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模型只在受限任务和结构化输出里工作。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" y="2157984"/>
            <a:ext cx="1078992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" y="215798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交互层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215798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学生申请 · 审核台 · 事务时间轴 · 场地时段 · 知识库 · AI 运行证据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" y="2816352"/>
            <a:ext cx="10789920" cy="530352"/>
          </a:xfrm>
          <a:prstGeom prst="rect">
            <a:avLst/>
          </a:prstGeom>
          <a:solidFill>
            <a:srgbClr val="1B2A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9264" y="281635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领域层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281635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表单 Schema · 规则引擎 · 状态机 · 版本与事件 · 权限 · 校园时钟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" y="3474720"/>
            <a:ext cx="1078992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" y="34747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Agent 层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47472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任务模板 · 最小上下文 · 输出解析 · 证据校验 · 一次修复 · 降级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" y="4133088"/>
            <a:ext cx="1078992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" y="413308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知识层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413308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场地规则 · 申请指南 · 设备说明 · 开放时间，检索结果带来源片段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" y="4791456"/>
            <a:ext cx="10789920" cy="5303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" y="479145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479145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D1 / SQLite · 7 张表 · 事件与 AI 运行全部留痕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557784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身份由服务端会话决定 —— </a:t>
            </a:r>
            <a:pPr indent="0" marL="0"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业务接口不读请求体里的 role，申请人改写请求也批不了自己的申请；模型密钥只存在于服务端环境变量。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只有领域层握有正式写权限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AGENT CONTRACTS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932688"/>
            <a:ext cx="3346704" cy="3017520"/>
          </a:xfrm>
          <a:prstGeom prst="roundRect">
            <a:avLst>
              <a:gd name="adj" fmla="val 3636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1207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C7C7C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FORM_ASSIST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把申请说清楚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202996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入：已填字段 + 命中的指南片段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256032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出：润色建议、缺项提示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3127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人工确认后才写入；人数、日期和设备一个字都不改。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15968" y="932688"/>
            <a:ext cx="3346704" cy="3017520"/>
          </a:xfrm>
          <a:prstGeom prst="roundRect">
            <a:avLst>
              <a:gd name="adj" fmla="val 3636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90288" y="1207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C7C7C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REVIEW_BRIEF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把证据摆整齐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90288" y="202996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入：已验证事实 + 规则结果 + 证据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256032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出：摘要、通过与失败项、人工判断项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3127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不得发明规则，不得批准。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18704" y="932688"/>
            <a:ext cx="3346704" cy="3017520"/>
          </a:xfrm>
          <a:prstGeom prst="roundRect">
            <a:avLst>
              <a:gd name="adj" fmla="val 3636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93024" y="12070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7C7C7C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RETURN_MESSAGE_DRAFT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93024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把原因讲明白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3024" y="202996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入：程序已经确定的退回原因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256032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出：友好说明和修改步骤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193024" y="312724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不得新增理由，不得自动发送。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224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严格 JSON  →  Schema  →  任务类型  →  规则 ID  →  证据 ID  →  数字与日期  →  降级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460857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输出契约由校验它的那份 Zod Schema 直接生成，告诉模型的形状和校验要求的形状不会走样。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760720" y="4974336"/>
            <a:ext cx="5742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三个窄任务</a:t>
            </a:r>
            <a:endParaRPr lang="en-US" sz="4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一层安全外壳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694944" y="5701284"/>
            <a:ext cx="548640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 rot="2700000">
            <a:off x="694944" y="5701284"/>
            <a:ext cx="548640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 rot="5400000">
            <a:off x="694944" y="5701284"/>
            <a:ext cx="548640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 rot="8100000">
            <a:off x="694944" y="5701284"/>
            <a:ext cx="548640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481328" y="55046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清楚的契约，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比高权限自治更适合正式校园事务。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DETERMINISTIC RULES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969264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能算出来的判断</a:t>
            </a:r>
            <a:endParaRPr lang="en-US" sz="3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不交给大模型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6151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模型负责解释，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程序负责放行。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" y="4782312"/>
            <a:ext cx="841248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621792" y="4782312"/>
            <a:ext cx="841248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 rot="5400000">
            <a:off x="621792" y="4782312"/>
            <a:ext cx="841248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 rot="8100000">
            <a:off x="621792" y="4782312"/>
            <a:ext cx="841248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449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六条规则各自绑定制度依据，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失败时同时返回规则 ID 与事实。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1060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VENUE-REQ-001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1335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必填字段完整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19786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逐项列出缺项名称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VENUE-TIME-001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2121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结束时间晚于开始时间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198424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申请的起止时间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26334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VENUE-CAP-001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2907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人数为正整数且不超过容量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277063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申请人数 / 核定容量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532120" y="3419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VENUE-SLOT-001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3694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与已占用时段无重叠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732520" y="3557016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冲突活动名称与时段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532120" y="42062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VENUE-EQP-001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4480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设备需求可被场地满足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8732520" y="434340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场地设备清单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532120" y="4992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VENUE-HOUR-001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5266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在开放时间内且不跨日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732520" y="5129784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场地开放时段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6144768"/>
            <a:ext cx="5971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规则表、Agent 输出白名单与知识检索共用同一份 ruleCatalog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76809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退回一次，就多一个版本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旧版本只读保留，状态变化以事件追加。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版本记录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2615184"/>
            <a:ext cx="4617720" cy="1133856"/>
          </a:xfrm>
          <a:prstGeom prst="roundRect">
            <a:avLst>
              <a:gd name="adj" fmla="val 9677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" y="27614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7C7C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V1 · RETURNED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" y="30358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申请人数 120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34015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原始事实与退回理由一并冻结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" y="4078224"/>
            <a:ext cx="4617720" cy="1133856"/>
          </a:xfrm>
          <a:prstGeom prst="roundRect">
            <a:avLst>
              <a:gd name="adj" fmla="val 9677"/>
            </a:avLst>
          </a:prstGeom>
          <a:solidFill>
            <a:srgbClr val="090909">
              <a:alpha val="0"/>
            </a:srgbClr>
          </a:solidFill>
          <a:ln w="12700">
            <a:solidFill>
              <a:srgbClr val="4E6E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4224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V2 · APPROVED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" y="44988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申请人数 80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" y="4864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修改后重新提交并获批准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38039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870448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事件时间轴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70448" y="2715768"/>
            <a:ext cx="118872" cy="118872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26480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创建申请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17536" y="26517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05088" y="2715768"/>
            <a:ext cx="118872" cy="118872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61120" y="26334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AI 表单建议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552176" y="26517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70448" y="3319272"/>
            <a:ext cx="118872" cy="118872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26480" y="32369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规则预检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717536" y="32552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程序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05088" y="3319272"/>
            <a:ext cx="118872" cy="118872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961120" y="323697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提交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552176" y="32552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70448" y="3922776"/>
            <a:ext cx="118872" cy="118872"/>
          </a:xfrm>
          <a:prstGeom prst="ellipse">
            <a:avLst/>
          </a:prstGeom>
          <a:solidFill>
            <a:srgbClr val="4E4E4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126480" y="3840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开始审核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717536" y="38587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705088" y="3922776"/>
            <a:ext cx="118872" cy="118872"/>
          </a:xfrm>
          <a:prstGeom prst="ellipse">
            <a:avLst/>
          </a:prstGeom>
          <a:solidFill>
            <a:srgbClr val="DAFFF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961120" y="3840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退回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552176" y="38587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70448" y="4526280"/>
            <a:ext cx="118872" cy="118872"/>
          </a:xfrm>
          <a:prstGeom prst="ellipse">
            <a:avLst/>
          </a:prstGeom>
          <a:solidFill>
            <a:srgbClr val="DAFFF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126480" y="44439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创建 V2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717536" y="44622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705088" y="4526280"/>
            <a:ext cx="118872" cy="118872"/>
          </a:xfrm>
          <a:prstGeom prst="ellipse">
            <a:avLst/>
          </a:prstGeom>
          <a:solidFill>
            <a:srgbClr val="DAFFFB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961120" y="44439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重新提交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0552176" y="44622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申请人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70448" y="5129784"/>
            <a:ext cx="118872" cy="118872"/>
          </a:xfrm>
          <a:prstGeom prst="ellipse">
            <a:avLst/>
          </a:prstGeom>
          <a:solidFill>
            <a:srgbClr val="DAFFFB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126480" y="5047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批准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7717536" y="50657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705088" y="5129784"/>
            <a:ext cx="118872" cy="118872"/>
          </a:xfrm>
          <a:prstGeom prst="ellipse">
            <a:avLst/>
          </a:prstGeom>
          <a:solidFill>
            <a:srgbClr val="DAFFFB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961120" y="5047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办结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10552176" y="50657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713232" y="57058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幂等键由服务端从（案件、版本、原状态、目标状态）推导，重复点击或重试会合并成一次事件。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事件是追加出来的证据，不依赖模型生成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FAIL SAFE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76809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当场把模型弄坏，流程照常走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错误会被看见、被记录，但改不动事务状态。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INVALID_JSON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2871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模型返回自然语言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33101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注入方式  ·  真实调用之后替换响应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803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结构解析拒收，改用固定降级文案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15968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RULE_NOT_FOUND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15968" y="2871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引用不存在的规则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315968" y="33101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注入方式  ·  注入 VENUE-RULE-999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315968" y="3803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证据白名单拒收，事务状态不变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18704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FFFB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MODEL_TIMEOUT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918704" y="2871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模型超时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918704" y="33101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注入方式  ·  收缩真实请求预算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918704" y="3803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不重试，业务继续；实测约 614ms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" y="4791456"/>
            <a:ext cx="10789920" cy="7863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" y="479145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模型出错，事务状态不动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4791456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记录 AI 运行  →  返回明确错误码  →  启用确定性降级  →  人工继续处理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58521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三种故障独立于模型模式，真实模型下同样生效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61813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超时故障收缩的是真实请求预算，所以证据面板里记的延迟仍然是实测值。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96926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78 / 78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1024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单元与集成用例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1335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9 个测试文件全部通过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21396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21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测试场景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2505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T01–T21：正常、边界、权限、注入、失败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3101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9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真实模型组合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三类任务 × 三种故障，错误码全部符合预期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535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高危依赖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4846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npm audit：Critical 与 High 均为 0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1005840"/>
            <a:ext cx="39136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已经跑</a:t>
            </a:r>
            <a:endParaRPr lang="en-US" sz="4600" dirty="0"/>
          </a:p>
          <a:p>
            <a:pPr algn="r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出来的</a:t>
            </a:r>
            <a:endParaRPr lang="en-US" sz="4600" dirty="0"/>
          </a:p>
          <a:p>
            <a:pPr algn="r"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数字</a:t>
            </a:r>
            <a:endParaRPr lang="en-US" sz="46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3401568"/>
            <a:ext cx="3913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工程测试、真实模型实测与依赖审计</a:t>
            </a:r>
            <a:endParaRPr lang="en-US" sz="135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共同构成证据。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224528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真实模型实测：DeepSeek deepseek-chat</a:t>
            </a:r>
            <a:endParaRPr lang="en-US" sz="1200" dirty="0"/>
          </a:p>
          <a:p>
            <a:pPr algn="r"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form_assist 连续 6 次通过校验，耗时 1200–1400ms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789920" y="534009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 rot="2700000">
            <a:off x="10789920" y="534009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 rot="5400000">
            <a:off x="10789920" y="534009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 rot="8100000">
            <a:off x="10789920" y="5340096"/>
            <a:ext cx="7315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真实用户试点尚未开始 —— 先组织 ≥3 人并保留原始记录，在那之前不写效率提升比例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INNOVATION &amp; VALUE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76809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把模型放进一套能问责的流程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每个结论都可以复算，每个高风险动作都可以拦截。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2395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双控制面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444752" y="285292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语言理解与业务决策解耦，换掉模型不动业务代码。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2395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004304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证据化 Agent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85292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规则、知识、事实与版本共用一套引用，评委能自己复算。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0965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故障可当场演示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1444752" y="45537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非法 JSON、虚构规则与超时，在真实模型下同样生效。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40965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004304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跨场景可复制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5537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5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同一套控制面可以迁到设备借用、访客登记与证明申请。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价值用真实指标验证：填表时长 / 首次通过率 / 退回次数 / 审核时长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81360" y="6199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2062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76809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从可信样板走到校内试点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159105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先验证，再接入；先治理，再扩展。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23042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S0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初赛样板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336499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产品 · 测试 · 部署</a:t>
            </a:r>
            <a:endParaRPr lang="en-US" sz="13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路演材料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" y="4352544"/>
            <a:ext cx="905256" cy="347472"/>
          </a:xfrm>
          <a:prstGeom prst="roundRect">
            <a:avLst>
              <a:gd name="adj" fmla="val 50000"/>
            </a:avLst>
          </a:prstGeom>
          <a:solidFill>
            <a:srgbClr val="DAFFFB"/>
          </a:solidFill>
          <a:ln w="12700">
            <a:solidFill>
              <a:srgbClr val="DAFF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352544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已完成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23042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S1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小规模试点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36499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3–10 名用户 · 指标基线</a:t>
            </a:r>
            <a:endParaRPr lang="en-US" sz="13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规则校对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4352544"/>
            <a:ext cx="905256" cy="347472"/>
          </a:xfrm>
          <a:prstGeom prst="roundRect">
            <a:avLst>
              <a:gd name="adj" fmla="val 50000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4352544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下一步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23042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S2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真实系统接入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336499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统一身份 / OA / 场地数据</a:t>
            </a:r>
            <a:endParaRPr lang="en-US" sz="13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合规评审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36208" y="4352544"/>
            <a:ext cx="1289304" cy="347472"/>
          </a:xfrm>
          <a:prstGeom prst="roundRect">
            <a:avLst>
              <a:gd name="adj" fmla="val 50000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36208" y="4352544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需校方授权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997696" y="23042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3F3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S3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8997696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复制新场景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8997696" y="336499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设备借用 · 访客登记</a:t>
            </a:r>
            <a:endParaRPr lang="en-US" sz="13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证明申请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997696" y="4352544"/>
            <a:ext cx="713232" cy="347472"/>
          </a:xfrm>
          <a:prstGeom prst="roundRect">
            <a:avLst>
              <a:gd name="adj" fmla="val 50000"/>
            </a:avLst>
          </a:prstGeom>
          <a:solidFill>
            <a:srgbClr val="090909">
              <a:alpha val="0"/>
            </a:srgbClr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97696" y="435254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中期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521208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S2 落地时，演示专用的身份切换入口 /api/demo/role 会被删除，由校园统一身份认证写入同一个会话；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它之后的状态机、权限判定与审计写入完全不变。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61447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团队信息待补：参赛单位 / 队长与成员 / 指导教师 / 联系邮箱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40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Shape 1"/>
          <p:cNvSpPr/>
          <p:nvPr/>
        </p:nvSpPr>
        <p:spPr>
          <a:xfrm>
            <a:off x="2559131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396886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5378592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Shape 4"/>
          <p:cNvSpPr/>
          <p:nvPr/>
        </p:nvSpPr>
        <p:spPr>
          <a:xfrm>
            <a:off x="678832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Shape 5"/>
          <p:cNvSpPr/>
          <p:nvPr/>
        </p:nvSpPr>
        <p:spPr>
          <a:xfrm>
            <a:off x="8198053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960778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11017514" y="0"/>
            <a:ext cx="18288" cy="6858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29844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708178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11790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527639"/>
            <a:ext cx="12191695" cy="18288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06840" y="1943100"/>
            <a:ext cx="19202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9006840" y="1943100"/>
            <a:ext cx="19202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9006840" y="1943100"/>
            <a:ext cx="19202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 rot="8100000">
            <a:off x="9006840" y="1943100"/>
            <a:ext cx="192024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36808" y="4139946"/>
            <a:ext cx="877824" cy="132588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11036808" y="4139946"/>
            <a:ext cx="877824" cy="132588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1" name="Shape 19"/>
          <p:cNvSpPr/>
          <p:nvPr/>
        </p:nvSpPr>
        <p:spPr>
          <a:xfrm rot="5400000">
            <a:off x="11036808" y="4139946"/>
            <a:ext cx="877824" cy="132588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2" name="Shape 20"/>
          <p:cNvSpPr/>
          <p:nvPr/>
        </p:nvSpPr>
        <p:spPr>
          <a:xfrm rot="8100000">
            <a:off x="11036808" y="4139946"/>
            <a:ext cx="877824" cy="132588"/>
          </a:xfrm>
          <a:prstGeom prst="rect">
            <a:avLst/>
          </a:prstGeom>
          <a:solidFill>
            <a:srgbClr val="DAFF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2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CAMPUSONE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" y="1627632"/>
            <a:ext cx="8001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让校园智能体真正进入业务，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又始终留在可控范围内。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34015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AI 理解  ·  程序判定  ·  人工确认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38770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C4C4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可运行  ·  可审计  ·  可降级  ·  可复制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5138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7C7C7C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私有演示站点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54315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微软雅黑" pitchFamily="34" charset="-122"/>
                <a:cs typeface="Consolas" pitchFamily="34" charset="-120"/>
              </a:rPr>
              <a:t>campusone-agentflow.atticus-5951.chatgpt.site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543153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20" kern="0" dirty="0">
                <a:solidFill>
                  <a:srgbClr val="DAFFFB"/>
                </a:solidFill>
                <a:latin typeface="Segoe UI" pitchFamily="34" charset="0"/>
                <a:ea typeface="微软雅黑" pitchFamily="34" charset="-122"/>
                <a:cs typeface="Segoe U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CampusOne 项目简介与路演答辩</dc:title>
  <dc:subject>PptxGenJS Presentation</dc:subject>
  <dc:creator>CampusOne</dc:creator>
  <cp:lastModifiedBy>CampusOne</cp:lastModifiedBy>
  <cp:revision>1</cp:revision>
  <dcterms:created xsi:type="dcterms:W3CDTF">2026-09-05T19:02:38Z</dcterms:created>
  <dcterms:modified xsi:type="dcterms:W3CDTF">2026-09-05T19:02:38Z</dcterms:modified>
</cp:coreProperties>
</file>