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6b344ec8b84f47" /><Relationship Type="http://schemas.openxmlformats.org/officeDocument/2006/relationships/extended-properties" Target="/docProps/app.xml" Id="R55e73ef3dc2c42c8" /><Relationship Type="http://schemas.openxmlformats.org/officeDocument/2006/relationships/officeDocument" Target="/ppt/presentation.xml" Id="R01da76d4abc54fe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8197b88b060498e"/>
  </p:sldMasterIdLst>
  <p:notesMasterIdLst>
    <p:notesMasterId xmlns:r="http://schemas.openxmlformats.org/officeDocument/2006/relationships" r:id="R9c82f0e9e03b448c"/>
  </p:notesMasterIdLst>
  <p:sldIdLst>
    <p:sldId xmlns:r="http://schemas.openxmlformats.org/officeDocument/2006/relationships" id="256" r:id="R6a964e1799c2445b"/>
    <p:sldId xmlns:r="http://schemas.openxmlformats.org/officeDocument/2006/relationships" id="257" r:id="Rc94732038e004b16"/>
    <p:sldId xmlns:r="http://schemas.openxmlformats.org/officeDocument/2006/relationships" id="258" r:id="R4bcbb817844e42bb"/>
    <p:sldId xmlns:r="http://schemas.openxmlformats.org/officeDocument/2006/relationships" id="259" r:id="R419b69ea0ada4bfa"/>
    <p:sldId xmlns:r="http://schemas.openxmlformats.org/officeDocument/2006/relationships" id="260" r:id="Rf45ca20d4fbc4ad4"/>
    <p:sldId xmlns:r="http://schemas.openxmlformats.org/officeDocument/2006/relationships" id="261" r:id="Rdd4d2fb253014f7c"/>
    <p:sldId xmlns:r="http://schemas.openxmlformats.org/officeDocument/2006/relationships" id="262" r:id="R4193535ae9c34b12"/>
    <p:sldId xmlns:r="http://schemas.openxmlformats.org/officeDocument/2006/relationships" id="263" r:id="R9175708db4d243d8"/>
    <p:sldId xmlns:r="http://schemas.openxmlformats.org/officeDocument/2006/relationships" id="264" r:id="Rc73b03119e744457"/>
    <p:sldId xmlns:r="http://schemas.openxmlformats.org/officeDocument/2006/relationships" id="265" r:id="Re498e113542c4de6"/>
    <p:sldId xmlns:r="http://schemas.openxmlformats.org/officeDocument/2006/relationships" id="266" r:id="Rb969bf782a12495d"/>
    <p:sldId xmlns:r="http://schemas.openxmlformats.org/officeDocument/2006/relationships" id="267" r:id="R6484fd4cacc545c4"/>
    <p:sldId xmlns:r="http://schemas.openxmlformats.org/officeDocument/2006/relationships" id="268" r:id="R78db1fce4adb407d"/>
    <p:sldId xmlns:r="http://schemas.openxmlformats.org/officeDocument/2006/relationships" id="269" r:id="R8745caeb388f41af"/>
    <p:sldId xmlns:r="http://schemas.openxmlformats.org/officeDocument/2006/relationships" id="270" r:id="Rec1271dac43d45e4"/>
    <p:sldId xmlns:r="http://schemas.openxmlformats.org/officeDocument/2006/relationships" id="271" r:id="Ra2a9b76f79954862"/>
  </p:sldIdLst>
  <p:sldSz cx="18288000" cy="10287000"/>
  <p:notesSz cx="6858000" cy="9144000"/>
  <p:embeddedFontLst>
    <p:embeddedFont>
      <p:font typeface="League Spartan"/>
      <p:regular xmlns:r="http://schemas.openxmlformats.org/officeDocument/2006/relationships" r:id="R79545d97a8c946b7"/>
    </p:embeddedFont>
    <p:embeddedFont>
      <p:font typeface="Poppins Bold"/>
      <p:regular xmlns:r="http://schemas.openxmlformats.org/officeDocument/2006/relationships" r:id="Ra20ee793033d4727"/>
    </p:embeddedFont>
    <p:embeddedFont>
      <p:font typeface="DM Sans Bold"/>
      <p:regular xmlns:r="http://schemas.openxmlformats.org/officeDocument/2006/relationships" r:id="Rd43241b406a040e8"/>
    </p:embeddedFont>
    <p:embeddedFont>
      <p:font typeface="Poppins"/>
      <p:regular xmlns:r="http://schemas.openxmlformats.org/officeDocument/2006/relationships" r:id="R73d1438d6c6f45b4"/>
    </p:embeddedFont>
    <p:embeddedFont>
      <p:font typeface="Poppins Medium"/>
      <p:regular xmlns:r="http://schemas.openxmlformats.org/officeDocument/2006/relationships" r:id="Rfa3f4462df554b74"/>
    </p:embeddedFont>
    <p:embeddedFont>
      <p:font typeface="DM Sans"/>
      <p:regular xmlns:r="http://schemas.openxmlformats.org/officeDocument/2006/relationships" r:id="R3378ac183bf442a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a971f53a9246a5" /><Relationship Type="http://schemas.openxmlformats.org/officeDocument/2006/relationships/slideMaster" Target="/ppt/slideMasters/slideMaster1.xml" Id="Ra8197b88b060498e" /><Relationship Type="http://schemas.openxmlformats.org/officeDocument/2006/relationships/notesMaster" Target="/ppt/notesMasters/notesMaster1.xml" Id="R9c82f0e9e03b448c" /><Relationship Type="http://schemas.openxmlformats.org/officeDocument/2006/relationships/presProps" Target="/ppt/presProps.xml" Id="R2ba6a7b9d50d4138" /><Relationship Type="http://schemas.openxmlformats.org/officeDocument/2006/relationships/viewProps" Target="/ppt/viewProps.xml" Id="R734153c658e84c4d" /><Relationship Type="http://schemas.openxmlformats.org/officeDocument/2006/relationships/tableStyles" Target="/ppt/tableStyles.xml" Id="R8640ca2965484106" /><Relationship Type="http://schemas.openxmlformats.org/officeDocument/2006/relationships/font" Target="/ppt/fonts/font.dat" Id="R79545d97a8c946b7" /><Relationship Type="http://schemas.openxmlformats.org/officeDocument/2006/relationships/font" Target="/ppt/fonts/font2.dat" Id="Ra20ee793033d4727" /><Relationship Type="http://schemas.openxmlformats.org/officeDocument/2006/relationships/font" Target="/ppt/fonts/font3.dat" Id="Rd43241b406a040e8" /><Relationship Type="http://schemas.openxmlformats.org/officeDocument/2006/relationships/font" Target="/ppt/fonts/font4.dat" Id="R73d1438d6c6f45b4" /><Relationship Type="http://schemas.openxmlformats.org/officeDocument/2006/relationships/font" Target="/ppt/fonts/font5.dat" Id="Rfa3f4462df554b74" /><Relationship Type="http://schemas.openxmlformats.org/officeDocument/2006/relationships/font" Target="/ppt/fonts/font6.dat" Id="R3378ac183bf442aa" /><Relationship Type="http://schemas.openxmlformats.org/officeDocument/2006/relationships/slide" Target="/ppt/slides/slide1.xml" Id="R6a964e1799c2445b" /><Relationship Type="http://schemas.openxmlformats.org/officeDocument/2006/relationships/slide" Target="/ppt/slides/slide2.xml" Id="Rc94732038e004b16" /><Relationship Type="http://schemas.openxmlformats.org/officeDocument/2006/relationships/slide" Target="/ppt/slides/slide3.xml" Id="R4bcbb817844e42bb" /><Relationship Type="http://schemas.openxmlformats.org/officeDocument/2006/relationships/slide" Target="/ppt/slides/slide4.xml" Id="R419b69ea0ada4bfa" /><Relationship Type="http://schemas.openxmlformats.org/officeDocument/2006/relationships/slide" Target="/ppt/slides/slide5.xml" Id="Rf45ca20d4fbc4ad4" /><Relationship Type="http://schemas.openxmlformats.org/officeDocument/2006/relationships/slide" Target="/ppt/slides/slide6.xml" Id="Rdd4d2fb253014f7c" /><Relationship Type="http://schemas.openxmlformats.org/officeDocument/2006/relationships/slide" Target="/ppt/slides/slide7.xml" Id="R4193535ae9c34b12" /><Relationship Type="http://schemas.openxmlformats.org/officeDocument/2006/relationships/slide" Target="/ppt/slides/slide8.xml" Id="R9175708db4d243d8" /><Relationship Type="http://schemas.openxmlformats.org/officeDocument/2006/relationships/slide" Target="/ppt/slides/slide9.xml" Id="Rc73b03119e744457" /><Relationship Type="http://schemas.openxmlformats.org/officeDocument/2006/relationships/slide" Target="/ppt/slides/slide10.xml" Id="Re498e113542c4de6" /><Relationship Type="http://schemas.openxmlformats.org/officeDocument/2006/relationships/slide" Target="/ppt/slides/slide11.xml" Id="Rb969bf782a12495d" /><Relationship Type="http://schemas.openxmlformats.org/officeDocument/2006/relationships/slide" Target="/ppt/slides/slide12.xml" Id="R6484fd4cacc545c4" /><Relationship Type="http://schemas.openxmlformats.org/officeDocument/2006/relationships/slide" Target="/ppt/slides/slide13.xml" Id="R78db1fce4adb407d" /><Relationship Type="http://schemas.openxmlformats.org/officeDocument/2006/relationships/slide" Target="/ppt/slides/slide14.xml" Id="R8745caeb388f41af" /><Relationship Type="http://schemas.openxmlformats.org/officeDocument/2006/relationships/slide" Target="/ppt/slides/slide15.xml" Id="Rec1271dac43d45e4" /><Relationship Type="http://schemas.openxmlformats.org/officeDocument/2006/relationships/slide" Target="/ppt/slides/slide16.xml" Id="Ra2a9b76f799548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0a87cdb86749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ab412f9726441d" /><Relationship Type="http://schemas.openxmlformats.org/officeDocument/2006/relationships/notesMaster" Target="/ppt/notesMasters/notesMaster1.xml" Id="R758b1353b50b46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591684b0354dd6" /><Relationship Type="http://schemas.openxmlformats.org/officeDocument/2006/relationships/notesMaster" Target="/ppt/notesMasters/notesMaster1.xml" Id="Ra2e75bd01c0744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856e43f1054a34" /><Relationship Type="http://schemas.openxmlformats.org/officeDocument/2006/relationships/notesMaster" Target="/ppt/notesMasters/notesMaster1.xml" Id="Rc4e8c7cae92e41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39c05ed2a24c47" /><Relationship Type="http://schemas.openxmlformats.org/officeDocument/2006/relationships/notesMaster" Target="/ppt/notesMasters/notesMaster1.xml" Id="Rec15c1ee453447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47ceabb0634168" /><Relationship Type="http://schemas.openxmlformats.org/officeDocument/2006/relationships/notesMaster" Target="/ppt/notesMasters/notesMaster1.xml" Id="Rf0613cec47d74e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f51c03b69f4d76" /><Relationship Type="http://schemas.openxmlformats.org/officeDocument/2006/relationships/notesMaster" Target="/ppt/notesMasters/notesMaster1.xml" Id="Rea6b234bf6374e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c7f58462584e8d" /><Relationship Type="http://schemas.openxmlformats.org/officeDocument/2006/relationships/notesMaster" Target="/ppt/notesMasters/notesMaster1.xml" Id="Rbe42bbf55f7e4e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85011274dc4037" /><Relationship Type="http://schemas.openxmlformats.org/officeDocument/2006/relationships/notesMaster" Target="/ppt/notesMasters/notesMaster1.xml" Id="Rb844bddfe9e24c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f442fdeee64cde" /><Relationship Type="http://schemas.openxmlformats.org/officeDocument/2006/relationships/notesMaster" Target="/ppt/notesMasters/notesMaster1.xml" Id="R9fbcabacbe274c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7aaa78d0a540d4" /><Relationship Type="http://schemas.openxmlformats.org/officeDocument/2006/relationships/notesMaster" Target="/ppt/notesMasters/notesMaster1.xml" Id="R848d4c6ca33042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8ace1eae52495e" /><Relationship Type="http://schemas.openxmlformats.org/officeDocument/2006/relationships/notesMaster" Target="/ppt/notesMasters/notesMaster1.xml" Id="Rc135da28ad5145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c9017500354c9c" /><Relationship Type="http://schemas.openxmlformats.org/officeDocument/2006/relationships/notesMaster" Target="/ppt/notesMasters/notesMaster1.xml" Id="R7d7069f1e8c54e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bab72a31a64921" /><Relationship Type="http://schemas.openxmlformats.org/officeDocument/2006/relationships/notesMaster" Target="/ppt/notesMasters/notesMaster1.xml" Id="R82ce31b27ea940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7302cb6859443a" /><Relationship Type="http://schemas.openxmlformats.org/officeDocument/2006/relationships/notesMaster" Target="/ppt/notesMasters/notesMaster1.xml" Id="Re5213318681849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27aeb02f2e49e1" /><Relationship Type="http://schemas.openxmlformats.org/officeDocument/2006/relationships/notesMaster" Target="/ppt/notesMasters/notesMaster1.xml" Id="Rdba4835bfd3945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d4daf46524403d" /><Relationship Type="http://schemas.openxmlformats.org/officeDocument/2006/relationships/notesMaster" Target="/ppt/notesMasters/notesMaster1.xml" Id="R00eb039d8dcd4d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CampusOne 面向高校场地申请，协助学生准备申请，帮助管理员核对证据和整理意见。正式审批由管理员确认。当前使用模拟数据进行功能验证，尚未接入学校正式业务系统。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资料依据：competition.config.json；docs/competition-scope.md；docs/architecture.md。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项目采用自研应用及 Agent 任务层，围绕场地申请实现有限、可检验的辅助任务。Mock 模式使用固定响应，Live 模式通过兼容接口接入模型。正式状态变更由服务端规则和人工操作决定。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资料依据：README.md；docs/architecture.md；lib/agent/provider.ts。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本页依据项目需求分析列出待解决的问题与对应功能，尚无真实用户调研数据或量化效率结论。小规模可用性试点列入后续计划。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资料依据：docs/competition-scope.md；docs/test-plan.md。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仅承担三个受限的语言任务。程序依据规则和服务端会话校验，管理员拥有正式审批权限。模型不能直接写入事务状态。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资料依据：docs/architecture.md；lib/server/session.ts。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完整动作包括填表、预检、提交、审核、退回、修订、批准和办结。退回后的修改生成新版本，原始版本继续保存。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资料依据：docs/demo-script.md；docs/architecture.md。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申请端支持填写、预检、AI 建议与版本修订；管理员端支持审核摘要、退回、批准和办结。首页图片为工作区保留的既有产品截图。演示身份切换是专用入口，生产接入需由统一身份认证提供会话。</a:t>
            </a:r>
          </a:p>
          <a:p xmlns:a="http://schemas.openxmlformats.org/drawingml/2006/main">
            <a:r>
              <a:t>演示地址：https://campusone-agentflow.atticus-5951.chatgpt.site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资料依据：work/slides/campusone-dashboard-viewport.png；docs/demo-script.md；docs/architecture.md。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前端采用 React / Vinext，应用输出为 Cloudflare Worker 兼容 ESM，D1 保存结构化状态。正式状态写入由领域逻辑、权限与状态机控制。每位演示访问者拥有独立案件。模型只收到完成当前任务所需的最小上下文；密钥保存在服务端环境变量。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资料依据：docs/architecture.md。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三个任务分别为 FORM_ASSIST、REVIEW_BRIEF 和 RETURN_MESSAGE。输出契约由 Zod Schema 生成；验证包括 JSON 结构、任务类型、规则与证据引用，以及人数、日期等事实。真实模型输出校验失败时最多进行一次携带报错的修复，注入故障与超时按既定降级逻辑处理。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资料依据：docs/architecture.md；lib/agent。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数据定义位于 lib/demo/data.ts。知识条目包括 KB-VENUE-001、KB-VENUE-002、KB-VENUE-003、KB-SAFETY-001，来源均标注“模拟”。检索采用规则映射：表单辅助选择填写相关条目，审核摘要覆盖相关规则依据，退回草稿选择失败规则的依据。当前未采用向量检索。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资料依据：lib/demo/data.ts；lib/agent/knowledge.ts；lib/domain/rules.ts。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六项规则依次对应 VENUE-REQ-001、VENUE-TIME-001、VENUE-CAP-001、VENUE-SLOT-001、VENUE-EQP-001、VENUE-HOUR-001。相关证据来自统一的规则目录与知识条目。例如人数超过容量时，系统返回对应规则与人数、容量事实；修正后再次预检。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资料依据：docs/architecture.md；lib/domain/rules.ts。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此页示意版本机制。管理员退回后，申请人创建 V2 并补充说明，随后重新提交审核。旧版本保持只读，状态变化以事件追加。批准和办结仍需管理员确认。重复操作通过幂等控制避免重复事件。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资料依据：docs/architecture.md；tests/case-lifecycle.test.ts；docs/demo-script.md。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引用不存在的规则会返回 RULE_NOT_FOUND，显示降级提示并保留原有事务状态。非法 JSON、虚构规则和超时三类故障均会保留运行记录。演示故障可在真实模型模式生效。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资料依据：docs/architecture.md；docs/test-plan.md；tests/fault-injection.test.ts。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78 个自动化用例与 9 个真实模型故障组合来自已有项目测试文档及交付检查表。真实模型验证使用 DeepSeek，三个任务与三类故障交叉覆盖。记录覆盖规则、状态机、权限、会话隔离、版本修订、输出契约和异常路径。用户试点尚未完成，暂无可报告的效率提升比例。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资料依据：docs/test-plan.md；docs/delivery-checklist.md。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点体现在语言任务与业务审批的分工、带来源的建议、可演示的故障处理和可复用的事务机制。应用价值计划通过填表时长、首次通过率、退回次数与审核时长进行验证。跨场景扩展是后续方向，当前重点为场地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资料依据：docs/architecture.md；docs/test-plan.md。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先保存原始记录，再报告效率结果。试点指标包括填表时长、首次通过率、退回次数和审核时长。生产化接入需校方授权与统一身份认证替换演示身份切换入口。参赛团队为厦门大学胡博、温广琛、许佳锋，指导教师为张盈谦。联系邮箱尚待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资料依据：docs/test-plan.md；docs/delivery-checklist.md；competition.config.json。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学校、队长、队员顺序与指导教师由参赛者确认，统一保存于 competition.config.json。成员具体工作分工尚未提供，本页不作推定。</a:t>
            </a:r>
          </a:p>
          <a:p xmlns:a="http://schemas.openxmlformats.org/drawingml/2006/main">
            <a:r>
              <a:t>演示入口：https://campusone-agentflow.atticus-5951.chatgpt.site</a:t>
            </a:r>
          </a:p>
          <a:p xmlns:a="http://schemas.openxmlformats.org/drawingml/2006/main">
            <a:r>
              <a:t>代码仓库：https://github.com/echo5177/campusone-agentflow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资料依据：competition.config.json；比赛简介和要求.md。</a:t>
            </a:r>
          </a:p>
          <a:p xmlns:a="http://schemas.openxmlformats.org/drawingml/2006/main">
            <a:r>
              <a:t>视觉素材：用户提供的 Blue and White Futuristic Artificial Intelligence Presentation.pptx。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1e4ece72543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a0c4d3cb247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9589b1c5249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ad80d36034a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dd42b2fa948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4e7048cff4ac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b505892dc4a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72c0897a5496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df1220e9a427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601e01d55497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3d77211987481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57E4B7-33BF-4C88-A9B7-960C4755A58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FC582E0-5507-4D17-8FDC-523EE32BE0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8705448-324D-445A-81D1-E88BD1B598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BD474AA-6113-468B-AC9B-8B69E26C20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C5D644-3910-4BEE-859F-1512A95E75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78C38-8108-4B59-BD0C-B4F15AA0AD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22605AE-CA7C-4144-9D53-70D62D5194A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537F26-F000-4674-BC5F-346CBB137C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56318E-745F-444C-8F2A-51D49E2B5E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DF05EB-EEDD-4DFC-B8DE-7C16926430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ADB78F-5B38-4486-8225-A525FD4C5F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193704-86D9-4953-B4C9-2878A7859D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39A4D56-1B86-4068-95BF-5362303CD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51C407-CDFF-41ED-9A52-D2F6E8343B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4CE677-4EDD-4715-BCA3-4FE76D0D6E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36A086-D4DA-4DD7-97D3-24608EAC21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E11632-044B-493C-86D8-4A56B6B85D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AA1D71-711C-4415-A597-6555D3E2DB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8857276-4774-486C-BFB3-6207EEBAE9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746B15C-C161-4087-9D60-E3D13CA7F1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A1BA299-7207-463F-B21D-E42DAADBB3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7C05BB-D0CD-44E4-952E-805B84AC6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A4EA84-4B68-4BDB-8666-C7F156BABD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A4B68C4-F4F1-4850-9726-7E8BDBD75F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FC5CC7D-314A-43C9-8A37-2A7BECB4196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143ED0D-0FCB-4CC2-B95E-27C9079EB0B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3D99328-F3F0-4561-888B-A4BF22CA53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84DF1F9-1031-4396-B25D-1E10EBFB8D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05CB908-3DA1-4566-AB77-5A67A36763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58ADB6-4A1F-45A7-9CB0-259B55E102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57BB897-9566-4421-A700-817C666562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1A544A0-876B-482F-805E-AF7A5872FB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C242484-4FA0-4053-8349-D9BA2D44D4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5FE54B4-040D-49FC-880A-CDEAE984E3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A878034-B28C-4DA6-B4B3-891A36102A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B9186B3-A062-43BE-A51A-499371BC12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8FF5C3-E918-4786-B0A1-98788DE982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76B316-CB93-4EDB-9C7F-9571873A98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40072D7-4AD9-4D7A-8485-D0EDF09DF2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85F9F0B-2553-40A0-9786-A2F45CB1D6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58D014-503F-4EF3-90BE-813312BDAB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479AB19-C64C-4D91-8B8B-7D1590729F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C91B3A-48D5-4A10-A132-6B6DD6C0F1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71A5F27-B69E-4370-A244-37D83923181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E496AB-910F-447E-BEF4-D22A612DFC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360A546-9FA0-404F-AEA8-FA71271DED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5BA6C2B-8FB9-461A-AA8B-55E5853809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3D76DC7-E39E-46AA-A014-7C337864B2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5F8DE7-0C70-4B89-855B-87CBF3003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9D19D4-8C1A-4CF1-8399-1D06B538B3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854FF5-1FAE-4823-A319-A2D04C937B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F48FC2D-81AD-479A-A89A-38F1720C6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CD9F26-2895-4ECC-8140-339FDEAC1D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91058B4-05F3-4759-9015-AFD98E414D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3BC17F-75C7-4E14-B85D-F869A56E7E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9C590A-97D0-4DB7-BEA7-5A1360AE97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E081F9-EF7A-40F6-9AEE-E1C0FB2E92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37ED75-0139-4EEE-A9C9-C7CF12E160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37428425b44a96" /><Relationship Type="http://schemas.openxmlformats.org/officeDocument/2006/relationships/slideLayout" Target="/ppt/slideLayouts/slideLayout1.xml" Id="R7fb03ea9256f45b6" /><Relationship Type="http://schemas.openxmlformats.org/officeDocument/2006/relationships/slideLayout" Target="/ppt/slideLayouts/slideLayout2.xml" Id="R1e06231a1bad4e39" /><Relationship Type="http://schemas.openxmlformats.org/officeDocument/2006/relationships/slideLayout" Target="/ppt/slideLayouts/slideLayout3.xml" Id="Re145a2d5ca2c4296" /><Relationship Type="http://schemas.openxmlformats.org/officeDocument/2006/relationships/slideLayout" Target="/ppt/slideLayouts/slideLayout4.xml" Id="Rc9db3532fa7f4e91" /><Relationship Type="http://schemas.openxmlformats.org/officeDocument/2006/relationships/slideLayout" Target="/ppt/slideLayouts/slideLayout5.xml" Id="R42eb4f65bc75404a" /><Relationship Type="http://schemas.openxmlformats.org/officeDocument/2006/relationships/slideLayout" Target="/ppt/slideLayouts/slideLayout6.xml" Id="R83ebe58a42aa4ee0" /><Relationship Type="http://schemas.openxmlformats.org/officeDocument/2006/relationships/slideLayout" Target="/ppt/slideLayouts/slideLayout7.xml" Id="R66b3c9e5ff64492c" /><Relationship Type="http://schemas.openxmlformats.org/officeDocument/2006/relationships/slideLayout" Target="/ppt/slideLayouts/slideLayout8.xml" Id="R39b8bbaa505e4c42" /><Relationship Type="http://schemas.openxmlformats.org/officeDocument/2006/relationships/slideLayout" Target="/ppt/slideLayouts/slideLayout9.xml" Id="Rcac16ce0fdcc47a3" /><Relationship Type="http://schemas.openxmlformats.org/officeDocument/2006/relationships/slideLayout" Target="/ppt/slideLayouts/slideLayout10.xml" Id="Raf8dfe2d52d04cc7" /><Relationship Type="http://schemas.openxmlformats.org/officeDocument/2006/relationships/slideLayout" Target="/ppt/slideLayouts/slideLayout11.xml" Id="R7ba58a520073403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742A934-3017-4729-B2AF-BED1E3FBF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328962-422F-4E45-8E48-DF13B2539A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1D5194-E1C5-4B21-95BE-7BC50929371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8FF888-ED18-4AC7-A51E-BB046B32CE1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86ACFB-1B21-44A4-941B-1820AA4A0C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b03ea9256f45b6"/>
    <p:sldLayoutId xmlns:r="http://schemas.openxmlformats.org/officeDocument/2006/relationships" id="2147483650" r:id="R1e06231a1bad4e39"/>
    <p:sldLayoutId xmlns:r="http://schemas.openxmlformats.org/officeDocument/2006/relationships" id="2147483651" r:id="Re145a2d5ca2c4296"/>
    <p:sldLayoutId xmlns:r="http://schemas.openxmlformats.org/officeDocument/2006/relationships" id="2147483652" r:id="Rc9db3532fa7f4e91"/>
    <p:sldLayoutId xmlns:r="http://schemas.openxmlformats.org/officeDocument/2006/relationships" id="2147483653" r:id="R42eb4f65bc75404a"/>
    <p:sldLayoutId xmlns:r="http://schemas.openxmlformats.org/officeDocument/2006/relationships" id="2147483654" r:id="R83ebe58a42aa4ee0"/>
    <p:sldLayoutId xmlns:r="http://schemas.openxmlformats.org/officeDocument/2006/relationships" id="2147483655" r:id="R66b3c9e5ff64492c"/>
    <p:sldLayoutId xmlns:r="http://schemas.openxmlformats.org/officeDocument/2006/relationships" id="2147483656" r:id="R39b8bbaa505e4c42"/>
    <p:sldLayoutId xmlns:r="http://schemas.openxmlformats.org/officeDocument/2006/relationships" id="2147483657" r:id="Rcac16ce0fdcc47a3"/>
    <p:sldLayoutId xmlns:r="http://schemas.openxmlformats.org/officeDocument/2006/relationships" id="2147483658" r:id="Raf8dfe2d52d04cc7"/>
    <p:sldLayoutId xmlns:r="http://schemas.openxmlformats.org/officeDocument/2006/relationships" id="2147483659" r:id="R7ba58a520073403e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5fff37b5d9479f" /><Relationship Type="http://schemas.openxmlformats.org/officeDocument/2006/relationships/image" Target="/ppt/media/image.png" Id="R4284178a497a4450" /><Relationship Type="http://schemas.openxmlformats.org/officeDocument/2006/relationships/image" Target="/ppt/media/image2.png" Id="R2a231b04f80d4207" /><Relationship Type="http://schemas.openxmlformats.org/officeDocument/2006/relationships/image" Target="/ppt/media/image3.png" Id="Rd6dbeb2aa2014fc1" /><Relationship Type="http://schemas.openxmlformats.org/officeDocument/2006/relationships/image" Target="/ppt/media/image.svg" Id="R4c7aa7f8a1d147d4" /><Relationship Type="http://schemas.openxmlformats.org/officeDocument/2006/relationships/image" Target="/ppt/media/image4.png" Id="Rf6bda0cf62564c33" /><Relationship Type="http://schemas.openxmlformats.org/officeDocument/2006/relationships/image" Target="/ppt/media/image2.svg" Id="R9ffb030320754de5" /><Relationship Type="http://schemas.openxmlformats.org/officeDocument/2006/relationships/image" Target="/ppt/media/image5.png" Id="R5d3415688e5e4413" /><Relationship Type="http://schemas.openxmlformats.org/officeDocument/2006/relationships/image" Target="/ppt/media/image3.svg" Id="Rfea76c509c3d44a5" /><Relationship Type="http://schemas.openxmlformats.org/officeDocument/2006/relationships/notesSlide" Target="/ppt/notesSlides/notesSlide1.xml" Id="Ra3b63e5a99d942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837f6f827f4d66" /><Relationship Type="http://schemas.openxmlformats.org/officeDocument/2006/relationships/image" Target="/ppt/media/image6.png" Id="R57c94c7aa5ae49df" /><Relationship Type="http://schemas.openxmlformats.org/officeDocument/2006/relationships/image" Target="/ppt/media/image5.png" Id="Rabf284ace8524d87" /><Relationship Type="http://schemas.openxmlformats.org/officeDocument/2006/relationships/image" Target="/ppt/media/image3.svg" Id="R744cb52176a04cb8" /><Relationship Type="http://schemas.openxmlformats.org/officeDocument/2006/relationships/image" Target="/ppt/media/image7.png" Id="Raec8c9f47e014127" /><Relationship Type="http://schemas.openxmlformats.org/officeDocument/2006/relationships/notesSlide" Target="/ppt/notesSlides/notesSlide2.xml" Id="Red19f10a059547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48480d4f6d46c6" /><Relationship Type="http://schemas.openxmlformats.org/officeDocument/2006/relationships/image" Target="/ppt/media/image5.png" Id="Rd4e38902b16d4b4b" /><Relationship Type="http://schemas.openxmlformats.org/officeDocument/2006/relationships/image" Target="/ppt/media/image3.svg" Id="R8c96b0e9166041ba" /><Relationship Type="http://schemas.openxmlformats.org/officeDocument/2006/relationships/notesSlide" Target="/ppt/notesSlides/notesSlide3.xml" Id="Rdcb300912afb4d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7c1b72b9204b8f" /><Relationship Type="http://schemas.openxmlformats.org/officeDocument/2006/relationships/image" Target="/ppt/media/image5.png" Id="R8a99acd631e34e55" /><Relationship Type="http://schemas.openxmlformats.org/officeDocument/2006/relationships/image" Target="/ppt/media/image3.svg" Id="Rf79a3f0c6fef43d2" /><Relationship Type="http://schemas.openxmlformats.org/officeDocument/2006/relationships/notesSlide" Target="/ppt/notesSlides/notesSlide4.xml" Id="R08d1abb72d0d48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42f951d19c46e9" /><Relationship Type="http://schemas.openxmlformats.org/officeDocument/2006/relationships/image" Target="/ppt/media/image5.png" Id="R2cd449af64164e02" /><Relationship Type="http://schemas.openxmlformats.org/officeDocument/2006/relationships/image" Target="/ppt/media/image3.svg" Id="Rc2026202667d47e2" /><Relationship Type="http://schemas.openxmlformats.org/officeDocument/2006/relationships/notesSlide" Target="/ppt/notesSlides/notesSlide5.xml" Id="R0ec23051563248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454d1c677e40ff" /><Relationship Type="http://schemas.openxmlformats.org/officeDocument/2006/relationships/image" Target="/ppt/media/image.jpeg" Id="R7e1fb575c76148b4" /><Relationship Type="http://schemas.openxmlformats.org/officeDocument/2006/relationships/notesSlide" Target="/ppt/notesSlides/notesSlide6.xml" Id="Rf229b91694444d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c03193d4b14c3f" /><Relationship Type="http://schemas.openxmlformats.org/officeDocument/2006/relationships/notesSlide" Target="/ppt/notesSlides/notesSlide7.xml" Id="R6e0c9888f33045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fc3eee5ded46e8" /><Relationship Type="http://schemas.openxmlformats.org/officeDocument/2006/relationships/image" Target="/ppt/media/image5.png" Id="Rece369e7c7f44c24" /><Relationship Type="http://schemas.openxmlformats.org/officeDocument/2006/relationships/image" Target="/ppt/media/image3.svg" Id="R7f671ff4ccbd4c7d" /><Relationship Type="http://schemas.openxmlformats.org/officeDocument/2006/relationships/notesSlide" Target="/ppt/notesSlides/notesSlide8.xml" Id="Raa66280276314a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ee9d3bead24a31" /><Relationship Type="http://schemas.openxmlformats.org/officeDocument/2006/relationships/image" Target="/ppt/media/image4.png" Id="Rd3e8c2834c864c84" /><Relationship Type="http://schemas.openxmlformats.org/officeDocument/2006/relationships/image" Target="/ppt/media/image2.svg" Id="Rc29144387361426c" /><Relationship Type="http://schemas.openxmlformats.org/officeDocument/2006/relationships/notesSlide" Target="/ppt/notesSlides/notesSlide9.xml" Id="Rd82bb0afc9f141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eff7437e104f69" /><Relationship Type="http://schemas.openxmlformats.org/officeDocument/2006/relationships/image" Target="/ppt/media/image5.png" Id="R998714a582574c10" /><Relationship Type="http://schemas.openxmlformats.org/officeDocument/2006/relationships/image" Target="/ppt/media/image3.svg" Id="Rb3f0342d41924651" /><Relationship Type="http://schemas.openxmlformats.org/officeDocument/2006/relationships/notesSlide" Target="/ppt/notesSlides/notesSlide10.xml" Id="R63e48feb68f14a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bdddbafb9d41c2" /><Relationship Type="http://schemas.openxmlformats.org/officeDocument/2006/relationships/image" Target="/ppt/media/image4.png" Id="Raa6ab73a2e884046" /><Relationship Type="http://schemas.openxmlformats.org/officeDocument/2006/relationships/image" Target="/ppt/media/image2.svg" Id="Re4fe379df7974d01" /><Relationship Type="http://schemas.openxmlformats.org/officeDocument/2006/relationships/notesSlide" Target="/ppt/notesSlides/notesSlide11.xml" Id="R6c799e44454f48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377d94c0d54060" /><Relationship Type="http://schemas.openxmlformats.org/officeDocument/2006/relationships/image" Target="/ppt/media/image4.png" Id="R02b1ef32bac84cd1" /><Relationship Type="http://schemas.openxmlformats.org/officeDocument/2006/relationships/image" Target="/ppt/media/image2.svg" Id="Rf50eb42260664db8" /><Relationship Type="http://schemas.openxmlformats.org/officeDocument/2006/relationships/notesSlide" Target="/ppt/notesSlides/notesSlide12.xml" Id="R4b097c6eb26240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4ce652883f44a7" /><Relationship Type="http://schemas.openxmlformats.org/officeDocument/2006/relationships/image" Target="/ppt/media/image5.png" Id="R948b8706feff40dc" /><Relationship Type="http://schemas.openxmlformats.org/officeDocument/2006/relationships/image" Target="/ppt/media/image3.svg" Id="R82240d106ca44a81" /><Relationship Type="http://schemas.openxmlformats.org/officeDocument/2006/relationships/notesSlide" Target="/ppt/notesSlides/notesSlide13.xml" Id="R990d483c517e49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d925ac92064028" /><Relationship Type="http://schemas.openxmlformats.org/officeDocument/2006/relationships/notesSlide" Target="/ppt/notesSlides/notesSlide14.xml" Id="Re5ab9c0b1cd843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041814ba414cff" /><Relationship Type="http://schemas.openxmlformats.org/officeDocument/2006/relationships/image" Target="/ppt/media/image5.png" Id="R88ba5733fbab446e" /><Relationship Type="http://schemas.openxmlformats.org/officeDocument/2006/relationships/image" Target="/ppt/media/image3.svg" Id="R7556560b64f74db8" /><Relationship Type="http://schemas.openxmlformats.org/officeDocument/2006/relationships/notesSlide" Target="/ppt/notesSlides/notesSlide15.xml" Id="Ra84bafd4a8f043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c35f4104554e5d" /><Relationship Type="http://schemas.openxmlformats.org/officeDocument/2006/relationships/image" Target="/ppt/media/image4.png" Id="Rf306d45abf3441fc" /><Relationship Type="http://schemas.openxmlformats.org/officeDocument/2006/relationships/image" Target="/ppt/media/image2.svg" Id="R13fe84b383bf4f41" /><Relationship Type="http://schemas.openxmlformats.org/officeDocument/2006/relationships/image" Target="/ppt/media/image5.png" Id="R35828cac436b40b4" /><Relationship Type="http://schemas.openxmlformats.org/officeDocument/2006/relationships/image" Target="/ppt/media/image3.svg" Id="Rf656255c5af94aac" /><Relationship Type="http://schemas.openxmlformats.org/officeDocument/2006/relationships/notesSlide" Target="/ppt/notesSlides/notesSlide16.xml" Id="R689ff137e0a547a6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9D23130-D2B4-42DF-A076-166F031A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077" y="8059457"/>
            <a:ext cx="4494225" cy="1477831"/>
          </a:xfrm>
          <a:custGeom xmlns:a="http://schemas.openxmlformats.org/drawingml/2006/main">
            <a:rect l="l" t="t" r="r" b="b"/>
            <a:pathLst>
              <a:path w="4494225" h="1477831">
                <a:moveTo>
                  <a:pt x="0" y="0"/>
                </a:moveTo>
                <a:lnTo>
                  <a:pt x="4494226" y="0"/>
                </a:lnTo>
                <a:lnTo>
                  <a:pt x="4494226" y="1477831"/>
                </a:lnTo>
                <a:lnTo>
                  <a:pt x="0" y="147783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284178a497a4450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75C9FFC-AEBD-473B-8C6D-1FE1971D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1366372"/>
            <a:ext cx="6584399" cy="7213246"/>
          </a:xfrm>
          <a:custGeom xmlns:a="http://schemas.openxmlformats.org/drawingml/2006/main">
            <a:rect l="l" t="t" r="r" b="b"/>
            <a:pathLst>
              <a:path w="6584399" h="7213246">
                <a:moveTo>
                  <a:pt x="0" y="0"/>
                </a:moveTo>
                <a:lnTo>
                  <a:pt x="6584399" y="0"/>
                </a:lnTo>
                <a:lnTo>
                  <a:pt x="6584399" y="7213246"/>
                </a:lnTo>
                <a:lnTo>
                  <a:pt x="0" y="721324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a231b04f80d4207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E1762E5-B8DB-4B77-B481-B7B98C61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36472" y="7168265"/>
            <a:ext cx="7663324" cy="3692329"/>
          </a:xfrm>
          <a:custGeom xmlns:a="http://schemas.openxmlformats.org/drawingml/2006/main">
            <a:rect l="l" t="t" r="r" b="b"/>
            <a:pathLst>
              <a:path w="7663324" h="3692329">
                <a:moveTo>
                  <a:pt x="0" y="0"/>
                </a:moveTo>
                <a:lnTo>
                  <a:pt x="7663324" y="0"/>
                </a:lnTo>
                <a:lnTo>
                  <a:pt x="7663324" y="3692329"/>
                </a:lnTo>
                <a:lnTo>
                  <a:pt x="0" y="369232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6dbeb2aa2014fc1">
              <a:extLst>
                <a:ext uri="{96DAC541-7B7A-43D3-8B79-37D633B846F1}">
                  <asvg:svgBlip xmlns:asvg="http://schemas.microsoft.com/office/drawing/2016/SVG/main" r:embed="R4c7aa7f8a1d147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A9ECBB4-DD8C-48FA-A995-50C1920A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666723" y="1529452"/>
            <a:ext cx="4114800" cy="4114800"/>
          </a:xfrm>
          <a:custGeom xmlns:a="http://schemas.openxmlformats.org/drawingml/2006/main"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bda0cf62564c33">
              <a:extLst>
                <a:ext uri="{96DAC541-7B7A-43D3-8B79-37D633B846F1}">
                  <asvg:svgBlip xmlns:asvg="http://schemas.microsoft.com/office/drawing/2016/SVG/main" r:embed="R9ffb030320754de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4C7CEDC-5938-4622-8BE1-1B1651A4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2303" y="3167183"/>
            <a:ext cx="1143541" cy="1143541"/>
          </a:xfrm>
          <a:custGeom xmlns:a="http://schemas.openxmlformats.org/drawingml/2006/main">
            <a:rect l="l" t="t" r="r" b="b"/>
            <a:pathLst>
              <a:path w="1143541" h="1143541">
                <a:moveTo>
                  <a:pt x="0" y="0"/>
                </a:moveTo>
                <a:lnTo>
                  <a:pt x="1143540" y="0"/>
                </a:lnTo>
                <a:lnTo>
                  <a:pt x="1143540" y="1143540"/>
                </a:lnTo>
                <a:lnTo>
                  <a:pt x="0" y="114354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bda0cf62564c33">
              <a:extLst>
                <a:ext uri="{96DAC541-7B7A-43D3-8B79-37D633B846F1}">
                  <asvg:svgBlip xmlns:asvg="http://schemas.microsoft.com/office/drawing/2016/SVG/main" r:embed="R9ffb030320754de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7ED332D-ECEC-46B0-B879-BB0A1D4B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47751" y="846365"/>
            <a:ext cx="2320817" cy="2320817"/>
          </a:xfrm>
          <a:custGeom xmlns:a="http://schemas.openxmlformats.org/drawingml/2006/main">
            <a:rect l="l" t="t" r="r" b="b"/>
            <a:pathLst>
              <a:path w="2320817" h="2320817">
                <a:moveTo>
                  <a:pt x="0" y="0"/>
                </a:moveTo>
                <a:lnTo>
                  <a:pt x="2320817" y="0"/>
                </a:lnTo>
                <a:lnTo>
                  <a:pt x="2320817" y="2320818"/>
                </a:lnTo>
                <a:lnTo>
                  <a:pt x="0" y="232081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bda0cf62564c33">
              <a:extLst>
                <a:ext uri="{96DAC541-7B7A-43D3-8B79-37D633B846F1}">
                  <asvg:svgBlip xmlns:asvg="http://schemas.microsoft.com/office/drawing/2016/SVG/main" r:embed="R9ffb030320754de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3B8CAB5-A501-489D-A896-1E7BE52D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6422" y="-1931178"/>
            <a:ext cx="3795301" cy="3862356"/>
          </a:xfrm>
          <a:custGeom xmlns:a="http://schemas.openxmlformats.org/drawingml/2006/main">
            <a:rect l="l" t="t" r="r" b="b"/>
            <a:pathLst>
              <a:path w="3795301" h="3862356">
                <a:moveTo>
                  <a:pt x="0" y="0"/>
                </a:moveTo>
                <a:lnTo>
                  <a:pt x="3795302" y="0"/>
                </a:lnTo>
                <a:lnTo>
                  <a:pt x="3795302" y="3862356"/>
                </a:lnTo>
                <a:lnTo>
                  <a:pt x="0" y="386235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d3415688e5e4413">
              <a:extLst>
                <a:ext uri="{96DAC541-7B7A-43D3-8B79-37D633B846F1}">
                  <asvg:svgBlip xmlns:asvg="http://schemas.microsoft.com/office/drawing/2016/SVG/main" r:embed="Rfea76c509c3d44a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C29EF90-1E0B-43E0-88F9-E0F8E72E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3435088" y="5644252"/>
            <a:ext cx="8091042" cy="8233994"/>
          </a:xfrm>
          <a:custGeom xmlns:a="http://schemas.openxmlformats.org/drawingml/2006/main">
            <a:rect l="l" t="t" r="r" b="b"/>
            <a:pathLst>
              <a:path w="8091042" h="8233994">
                <a:moveTo>
                  <a:pt x="0" y="8233993"/>
                </a:moveTo>
                <a:lnTo>
                  <a:pt x="8091042" y="8233993"/>
                </a:lnTo>
                <a:lnTo>
                  <a:pt x="8091042" y="0"/>
                </a:lnTo>
                <a:lnTo>
                  <a:pt x="0" y="0"/>
                </a:lnTo>
                <a:lnTo>
                  <a:pt x="0" y="823399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d3415688e5e4413">
              <a:extLst>
                <a:ext uri="{96DAC541-7B7A-43D3-8B79-37D633B846F1}">
                  <asvg:svgBlip xmlns:asvg="http://schemas.microsoft.com/office/drawing/2016/SVG/main" r:embed="Rfea76c509c3d44a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教育管理应用创新赛 · 项目简介">
            <a:extLst xmlns:a="http://schemas.openxmlformats.org/drawingml/2006/main">
              <a:ext uri="{FF2B5EF4-FFF2-40B4-BE49-F238E27FC236}">
                <a16:creationId xmlns:a16="http://schemas.microsoft.com/office/drawing/2014/main" id="{AAFA21FC-1AC0-4D0A-9AE7-CCF3CA91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716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教育管理应用创新赛 · 项目简介</a:t>
            </a:r>
          </a:p>
        </p:txBody>
      </p:sp>
      <p:sp>
        <p:nvSpPr>
          <p:cNvPr id="14" name="CampusOne">
            <a:extLst xmlns:a="http://schemas.openxmlformats.org/drawingml/2006/main">
              <a:ext uri="{FF2B5EF4-FFF2-40B4-BE49-F238E27FC236}">
                <a16:creationId xmlns:a16="http://schemas.microsoft.com/office/drawing/2014/main" id="{1993CA5D-8B8E-4FCB-AD30-5C49A360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0" b="0">
                <a:solidFill>
                  <a:srgbClr val="DDF4FC"/>
                </a:solidFill>
                <a:latin typeface="League Spartan"/>
                <a:ea typeface="League Spartan"/>
                <a:cs typeface="League Spartan"/>
              </a:defRPr>
            </a:pPr>
            <a:r>
              <a:rPr sz="10650" b="0">
                <a:solidFill>
                  <a:srgbClr val="DDF4FC"/>
                </a:solidFill>
                <a:latin typeface="League Spartan"/>
                <a:ea typeface="League Spartan"/>
                <a:cs typeface="League Spartan"/>
              </a:rPr>
              <a:t>CampusOne</a:t>
            </a:r>
          </a:p>
        </p:txBody>
      </p:sp>
      <p:sp>
        <p:nvSpPr>
          <p:cNvPr id="15" name="可信校园事务智能体">
            <a:extLst xmlns:a="http://schemas.openxmlformats.org/drawingml/2006/main">
              <a:ext uri="{FF2B5EF4-FFF2-40B4-BE49-F238E27FC236}">
                <a16:creationId xmlns:a16="http://schemas.microsoft.com/office/drawing/2014/main" id="{AFFC7A16-56C4-485E-AC0A-866846C3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24350"/>
            <a:ext cx="942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可信校园事务智能体</a:t>
            </a:r>
          </a:p>
        </p:txBody>
      </p:sp>
      <p:sp>
        <p:nvSpPr>
          <p:cNvPr id="16" name="高校场地申请的 AI 辅助与流程管理">
            <a:extLst xmlns:a="http://schemas.openxmlformats.org/drawingml/2006/main">
              <a:ext uri="{FF2B5EF4-FFF2-40B4-BE49-F238E27FC236}">
                <a16:creationId xmlns:a16="http://schemas.microsoft.com/office/drawing/2014/main" id="{E33ACA0E-EDAA-485C-B83F-C790C879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578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高校场地申请的 AI 辅助与流程管理</a:t>
            </a:r>
          </a:p>
        </p:txBody>
      </p:sp>
      <p:sp>
        <p:nvSpPr>
          <p:cNvPr id="17" name="厦门大学">
            <a:extLst xmlns:a="http://schemas.openxmlformats.org/drawingml/2006/main">
              <a:ext uri="{FF2B5EF4-FFF2-40B4-BE49-F238E27FC236}">
                <a16:creationId xmlns:a16="http://schemas.microsoft.com/office/drawing/2014/main" id="{EB4DECD9-A5A4-4B60-BE2C-D1EE08F5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7191375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厦门大学</a:t>
            </a:r>
          </a:p>
        </p:txBody>
      </p:sp>
      <p:sp>
        <p:nvSpPr>
          <p:cNvPr id="18" name="胡博（队长）、温广琛、许佳锋">
            <a:extLst xmlns:a="http://schemas.openxmlformats.org/drawingml/2006/main">
              <a:ext uri="{FF2B5EF4-FFF2-40B4-BE49-F238E27FC236}">
                <a16:creationId xmlns:a16="http://schemas.microsoft.com/office/drawing/2014/main" id="{FC71C184-835D-4CDF-97CC-6640A077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80867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胡博（队长）、温广琛、许佳锋</a:t>
            </a:r>
          </a:p>
        </p:txBody>
      </p:sp>
      <p:sp>
        <p:nvSpPr>
          <p:cNvPr id="19" name="指导教师：张盈谦">
            <a:extLst xmlns:a="http://schemas.openxmlformats.org/drawingml/2006/main">
              <a:ext uri="{FF2B5EF4-FFF2-40B4-BE49-F238E27FC236}">
                <a16:creationId xmlns:a16="http://schemas.microsoft.com/office/drawing/2014/main" id="{01A6D6E9-A43F-402F-8A99-B84E1C2A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884872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指导教师：张盈谦</a:t>
            </a:r>
          </a:p>
        </p:txBody>
      </p:sp>
    </p:spTree>
    <p:extLst>
      <p:ext uri="{BB962C8B-B14F-4D97-AF65-F5344CB8AC3E}">
        <p14:creationId xmlns:p14="http://schemas.microsoft.com/office/powerpoint/2010/main" val="50829624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516AE2C-37E8-436D-A017-88A04993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824670" y="-194165"/>
            <a:ext cx="7711993" cy="11910413"/>
          </a:xfrm>
          <a:custGeom xmlns:a="http://schemas.openxmlformats.org/drawingml/2006/main">
            <a:rect l="l" t="t" r="r" b="b"/>
            <a:pathLst>
              <a:path w="7711993" h="11910413">
                <a:moveTo>
                  <a:pt x="0" y="0"/>
                </a:moveTo>
                <a:lnTo>
                  <a:pt x="7711992" y="0"/>
                </a:lnTo>
                <a:lnTo>
                  <a:pt x="7711992" y="11910413"/>
                </a:lnTo>
                <a:lnTo>
                  <a:pt x="0" y="119104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c94c7aa5ae49df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7369F7F-4367-42C7-A397-E7ABAFFF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3554864" y="-1544588"/>
            <a:ext cx="7109728" cy="7235341"/>
          </a:xfrm>
          <a:custGeom xmlns:a="http://schemas.openxmlformats.org/drawingml/2006/main">
            <a:rect l="l" t="t" r="r" b="b"/>
            <a:pathLst>
              <a:path w="7109728" h="7235341">
                <a:moveTo>
                  <a:pt x="0" y="7235341"/>
                </a:moveTo>
                <a:lnTo>
                  <a:pt x="7109728" y="7235341"/>
                </a:lnTo>
                <a:lnTo>
                  <a:pt x="7109728" y="0"/>
                </a:lnTo>
                <a:lnTo>
                  <a:pt x="0" y="0"/>
                </a:lnTo>
                <a:lnTo>
                  <a:pt x="0" y="723534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bf284ace8524d87">
              <a:extLst>
                <a:ext uri="{96DAC541-7B7A-43D3-8B79-37D633B846F1}">
                  <asvg:svgBlip xmlns:asvg="http://schemas.microsoft.com/office/drawing/2016/SVG/main" r:embed="R744cb52176a04cb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4F0C88C-5D49-4B5C-9EC5-EA10A329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80621" flipH="1" flipV="0">
            <a:off x="-2622106" y="1281674"/>
            <a:ext cx="9373423" cy="10152513"/>
          </a:xfrm>
          <a:custGeom xmlns:a="http://schemas.openxmlformats.org/drawingml/2006/main">
            <a:rect l="l" t="t" r="r" b="b"/>
            <a:pathLst>
              <a:path w="9373423" h="10152513">
                <a:moveTo>
                  <a:pt x="9373423" y="0"/>
                </a:moveTo>
                <a:lnTo>
                  <a:pt x="0" y="0"/>
                </a:lnTo>
                <a:lnTo>
                  <a:pt x="0" y="10152513"/>
                </a:lnTo>
                <a:lnTo>
                  <a:pt x="9373423" y="10152513"/>
                </a:lnTo>
                <a:lnTo>
                  <a:pt x="937342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c8c9f47e014127"/>
            <a:stretch>
              <a:fillRect l="0" t="0" r="0" b="0"/>
            </a:stretch>
          </a:blipFill>
        </p:spPr>
      </p:sp>
      <p:sp>
        <p:nvSpPr>
          <p:cNvPr id="5" name="项目概况">
            <a:extLst xmlns:a="http://schemas.openxmlformats.org/drawingml/2006/main">
              <a:ext uri="{FF2B5EF4-FFF2-40B4-BE49-F238E27FC236}">
                <a16:creationId xmlns:a16="http://schemas.microsoft.com/office/drawing/2014/main" id="{3E02F372-F1F5-4EA8-B4B9-68944E36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8112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项目概况</a:t>
            </a:r>
          </a:p>
        </p:txBody>
      </p:sp>
      <p:sp>
        <p:nvSpPr>
          <p:cNvPr id="6" name="面向高校场地申请">
            <a:extLst xmlns:a="http://schemas.openxmlformats.org/drawingml/2006/main">
              <a:ext uri="{FF2B5EF4-FFF2-40B4-BE49-F238E27FC236}">
                <a16:creationId xmlns:a16="http://schemas.microsoft.com/office/drawing/2014/main" id="{08193546-1C85-4FA4-8045-CC3D7A02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面向高校场地申请</a:t>
            </a:r>
          </a:p>
        </p:txBody>
      </p:sp>
      <p:sp>
        <p:nvSpPr>
          <p:cNvPr id="7" name="CampusOne 将申请填写、规则预检、">
            <a:extLst xmlns:a="http://schemas.openxmlformats.org/drawingml/2006/main">
              <a:ext uri="{FF2B5EF4-FFF2-40B4-BE49-F238E27FC236}">
                <a16:creationId xmlns:a16="http://schemas.microsoft.com/office/drawing/2014/main" id="{07BC5DF8-F546-4C53-8225-A910EA13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8143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CampusOne 将申请填写、规则预检、</a:t>
            </a:r>
          </a:p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人工审核和版本记录放在同一工作台。</a:t>
            </a:r>
          </a:p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学生可以查看修改建议与办理进度，</a:t>
            </a:r>
          </a:p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管理员可以核对申请事实和制度依据。</a:t>
            </a:r>
          </a:p>
        </p:txBody>
      </p:sp>
      <p:sp>
        <p:nvSpPr>
          <p:cNvPr id="8" name="当前完成范围">
            <a:extLst xmlns:a="http://schemas.openxmlformats.org/drawingml/2006/main">
              <a:ext uri="{FF2B5EF4-FFF2-40B4-BE49-F238E27FC236}">
                <a16:creationId xmlns:a16="http://schemas.microsoft.com/office/drawing/2014/main" id="{5D947953-ABDD-4992-AA84-21E4373C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当前完成范围</a:t>
            </a:r>
          </a:p>
        </p:txBody>
      </p:sp>
      <p:sp>
        <p:nvSpPr>
          <p:cNvPr id="9" name="场地申请完整流程及三类 AI 辅助任务；">
            <a:extLst xmlns:a="http://schemas.openxmlformats.org/drawingml/2006/main">
              <a:ext uri="{FF2B5EF4-FFF2-40B4-BE49-F238E27FC236}">
                <a16:creationId xmlns:a16="http://schemas.microsoft.com/office/drawing/2014/main" id="{E60E222B-C618-486B-A719-0B4CCBA1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896100"/>
            <a:ext cx="8143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场地申请完整流程及三类 AI 辅助任务；</a:t>
            </a:r>
          </a:p>
          <a:p xmlns:a="http://schemas.openxmlformats.org/drawingml/2006/main">
            <a:pPr algn="l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支持 Mock 与真实模型模式、故障注入。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94FF7FF7-1612-4011-A945-87CC49EB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6372959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0E78E6B-6E11-40E3-8BE2-1CA1EE1B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317219" y="-2891445"/>
            <a:ext cx="7109728" cy="7235341"/>
          </a:xfrm>
          <a:custGeom xmlns:a="http://schemas.openxmlformats.org/drawingml/2006/main">
            <a:rect l="l" t="t" r="r" b="b"/>
            <a:pathLst>
              <a:path w="7109728" h="7235341">
                <a:moveTo>
                  <a:pt x="7109727" y="7235342"/>
                </a:moveTo>
                <a:lnTo>
                  <a:pt x="0" y="7235342"/>
                </a:lnTo>
                <a:lnTo>
                  <a:pt x="0" y="0"/>
                </a:lnTo>
                <a:lnTo>
                  <a:pt x="7109727" y="0"/>
                </a:lnTo>
                <a:lnTo>
                  <a:pt x="7109727" y="723534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4e38902b16d4b4b">
              <a:extLst>
                <a:ext uri="{96DAC541-7B7A-43D3-8B79-37D633B846F1}">
                  <asvg:svgBlip xmlns:asvg="http://schemas.microsoft.com/office/drawing/2016/SVG/main" r:embed="R8c96b0e9166041b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需求分析">
            <a:extLst xmlns:a="http://schemas.openxmlformats.org/drawingml/2006/main">
              <a:ext uri="{FF2B5EF4-FFF2-40B4-BE49-F238E27FC236}">
                <a16:creationId xmlns:a16="http://schemas.microsoft.com/office/drawing/2014/main" id="{C242317F-E8AC-4A58-A67D-9A860FDD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81125"/>
            <a:ext cx="1381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10" name="围绕填写、审核和过程追溯，减少信息查找与反复核对">
            <a:extLst xmlns:a="http://schemas.openxmlformats.org/drawingml/2006/main">
              <a:ext uri="{FF2B5EF4-FFF2-40B4-BE49-F238E27FC236}">
                <a16:creationId xmlns:a16="http://schemas.microsoft.com/office/drawing/2014/main" id="{458A0354-4262-4A69-A135-4562EBEE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33675"/>
            <a:ext cx="1428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围绕填写、审核和过程追溯，减少信息查找与反复核对</a:t>
            </a:r>
          </a:p>
        </p:txBody>
      </p:sp>
      <p:sp>
        <p:nvSpPr>
          <p:cNvPr id="11" name="学生申请人">
            <a:extLst xmlns:a="http://schemas.openxmlformats.org/drawingml/2006/main">
              <a:ext uri="{FF2B5EF4-FFF2-40B4-BE49-F238E27FC236}">
                <a16:creationId xmlns:a16="http://schemas.microsoft.com/office/drawing/2014/main" id="{E55FD4F3-F312-41B8-8961-9EE8F987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学生申请人</a:t>
            </a:r>
          </a:p>
        </p:txBody>
      </p:sp>
      <p:sp>
        <p:nvSpPr>
          <p:cNvPr id="12" name="填写前看清要求，退回后知道如何修改。">
            <a:extLst xmlns:a="http://schemas.openxmlformats.org/drawingml/2006/main">
              <a:ext uri="{FF2B5EF4-FFF2-40B4-BE49-F238E27FC236}">
                <a16:creationId xmlns:a16="http://schemas.microsoft.com/office/drawing/2014/main" id="{BA53A2CF-4CF5-41C2-8F80-89586079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填写前看清要求，退回后知道如何修改。</a:t>
            </a:r>
          </a:p>
        </p:txBody>
      </p:sp>
      <p:sp>
        <p:nvSpPr>
          <p:cNvPr id="13" name="对应功能：申请指南、缺项提示、状态与退回意见。">
            <a:extLst xmlns:a="http://schemas.openxmlformats.org/drawingml/2006/main">
              <a:ext uri="{FF2B5EF4-FFF2-40B4-BE49-F238E27FC236}">
                <a16:creationId xmlns:a16="http://schemas.microsoft.com/office/drawing/2014/main" id="{52C3178B-72B6-4A2F-B191-204582A9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863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对应功能：申请指南、缺项提示、状态与退回意见。</a:t>
            </a:r>
          </a:p>
        </p:txBody>
      </p:sp>
      <p:sp>
        <p:nvSpPr>
          <p:cNvPr id="14" name="行政审核人">
            <a:extLst xmlns:a="http://schemas.openxmlformats.org/drawingml/2006/main">
              <a:ext uri="{FF2B5EF4-FFF2-40B4-BE49-F238E27FC236}">
                <a16:creationId xmlns:a16="http://schemas.microsoft.com/office/drawing/2014/main" id="{B26ADA08-9A72-4A93-AC50-6475F646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293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行政审核人</a:t>
            </a:r>
          </a:p>
        </p:txBody>
      </p:sp>
      <p:sp>
        <p:nvSpPr>
          <p:cNvPr id="15" name="集中核对表单事实、场地条件和相关制度。">
            <a:extLst xmlns:a="http://schemas.openxmlformats.org/drawingml/2006/main">
              <a:ext uri="{FF2B5EF4-FFF2-40B4-BE49-F238E27FC236}">
                <a16:creationId xmlns:a16="http://schemas.microsoft.com/office/drawing/2014/main" id="{749CCAAD-9361-451F-B436-1A53987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293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集中核对表单事实、场地条件和相关制度。</a:t>
            </a:r>
          </a:p>
        </p:txBody>
      </p:sp>
      <p:sp>
        <p:nvSpPr>
          <p:cNvPr id="16" name="对应功能：规则预检、带来源的审核摘要、退回文案草稿。">
            <a:extLst xmlns:a="http://schemas.openxmlformats.org/drawingml/2006/main">
              <a:ext uri="{FF2B5EF4-FFF2-40B4-BE49-F238E27FC236}">
                <a16:creationId xmlns:a16="http://schemas.microsoft.com/office/drawing/2014/main" id="{36FFFD22-4E88-43A9-B033-E8A7FAE9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19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对应功能：规则预检、带来源的审核摘要、退回文案草稿。</a:t>
            </a:r>
          </a:p>
        </p:txBody>
      </p:sp>
      <p:sp>
        <p:nvSpPr>
          <p:cNvPr id="17" name="管理者">
            <a:extLst xmlns:a="http://schemas.openxmlformats.org/drawingml/2006/main">
              <a:ext uri="{FF2B5EF4-FFF2-40B4-BE49-F238E27FC236}">
                <a16:creationId xmlns:a16="http://schemas.microsoft.com/office/drawing/2014/main" id="{A0BCB1B8-8710-4EB0-9678-A18E9015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628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8" name="查清处理依据、责任人及每次修改的内容。">
            <a:extLst xmlns:a="http://schemas.openxmlformats.org/drawingml/2006/main">
              <a:ext uri="{FF2B5EF4-FFF2-40B4-BE49-F238E27FC236}">
                <a16:creationId xmlns:a16="http://schemas.microsoft.com/office/drawing/2014/main" id="{26749762-F47E-4434-BF37-0B24EB1E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5628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查清处理依据、责任人及每次修改的内容。</a:t>
            </a:r>
          </a:p>
        </p:txBody>
      </p:sp>
      <p:sp>
        <p:nvSpPr>
          <p:cNvPr id="19" name="对应功能：申请版本、事件时间轴与 AI 运行记录。">
            <a:extLst xmlns:a="http://schemas.openxmlformats.org/drawingml/2006/main">
              <a:ext uri="{FF2B5EF4-FFF2-40B4-BE49-F238E27FC236}">
                <a16:creationId xmlns:a16="http://schemas.microsoft.com/office/drawing/2014/main" id="{4DED77AD-00A9-4EAA-927F-D93C3CA4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3534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对应功能：申请版本、事件时间轴与 AI 运行记录。</a:t>
            </a:r>
          </a:p>
        </p:txBody>
      </p:sp>
      <p:sp>
        <p:nvSpPr>
          <p:cNvPr id="20" name="03">
            <a:extLst xmlns:a="http://schemas.openxmlformats.org/drawingml/2006/main">
              <a:ext uri="{FF2B5EF4-FFF2-40B4-BE49-F238E27FC236}">
                <a16:creationId xmlns:a16="http://schemas.microsoft.com/office/drawing/2014/main" id="{86070E07-8D83-40C1-931F-4366CE32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9737469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9C7FF31-D212-4721-9DFA-0C663722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3554864" y="1028700"/>
            <a:ext cx="7109728" cy="7235341"/>
          </a:xfrm>
          <a:custGeom xmlns:a="http://schemas.openxmlformats.org/drawingml/2006/main">
            <a:rect l="l" t="t" r="r" b="b"/>
            <a:pathLst>
              <a:path w="7109728" h="7235341">
                <a:moveTo>
                  <a:pt x="0" y="7235341"/>
                </a:moveTo>
                <a:lnTo>
                  <a:pt x="7109728" y="7235341"/>
                </a:lnTo>
                <a:lnTo>
                  <a:pt x="7109728" y="0"/>
                </a:lnTo>
                <a:lnTo>
                  <a:pt x="0" y="0"/>
                </a:lnTo>
                <a:lnTo>
                  <a:pt x="0" y="723534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a99acd631e34e55">
              <a:extLst>
                <a:ext uri="{96DAC541-7B7A-43D3-8B79-37D633B846F1}">
                  <asvg:svgBlip xmlns:asvg="http://schemas.microsoft.com/office/drawing/2016/SVG/main" r:embed="Rf79a3f0c6fef43d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8936331-3385-4A09-BF7D-830B96A0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734716" y="1525829"/>
            <a:ext cx="7109728" cy="7235341"/>
          </a:xfrm>
          <a:custGeom xmlns:a="http://schemas.openxmlformats.org/drawingml/2006/main">
            <a:rect l="l" t="t" r="r" b="b"/>
            <a:pathLst>
              <a:path w="7109728" h="7235341">
                <a:moveTo>
                  <a:pt x="7109727" y="7235342"/>
                </a:moveTo>
                <a:lnTo>
                  <a:pt x="0" y="7235342"/>
                </a:lnTo>
                <a:lnTo>
                  <a:pt x="0" y="0"/>
                </a:lnTo>
                <a:lnTo>
                  <a:pt x="7109727" y="0"/>
                </a:lnTo>
                <a:lnTo>
                  <a:pt x="7109727" y="723534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a99acd631e34e55">
              <a:extLst>
                <a:ext uri="{96DAC541-7B7A-43D3-8B79-37D633B846F1}">
                  <asvg:svgBlip xmlns:asvg="http://schemas.microsoft.com/office/drawing/2016/SVG/main" r:embed="Rf79a3f0c6fef43d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AI、程序与人的分工">
            <a:extLst xmlns:a="http://schemas.openxmlformats.org/drawingml/2006/main">
              <a:ext uri="{FF2B5EF4-FFF2-40B4-BE49-F238E27FC236}">
                <a16:creationId xmlns:a16="http://schemas.microsoft.com/office/drawing/2014/main" id="{A38CD8E4-34A8-44DF-9EFD-B1166F8B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04925"/>
            <a:ext cx="1133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AI、程序与人的分工</a:t>
            </a:r>
          </a:p>
        </p:txBody>
      </p:sp>
      <p:sp>
        <p:nvSpPr>
          <p:cNvPr id="10" name="每类能力都有明确的职责">
            <a:extLst xmlns:a="http://schemas.openxmlformats.org/drawingml/2006/main">
              <a:ext uri="{FF2B5EF4-FFF2-40B4-BE49-F238E27FC236}">
                <a16:creationId xmlns:a16="http://schemas.microsoft.com/office/drawing/2014/main" id="{09FA7A7F-698E-4ED9-AD1B-754A6CEF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050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每类能力都有明确的职责</a:t>
            </a:r>
          </a:p>
        </p:txBody>
      </p:sp>
      <p:sp>
        <p:nvSpPr>
          <p:cNvPr id="11" name="01">
            <a:extLst xmlns:a="http://schemas.openxmlformats.org/drawingml/2006/main">
              <a:ext uri="{FF2B5EF4-FFF2-40B4-BE49-F238E27FC236}">
                <a16:creationId xmlns:a16="http://schemas.microsoft.com/office/drawing/2014/main" id="{5A6B2C88-48B1-432F-9D33-623CF92E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433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55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01</a:t>
            </a:r>
          </a:p>
        </p:txBody>
      </p:sp>
      <p:sp>
        <p:nvSpPr>
          <p:cNvPr id="12" name="AI 协助">
            <a:extLst xmlns:a="http://schemas.openxmlformats.org/drawingml/2006/main">
              <a:ext uri="{FF2B5EF4-FFF2-40B4-BE49-F238E27FC236}">
                <a16:creationId xmlns:a16="http://schemas.microsoft.com/office/drawing/2014/main" id="{70AFC192-7D40-4020-9292-C0A76D59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3397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AI 协助</a:t>
            </a:r>
          </a:p>
        </p:txBody>
      </p:sp>
      <p:sp>
        <p:nvSpPr>
          <p:cNvPr id="13" name="整理申请说明">
            <a:extLst xmlns:a="http://schemas.openxmlformats.org/drawingml/2006/main">
              <a:ext uri="{FF2B5EF4-FFF2-40B4-BE49-F238E27FC236}">
                <a16:creationId xmlns:a16="http://schemas.microsoft.com/office/drawing/2014/main" id="{A082A8F7-0585-4591-A922-E4A32346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315075"/>
            <a:ext cx="3667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整理申请说明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生成审核摘要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润色退回意见</a:t>
            </a:r>
          </a:p>
        </p:txBody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976CAF09-7FDA-4ADF-86B9-7F99E21B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433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55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02</a:t>
            </a:r>
          </a:p>
        </p:txBody>
      </p:sp>
      <p:sp>
        <p:nvSpPr>
          <p:cNvPr id="15" name="程序校验">
            <a:extLst xmlns:a="http://schemas.openxmlformats.org/drawingml/2006/main">
              <a:ext uri="{FF2B5EF4-FFF2-40B4-BE49-F238E27FC236}">
                <a16:creationId xmlns:a16="http://schemas.microsoft.com/office/drawing/2014/main" id="{1A6010BC-7C15-4EA0-877E-353E1E65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13397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程序校验</a:t>
            </a:r>
          </a:p>
        </p:txBody>
      </p:sp>
      <p:sp>
        <p:nvSpPr>
          <p:cNvPr id="16" name="检查字段与场地规则">
            <a:extLst xmlns:a="http://schemas.openxmlformats.org/drawingml/2006/main">
              <a:ext uri="{FF2B5EF4-FFF2-40B4-BE49-F238E27FC236}">
                <a16:creationId xmlns:a16="http://schemas.microsoft.com/office/drawing/2014/main" id="{0EC57799-59E2-4846-9DC8-D9E8ADD3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315075"/>
            <a:ext cx="3667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检查字段与场地规则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校验引用和事实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执行权限与状态控制</a:t>
            </a:r>
          </a:p>
        </p:txBody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3989362A-49C8-4920-999D-C5976DFA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9433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55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03</a:t>
            </a:r>
          </a:p>
        </p:txBody>
      </p:sp>
      <p:sp>
        <p:nvSpPr>
          <p:cNvPr id="18" name="人工决定">
            <a:extLst xmlns:a="http://schemas.openxmlformats.org/drawingml/2006/main">
              <a:ext uri="{FF2B5EF4-FFF2-40B4-BE49-F238E27FC236}">
                <a16:creationId xmlns:a16="http://schemas.microsoft.com/office/drawing/2014/main" id="{0045591A-F7A1-451D-8F68-00859090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13397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人工决定</a:t>
            </a:r>
          </a:p>
        </p:txBody>
      </p:sp>
      <p:sp>
        <p:nvSpPr>
          <p:cNvPr id="19" name="确认采纳建议">
            <a:extLst xmlns:a="http://schemas.openxmlformats.org/drawingml/2006/main">
              <a:ext uri="{FF2B5EF4-FFF2-40B4-BE49-F238E27FC236}">
                <a16:creationId xmlns:a16="http://schemas.microsoft.com/office/drawing/2014/main" id="{3EA0AC00-80A8-485A-AD13-9F0E46B2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315075"/>
            <a:ext cx="3667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确认采纳建议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评估需人工判断的风险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确认退回、批准与办结</a:t>
            </a:r>
          </a:p>
        </p:txBody>
      </p:sp>
      <p:sp>
        <p:nvSpPr>
          <p:cNvPr id="20" name="模型输出经过校验，再交给用户确认">
            <a:extLst xmlns:a="http://schemas.openxmlformats.org/drawingml/2006/main">
              <a:ext uri="{FF2B5EF4-FFF2-40B4-BE49-F238E27FC236}">
                <a16:creationId xmlns:a16="http://schemas.microsoft.com/office/drawing/2014/main" id="{622FF350-7FCC-4621-B423-9C45140B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5820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模型输出经过校验，再交给用户确认</a:t>
            </a:r>
          </a:p>
        </p:txBody>
      </p: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95402852-635A-4DAB-A4CF-7F791267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5965726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0AC93B0-FB92-4058-9A73-90824946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317219" y="-2891445"/>
            <a:ext cx="7109728" cy="7235341"/>
          </a:xfrm>
          <a:custGeom xmlns:a="http://schemas.openxmlformats.org/drawingml/2006/main">
            <a:rect l="l" t="t" r="r" b="b"/>
            <a:pathLst>
              <a:path w="7109728" h="7235341">
                <a:moveTo>
                  <a:pt x="7109727" y="7235342"/>
                </a:moveTo>
                <a:lnTo>
                  <a:pt x="0" y="7235342"/>
                </a:lnTo>
                <a:lnTo>
                  <a:pt x="0" y="0"/>
                </a:lnTo>
                <a:lnTo>
                  <a:pt x="7109727" y="0"/>
                </a:lnTo>
                <a:lnTo>
                  <a:pt x="7109727" y="723534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cd449af64164e02">
              <a:extLst>
                <a:ext uri="{96DAC541-7B7A-43D3-8B79-37D633B846F1}">
                  <asvg:svgBlip xmlns:asvg="http://schemas.microsoft.com/office/drawing/2016/SVG/main" r:embed="Rc2026202667d47e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一条场地申请的办理过程">
            <a:extLst xmlns:a="http://schemas.openxmlformats.org/drawingml/2006/main">
              <a:ext uri="{FF2B5EF4-FFF2-40B4-BE49-F238E27FC236}">
                <a16:creationId xmlns:a16="http://schemas.microsoft.com/office/drawing/2014/main" id="{730C656F-1672-4724-92E3-792A2545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81125"/>
            <a:ext cx="1323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一条场地申请的办理过程</a:t>
            </a:r>
          </a:p>
        </p:txBody>
      </p:sp>
      <p:sp>
        <p:nvSpPr>
          <p:cNvPr id="10" name="覆盖退回、修订和再次审核">
            <a:extLst xmlns:a="http://schemas.openxmlformats.org/drawingml/2006/main">
              <a:ext uri="{FF2B5EF4-FFF2-40B4-BE49-F238E27FC236}">
                <a16:creationId xmlns:a16="http://schemas.microsoft.com/office/drawing/2014/main" id="{315E4753-A652-4DA9-BBE2-67E12823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1238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覆盖退回、修订和再次审核</a:t>
            </a:r>
          </a:p>
        </p:txBody>
      </p:sp>
      <p:sp>
        <p:nvSpPr>
          <p:cNvPr id="11" name="01">
            <a:extLst xmlns:a="http://schemas.openxmlformats.org/drawingml/2006/main">
              <a:ext uri="{FF2B5EF4-FFF2-40B4-BE49-F238E27FC236}">
                <a16:creationId xmlns:a16="http://schemas.microsoft.com/office/drawing/2014/main" id="{598077E4-5CAE-4CD9-8F5D-82D6F113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3387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01</a:t>
            </a:r>
          </a:p>
        </p:txBody>
      </p:sp>
      <p:sp>
        <p:nvSpPr>
          <p:cNvPr id="12" name="填写与预检">
            <a:extLst xmlns:a="http://schemas.openxmlformats.org/drawingml/2006/main">
              <a:ext uri="{FF2B5EF4-FFF2-40B4-BE49-F238E27FC236}">
                <a16:creationId xmlns:a16="http://schemas.microsoft.com/office/drawing/2014/main" id="{569B70FC-43D4-4BFB-AC56-60A137A0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10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填写与预检</a:t>
            </a:r>
          </a:p>
        </p:txBody>
      </p:sp>
      <p:sp>
        <p:nvSpPr>
          <p:cNvPr id="13" name="学生完善申请">
            <a:extLst xmlns:a="http://schemas.openxmlformats.org/drawingml/2006/main">
              <a:ext uri="{FF2B5EF4-FFF2-40B4-BE49-F238E27FC236}">
                <a16:creationId xmlns:a16="http://schemas.microsoft.com/office/drawing/2014/main" id="{026C440B-8C0D-454C-881C-394F374A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905625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学生完善申请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程序检查六项规则</a:t>
            </a:r>
          </a:p>
        </p:txBody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62387268-B43D-4CAD-9B90-F4079E49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3387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02</a:t>
            </a:r>
          </a:p>
        </p:txBody>
      </p:sp>
      <p:sp>
        <p:nvSpPr>
          <p:cNvPr id="15" name="提交与审核">
            <a:extLst xmlns:a="http://schemas.openxmlformats.org/drawingml/2006/main">
              <a:ext uri="{FF2B5EF4-FFF2-40B4-BE49-F238E27FC236}">
                <a16:creationId xmlns:a16="http://schemas.microsoft.com/office/drawing/2014/main" id="{D8CF8CE1-6345-4E2D-B23B-9346F3B4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810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提交与审核</a:t>
            </a:r>
          </a:p>
        </p:txBody>
      </p:sp>
      <p:sp>
        <p:nvSpPr>
          <p:cNvPr id="16" name="学生确认提交">
            <a:extLst xmlns:a="http://schemas.openxmlformats.org/drawingml/2006/main">
              <a:ext uri="{FF2B5EF4-FFF2-40B4-BE49-F238E27FC236}">
                <a16:creationId xmlns:a16="http://schemas.microsoft.com/office/drawing/2014/main" id="{2016219A-68EE-4E53-A246-0CB07273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05625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学生确认提交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管理员核对事实和证据</a:t>
            </a:r>
          </a:p>
        </p:txBody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A2F3F5B3-E45D-41D6-8B3F-F9FC0DD5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3387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03</a:t>
            </a:r>
          </a:p>
        </p:txBody>
      </p:sp>
      <p:sp>
        <p:nvSpPr>
          <p:cNvPr id="18" name="退回与修订">
            <a:extLst xmlns:a="http://schemas.openxmlformats.org/drawingml/2006/main">
              <a:ext uri="{FF2B5EF4-FFF2-40B4-BE49-F238E27FC236}">
                <a16:creationId xmlns:a16="http://schemas.microsoft.com/office/drawing/2014/main" id="{BAA61527-9D7E-4A38-884C-DC9BF922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10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退回与修订</a:t>
            </a:r>
          </a:p>
        </p:txBody>
      </p:sp>
      <p:sp>
        <p:nvSpPr>
          <p:cNvPr id="19" name="管理员说明修改要求">
            <a:extLst xmlns:a="http://schemas.openxmlformats.org/drawingml/2006/main">
              <a:ext uri="{FF2B5EF4-FFF2-40B4-BE49-F238E27FC236}">
                <a16:creationId xmlns:a16="http://schemas.microsoft.com/office/drawing/2014/main" id="{1F5CAFA2-0DB5-4313-A3EA-0670A940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905625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管理员说明修改要求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学生创建新版本并重提</a:t>
            </a:r>
          </a:p>
        </p:txBody>
      </p:sp>
      <p:sp>
        <p:nvSpPr>
          <p:cNvPr id="20" name="04">
            <a:extLst xmlns:a="http://schemas.openxmlformats.org/drawingml/2006/main">
              <a:ext uri="{FF2B5EF4-FFF2-40B4-BE49-F238E27FC236}">
                <a16:creationId xmlns:a16="http://schemas.microsoft.com/office/drawing/2014/main" id="{6EB5122F-2D6A-48B7-BBCF-538E23DC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33387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675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04</a:t>
            </a:r>
          </a:p>
        </p:txBody>
      </p:sp>
      <p:sp>
        <p:nvSpPr>
          <p:cNvPr id="21" name="批准与办结">
            <a:extLst xmlns:a="http://schemas.openxmlformats.org/drawingml/2006/main">
              <a:ext uri="{FF2B5EF4-FFF2-40B4-BE49-F238E27FC236}">
                <a16:creationId xmlns:a16="http://schemas.microsoft.com/office/drawing/2014/main" id="{D694994E-2977-4249-8B3B-1DD4427B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810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批准与办结</a:t>
            </a:r>
          </a:p>
        </p:txBody>
      </p:sp>
      <p:sp>
        <p:nvSpPr>
          <p:cNvPr id="22" name="管理员确认处理">
            <a:extLst xmlns:a="http://schemas.openxmlformats.org/drawingml/2006/main">
              <a:ext uri="{FF2B5EF4-FFF2-40B4-BE49-F238E27FC236}">
                <a16:creationId xmlns:a16="http://schemas.microsoft.com/office/drawing/2014/main" id="{5B55DD38-1893-4D43-A3DD-23B09C2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905625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管理员确认处理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记录状态与操作时间</a:t>
            </a:r>
          </a:p>
        </p:txBody>
      </p:sp>
      <p:sp>
        <p:nvSpPr>
          <p:cNvPr id="23" name="每次处理都保留操作者、版本和事件记录">
            <a:extLst xmlns:a="http://schemas.openxmlformats.org/drawingml/2006/main">
              <a:ext uri="{FF2B5EF4-FFF2-40B4-BE49-F238E27FC236}">
                <a16:creationId xmlns:a16="http://schemas.microsoft.com/office/drawing/2014/main" id="{AEE3F05C-72D7-4506-B9AE-B3EBADE4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839200"/>
            <a:ext cx="1476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每次处理都保留操作者、版本和事件记录</a:t>
            </a:r>
          </a:p>
        </p:txBody>
      </p:sp>
      <p:sp>
        <p:nvSpPr>
          <p:cNvPr id="24" name="05">
            <a:extLst xmlns:a="http://schemas.openxmlformats.org/drawingml/2006/main">
              <a:ext uri="{FF2B5EF4-FFF2-40B4-BE49-F238E27FC236}">
                <a16:creationId xmlns:a16="http://schemas.microsoft.com/office/drawing/2014/main" id="{FBD2D83A-E25D-44EB-98AF-C5ADBF38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7488316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产品界面与核心功能">
            <a:extLst xmlns:a="http://schemas.openxmlformats.org/drawingml/2006/main">
              <a:ext uri="{FF2B5EF4-FFF2-40B4-BE49-F238E27FC236}">
                <a16:creationId xmlns:a16="http://schemas.microsoft.com/office/drawing/2014/main" id="{1BA84122-C79B-4790-97BA-C87FFFB6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90650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产品界面与核心功能</a:t>
            </a:r>
          </a:p>
        </p:txBody>
      </p:sp>
      <p:sp>
        <p:nvSpPr>
          <p:cNvPr id="2" name="学生申请、管理员审核">
            <a:extLst xmlns:a="http://schemas.openxmlformats.org/drawingml/2006/main">
              <a:ext uri="{FF2B5EF4-FFF2-40B4-BE49-F238E27FC236}">
                <a16:creationId xmlns:a16="http://schemas.microsoft.com/office/drawing/2014/main" id="{4FFA0798-1C2B-438B-A417-74A8286B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962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学生申请、管理员审核</a:t>
            </a:r>
          </a:p>
          <a:p xmlns:a="http://schemas.openxmlformats.org/drawingml/2006/main">
            <a:pPr algn="l">
              <a:def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在同一个工作台完成</a:t>
            </a:r>
          </a:p>
        </p:txBody>
      </p:sp>
      <p:sp>
        <p:nvSpPr>
          <p:cNvPr id="3" name="申请区">
            <a:extLst xmlns:a="http://schemas.openxmlformats.org/drawingml/2006/main">
              <a:ext uri="{FF2B5EF4-FFF2-40B4-BE49-F238E27FC236}">
                <a16:creationId xmlns:a16="http://schemas.microsoft.com/office/drawing/2014/main" id="{6B54FC3A-93EC-4D36-AD4E-95BBCF87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申请区</a:t>
            </a:r>
          </a:p>
        </p:txBody>
      </p:sp>
      <p:sp>
        <p:nvSpPr>
          <p:cNvPr id="4" name="填写活动信息，查看预检与 AI 建议">
            <a:extLst xmlns:a="http://schemas.openxmlformats.org/drawingml/2006/main">
              <a:ext uri="{FF2B5EF4-FFF2-40B4-BE49-F238E27FC236}">
                <a16:creationId xmlns:a16="http://schemas.microsoft.com/office/drawing/2014/main" id="{E5FD2D8B-11B8-4430-9DFE-1F420918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341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填写活动信息，查看预检与 AI 建议</a:t>
            </a:r>
          </a:p>
        </p:txBody>
      </p:sp>
      <p:sp>
        <p:nvSpPr>
          <p:cNvPr id="5" name="审核与证据">
            <a:extLst xmlns:a="http://schemas.openxmlformats.org/drawingml/2006/main">
              <a:ext uri="{FF2B5EF4-FFF2-40B4-BE49-F238E27FC236}">
                <a16:creationId xmlns:a16="http://schemas.microsoft.com/office/drawing/2014/main" id="{156DC1B9-A165-42D9-9190-6835253A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438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审核与证据</a:t>
            </a:r>
          </a:p>
        </p:txBody>
      </p:sp>
      <p:sp>
        <p:nvSpPr>
          <p:cNvPr id="6" name="查看来源、处理意见、版本与运行记录">
            <a:extLst xmlns:a="http://schemas.openxmlformats.org/drawingml/2006/main">
              <a:ext uri="{FF2B5EF4-FFF2-40B4-BE49-F238E27FC236}">
                <a16:creationId xmlns:a16="http://schemas.microsoft.com/office/drawing/2014/main" id="{306F7609-38FB-4E97-9E4E-AC43F072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3058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查看来源、处理意见、版本与运行记录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fb575c76148b4"/>
          <a:stretch xmlns:a="http://schemas.openxmlformats.org/drawingml/2006/main"/>
        </p:blipFill>
        <p:spPr>
          <a:xfrm xmlns:a="http://schemas.openxmlformats.org/drawingml/2006/main">
            <a:off x="11525250" y="870535"/>
            <a:ext cx="4857750" cy="8564980"/>
          </a:xfrm>
          <a:prstGeom xmlns:a="http://schemas.openxmlformats.org/drawingml/2006/main" prst="rect">
            <a:avLst/>
          </a:prstGeom>
        </p:spPr>
      </p:pic>
      <p:sp>
        <p:nvSpPr>
          <p:cNvPr id="8" name="06">
            <a:extLst xmlns:a="http://schemas.openxmlformats.org/drawingml/2006/main">
              <a:ext uri="{FF2B5EF4-FFF2-40B4-BE49-F238E27FC236}">
                <a16:creationId xmlns:a16="http://schemas.microsoft.com/office/drawing/2014/main" id="{913535BF-6717-47F1-A8F5-9B1A44D4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5062292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系统架构">
            <a:extLst xmlns:a="http://schemas.openxmlformats.org/drawingml/2006/main">
              <a:ext uri="{FF2B5EF4-FFF2-40B4-BE49-F238E27FC236}">
                <a16:creationId xmlns:a16="http://schemas.microsoft.com/office/drawing/2014/main" id="{E5B9D7B6-ADDB-4727-B937-F00B839C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57300"/>
            <a:ext cx="1343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2" name="交互层">
            <a:extLst xmlns:a="http://schemas.openxmlformats.org/drawingml/2006/main">
              <a:ext uri="{FF2B5EF4-FFF2-40B4-BE49-F238E27FC236}">
                <a16:creationId xmlns:a16="http://schemas.microsoft.com/office/drawing/2014/main" id="{CB1A0169-3EE8-4FC6-81C6-07652DED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3" name="学生申请、审核台、场地时段、知识库与证据视图">
            <a:extLst xmlns:a="http://schemas.openxmlformats.org/drawingml/2006/main">
              <a:ext uri="{FF2B5EF4-FFF2-40B4-BE49-F238E27FC236}">
                <a16:creationId xmlns:a16="http://schemas.microsoft.com/office/drawing/2014/main" id="{5751C775-2ACB-413A-9271-F0B486E1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71825"/>
            <a:ext cx="1162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学生申请、审核台、场地时段、知识库与证据视图</a:t>
            </a:r>
          </a:p>
        </p:txBody>
      </p:sp>
      <p:sp>
        <p:nvSpPr>
          <p:cNvPr id="4" name="领域层">
            <a:extLst xmlns:a="http://schemas.openxmlformats.org/drawingml/2006/main">
              <a:ext uri="{FF2B5EF4-FFF2-40B4-BE49-F238E27FC236}">
                <a16:creationId xmlns:a16="http://schemas.microsoft.com/office/drawing/2014/main" id="{52A18782-638B-4538-B23D-B14D0F08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576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领域层</a:t>
            </a:r>
          </a:p>
        </p:txBody>
      </p:sp>
      <p:sp>
        <p:nvSpPr>
          <p:cNvPr id="5" name="表单校验、规则引擎、状态机、版本和权限">
            <a:extLst xmlns:a="http://schemas.openxmlformats.org/drawingml/2006/main">
              <a:ext uri="{FF2B5EF4-FFF2-40B4-BE49-F238E27FC236}">
                <a16:creationId xmlns:a16="http://schemas.microsoft.com/office/drawing/2014/main" id="{F235C85F-E130-453C-96BC-3342D9B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1162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表单校验、规则引擎、状态机、版本和权限</a:t>
            </a:r>
          </a:p>
        </p:txBody>
      </p:sp>
      <p:sp>
        <p:nvSpPr>
          <p:cNvPr id="6" name="Agent 层">
            <a:extLst xmlns:a="http://schemas.openxmlformats.org/drawingml/2006/main">
              <a:ext uri="{FF2B5EF4-FFF2-40B4-BE49-F238E27FC236}">
                <a16:creationId xmlns:a16="http://schemas.microsoft.com/office/drawing/2014/main" id="{A7FECFD8-F7DB-4F9E-87F9-C0887C30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Agent 层</a:t>
            </a:r>
          </a:p>
        </p:txBody>
      </p:sp>
      <p:sp>
        <p:nvSpPr>
          <p:cNvPr id="7" name="任务模板、最小上下文、输出解析、校验与降级">
            <a:extLst xmlns:a="http://schemas.openxmlformats.org/drawingml/2006/main">
              <a:ext uri="{FF2B5EF4-FFF2-40B4-BE49-F238E27FC236}">
                <a16:creationId xmlns:a16="http://schemas.microsoft.com/office/drawing/2014/main" id="{EBD9D376-E901-4B72-91EE-FB061B0C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76875"/>
            <a:ext cx="1162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任务模板、最小上下文、输出解析、校验与降级</a:t>
            </a:r>
          </a:p>
        </p:txBody>
      </p:sp>
      <p:sp>
        <p:nvSpPr>
          <p:cNvPr id="8" name="知识层">
            <a:extLst xmlns:a="http://schemas.openxmlformats.org/drawingml/2006/main">
              <a:ext uri="{FF2B5EF4-FFF2-40B4-BE49-F238E27FC236}">
                <a16:creationId xmlns:a16="http://schemas.microsoft.com/office/drawing/2014/main" id="{0A0B7DD6-85D8-4F12-A31F-B5A5878D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627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9" name="场地规则、申请指南、设备说明与来源片段">
            <a:extLst xmlns:a="http://schemas.openxmlformats.org/drawingml/2006/main">
              <a:ext uri="{FF2B5EF4-FFF2-40B4-BE49-F238E27FC236}">
                <a16:creationId xmlns:a16="http://schemas.microsoft.com/office/drawing/2014/main" id="{D2326441-7388-4511-B428-C7B67957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629400"/>
            <a:ext cx="1162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场地规则、申请指南、设备说明与来源片段</a:t>
            </a:r>
          </a:p>
        </p:txBody>
      </p:sp>
      <p:sp>
        <p:nvSpPr>
          <p:cNvPr id="10" name="数据层">
            <a:extLst xmlns:a="http://schemas.openxmlformats.org/drawingml/2006/main">
              <a:ext uri="{FF2B5EF4-FFF2-40B4-BE49-F238E27FC236}">
                <a16:creationId xmlns:a16="http://schemas.microsoft.com/office/drawing/2014/main" id="{02C7E4BB-DA7D-4AF9-AD38-62BF69C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15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11" name="D1 / SQLite 保存事务、版本、事件和 AI 运行">
            <a:extLst xmlns:a="http://schemas.openxmlformats.org/drawingml/2006/main">
              <a:ext uri="{FF2B5EF4-FFF2-40B4-BE49-F238E27FC236}">
                <a16:creationId xmlns:a16="http://schemas.microsoft.com/office/drawing/2014/main" id="{9B4DD31C-A4C1-4ABD-8090-4D499578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781925"/>
            <a:ext cx="1162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D1 / SQLite 保存事务、版本、事件和 AI 运行</a:t>
            </a:r>
          </a:p>
        </p:txBody>
      </p:sp>
      <p:sp>
        <p:nvSpPr>
          <p:cNvPr id="12" name="自研 Agent 任务层 · React / Vinext ">
            <a:extLst xmlns:a="http://schemas.openxmlformats.org/drawingml/2006/main">
              <a:ext uri="{FF2B5EF4-FFF2-40B4-BE49-F238E27FC236}">
                <a16:creationId xmlns:a16="http://schemas.microsoft.com/office/drawing/2014/main" id="{E3662ED4-3C88-421C-A551-FAA90647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201150"/>
            <a:ext cx="1419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自研 Agent 任务层 · React / Vinext · Cloudflare Workers + D1</a:t>
            </a:r>
          </a:p>
        </p:txBody>
      </p:sp>
      <p:sp>
        <p:nvSpPr>
          <p:cNvPr id="13" name="07">
            <a:extLst xmlns:a="http://schemas.openxmlformats.org/drawingml/2006/main">
              <a:ext uri="{FF2B5EF4-FFF2-40B4-BE49-F238E27FC236}">
                <a16:creationId xmlns:a16="http://schemas.microsoft.com/office/drawing/2014/main" id="{6A302E4C-04EB-44C1-B67D-835E4DA0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78044173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412F008-3C88-4A45-AAFD-563208A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78749" y="-1895416"/>
            <a:ext cx="7203182" cy="7330447"/>
          </a:xfrm>
          <a:custGeom xmlns:a="http://schemas.openxmlformats.org/drawingml/2006/main">
            <a:rect l="l" t="t" r="r" b="b"/>
            <a:pathLst>
              <a:path w="7203182" h="7330447">
                <a:moveTo>
                  <a:pt x="0" y="0"/>
                </a:moveTo>
                <a:lnTo>
                  <a:pt x="7203183" y="0"/>
                </a:lnTo>
                <a:lnTo>
                  <a:pt x="7203183" y="7330447"/>
                </a:lnTo>
                <a:lnTo>
                  <a:pt x="0" y="733044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e369e7c7f44c24">
              <a:extLst>
                <a:ext uri="{96DAC541-7B7A-43D3-8B79-37D633B846F1}">
                  <asvg:svgBlip xmlns:asvg="http://schemas.microsoft.com/office/drawing/2016/SVG/main" r:embed="R7f671ff4ccbd4c7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AI 承担的三个任务">
            <a:extLst xmlns:a="http://schemas.openxmlformats.org/drawingml/2006/main">
              <a:ext uri="{FF2B5EF4-FFF2-40B4-BE49-F238E27FC236}">
                <a16:creationId xmlns:a16="http://schemas.microsoft.com/office/drawing/2014/main" id="{F5E1965B-5450-46D8-A25E-A7216CDF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81125"/>
            <a:ext cx="1390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AI 承担的三个任务</a:t>
            </a:r>
          </a:p>
        </p:txBody>
      </p:sp>
      <p:sp>
        <p:nvSpPr>
          <p:cNvPr id="4" name="整理申请说明">
            <a:extLst xmlns:a="http://schemas.openxmlformats.org/drawingml/2006/main">
              <a:ext uri="{FF2B5EF4-FFF2-40B4-BE49-F238E27FC236}">
                <a16:creationId xmlns:a16="http://schemas.microsoft.com/office/drawing/2014/main" id="{89D5C3D9-FDBD-4BE8-B0D0-C265721C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整理申请说明</a:t>
            </a:r>
          </a:p>
        </p:txBody>
      </p:sp>
      <p:sp>
        <p:nvSpPr>
          <p:cNvPr id="5" name="读取已填字段和填写指南，给出文案与缺项建议。">
            <a:extLst xmlns:a="http://schemas.openxmlformats.org/drawingml/2006/main">
              <a:ext uri="{FF2B5EF4-FFF2-40B4-BE49-F238E27FC236}">
                <a16:creationId xmlns:a16="http://schemas.microsoft.com/office/drawing/2014/main" id="{7363178D-71FE-4D48-8638-29217BB9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读取已填字段和填写指南，给出文案与缺项建议。</a:t>
            </a:r>
          </a:p>
        </p:txBody>
      </p:sp>
      <p:sp>
        <p:nvSpPr>
          <p:cNvPr id="6" name="人数、日期等事实保留原值，建议由学生确认。">
            <a:extLst xmlns:a="http://schemas.openxmlformats.org/drawingml/2006/main">
              <a:ext uri="{FF2B5EF4-FFF2-40B4-BE49-F238E27FC236}">
                <a16:creationId xmlns:a16="http://schemas.microsoft.com/office/drawing/2014/main" id="{9508C953-3412-4C30-B3C1-C33C54BF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24325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人数、日期等事实保留原值，建议由学生确认。</a:t>
            </a:r>
          </a:p>
        </p:txBody>
      </p:sp>
      <p:sp>
        <p:nvSpPr>
          <p:cNvPr id="7" name="生成审核摘要">
            <a:extLst xmlns:a="http://schemas.openxmlformats.org/drawingml/2006/main">
              <a:ext uri="{FF2B5EF4-FFF2-40B4-BE49-F238E27FC236}">
                <a16:creationId xmlns:a16="http://schemas.microsoft.com/office/drawing/2014/main" id="{710CF556-6148-4274-A6D9-B1688EF6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生成审核摘要</a:t>
            </a:r>
          </a:p>
        </p:txBody>
      </p:sp>
      <p:sp>
        <p:nvSpPr>
          <p:cNvPr id="8" name="汇总申请事实、规则结果和知识来源。">
            <a:extLst xmlns:a="http://schemas.openxmlformats.org/drawingml/2006/main">
              <a:ext uri="{FF2B5EF4-FFF2-40B4-BE49-F238E27FC236}">
                <a16:creationId xmlns:a16="http://schemas.microsoft.com/office/drawing/2014/main" id="{7BCA4E5B-0D71-4A15-8278-51D9BAFF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67325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汇总申请事实、规则结果和知识来源。</a:t>
            </a:r>
          </a:p>
        </p:txBody>
      </p:sp>
      <p:sp>
        <p:nvSpPr>
          <p:cNvPr id="9" name="摘要提供证据引用，供管理员判断。">
            <a:extLst xmlns:a="http://schemas.openxmlformats.org/drawingml/2006/main">
              <a:ext uri="{FF2B5EF4-FFF2-40B4-BE49-F238E27FC236}">
                <a16:creationId xmlns:a16="http://schemas.microsoft.com/office/drawing/2014/main" id="{AB0CDA3E-3303-4F3C-A70B-F312F8BC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5790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摘要提供证据引用，供管理员判断。</a:t>
            </a:r>
          </a:p>
        </p:txBody>
      </p:sp>
      <p:sp>
        <p:nvSpPr>
          <p:cNvPr id="10" name="润色退回意见">
            <a:extLst xmlns:a="http://schemas.openxmlformats.org/drawingml/2006/main">
              <a:ext uri="{FF2B5EF4-FFF2-40B4-BE49-F238E27FC236}">
                <a16:creationId xmlns:a16="http://schemas.microsoft.com/office/drawing/2014/main" id="{FB685D0B-B8B5-4BC8-AA8A-EBA6738E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0090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润色退回意见</a:t>
            </a:r>
          </a:p>
        </p:txBody>
      </p:sp>
      <p:sp>
        <p:nvSpPr>
          <p:cNvPr id="11" name="根据已确认的退回原因，说明修改要求。">
            <a:extLst xmlns:a="http://schemas.openxmlformats.org/drawingml/2006/main">
              <a:ext uri="{FF2B5EF4-FFF2-40B4-BE49-F238E27FC236}">
                <a16:creationId xmlns:a16="http://schemas.microsoft.com/office/drawing/2014/main" id="{475CD0E4-FF0E-4BF4-9899-3DC0C0B3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200900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根据已确认的退回原因，说明修改要求。</a:t>
            </a:r>
          </a:p>
        </p:txBody>
      </p:sp>
      <p:sp>
        <p:nvSpPr>
          <p:cNvPr id="12" name="保留原有理由，文案经人工确认后使用。">
            <a:extLst xmlns:a="http://schemas.openxmlformats.org/drawingml/2006/main">
              <a:ext uri="{FF2B5EF4-FFF2-40B4-BE49-F238E27FC236}">
                <a16:creationId xmlns:a16="http://schemas.microsoft.com/office/drawing/2014/main" id="{F93821BF-F737-43FF-B0AF-BAB1A2AC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991475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保留原有理由，文案经人工确认后使用。</a:t>
            </a:r>
          </a:p>
        </p:txBody>
      </p:sp>
      <p:sp>
        <p:nvSpPr>
          <p:cNvPr id="13" name="08">
            <a:extLst xmlns:a="http://schemas.openxmlformats.org/drawingml/2006/main">
              <a:ext uri="{FF2B5EF4-FFF2-40B4-BE49-F238E27FC236}">
                <a16:creationId xmlns:a16="http://schemas.microsoft.com/office/drawing/2014/main" id="{2F90635C-B8DF-45D5-85EF-0E19F0E9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45133069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834B26D-37F7-43DC-9340-D328912F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39970" y="793353"/>
            <a:ext cx="5645151" cy="5645151"/>
          </a:xfrm>
          <a:custGeom xmlns:a="http://schemas.openxmlformats.org/drawingml/2006/main">
            <a:rect l="l" t="t" r="r" b="b"/>
            <a:pathLst>
              <a:path w="5645151" h="5645151">
                <a:moveTo>
                  <a:pt x="0" y="0"/>
                </a:moveTo>
                <a:lnTo>
                  <a:pt x="5645152" y="0"/>
                </a:lnTo>
                <a:lnTo>
                  <a:pt x="5645152" y="5645151"/>
                </a:lnTo>
                <a:lnTo>
                  <a:pt x="0" y="564515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3e8c2834c864c84">
              <a:extLst>
                <a:ext uri="{96DAC541-7B7A-43D3-8B79-37D633B846F1}">
                  <asvg:svgBlip xmlns:asvg="http://schemas.microsoft.com/office/drawing/2016/SVG/main" r:embed="Rc29144387361426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20E82A3C-C21B-4EE0-B0E1-72395FF3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85032" y="7484032"/>
            <a:ext cx="1774268" cy="1774268"/>
          </a:xfrm>
          <a:custGeom xmlns:a="http://schemas.openxmlformats.org/drawingml/2006/main">
            <a:rect l="l" t="t" r="r" b="b"/>
            <a:pathLst>
              <a:path w="1774268" h="1774268">
                <a:moveTo>
                  <a:pt x="0" y="0"/>
                </a:moveTo>
                <a:lnTo>
                  <a:pt x="1774268" y="0"/>
                </a:lnTo>
                <a:lnTo>
                  <a:pt x="1774268" y="1774268"/>
                </a:lnTo>
                <a:lnTo>
                  <a:pt x="0" y="17742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3e8c2834c864c84">
              <a:extLst>
                <a:ext uri="{96DAC541-7B7A-43D3-8B79-37D633B846F1}">
                  <asvg:svgBlip xmlns:asvg="http://schemas.microsoft.com/office/drawing/2016/SVG/main" r:embed="Rc29144387361426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知识与数据来源">
            <a:extLst xmlns:a="http://schemas.openxmlformats.org/drawingml/2006/main">
              <a:ext uri="{FF2B5EF4-FFF2-40B4-BE49-F238E27FC236}">
                <a16:creationId xmlns:a16="http://schemas.microsoft.com/office/drawing/2014/main" id="{6387708D-5BA9-4866-A5EA-9B5B65D4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81125"/>
            <a:ext cx="1466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知识与数据来源</a:t>
            </a:r>
          </a:p>
        </p:txBody>
      </p:sp>
      <p:sp>
        <p:nvSpPr>
          <p:cNvPr id="9" name="当前使用模拟材料和场地数据进行功能验证">
            <a:extLst xmlns:a="http://schemas.openxmlformats.org/drawingml/2006/main">
              <a:ext uri="{FF2B5EF4-FFF2-40B4-BE49-F238E27FC236}">
                <a16:creationId xmlns:a16="http://schemas.microsoft.com/office/drawing/2014/main" id="{51EE60D6-AEE6-43F5-B0EB-46FF0253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1457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当前使用模拟材料和场地数据进行功能验证</a:t>
            </a:r>
          </a:p>
        </p:txBody>
      </p:sp>
      <p:sp>
        <p:nvSpPr>
          <p:cNvPr id="10" name="知识材料">
            <a:extLst xmlns:a="http://schemas.openxmlformats.org/drawingml/2006/main">
              <a:ext uri="{FF2B5EF4-FFF2-40B4-BE49-F238E27FC236}">
                <a16:creationId xmlns:a16="http://schemas.microsoft.com/office/drawing/2014/main" id="{BE550D87-88CF-410A-A73D-0F3B0CCA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知识材料</a:t>
            </a:r>
          </a:p>
        </p:txBody>
      </p:sp>
      <p:sp>
        <p:nvSpPr>
          <p:cNvPr id="11" name="4 份演示材料：场地申请办法、设备使用说明、">
            <a:extLst xmlns:a="http://schemas.openxmlformats.org/drawingml/2006/main">
              <a:ext uri="{FF2B5EF4-FFF2-40B4-BE49-F238E27FC236}">
                <a16:creationId xmlns:a16="http://schemas.microsoft.com/office/drawing/2014/main" id="{0DC40F88-8C17-4262-BED9-B72C38F0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4 份演示材料：场地申请办法、设备使用说明、</a:t>
            </a:r>
          </a:p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开放时间表、活动安全提示。每条保留编号、</a:t>
            </a:r>
          </a:p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标题、来源和正文。</a:t>
            </a:r>
          </a:p>
        </p:txBody>
      </p:sp>
      <p:sp>
        <p:nvSpPr>
          <p:cNvPr id="12" name="业务数据">
            <a:extLst xmlns:a="http://schemas.openxmlformats.org/drawingml/2006/main">
              <a:ext uri="{FF2B5EF4-FFF2-40B4-BE49-F238E27FC236}">
                <a16:creationId xmlns:a16="http://schemas.microsoft.com/office/drawing/2014/main" id="{791D532B-D9DC-4464-9F01-669AAE96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96050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13" name="3 个模拟场地及既有预约时段，提供容量、">
            <a:extLst xmlns:a="http://schemas.openxmlformats.org/drawingml/2006/main">
              <a:ext uri="{FF2B5EF4-FFF2-40B4-BE49-F238E27FC236}">
                <a16:creationId xmlns:a16="http://schemas.microsoft.com/office/drawing/2014/main" id="{AABC31BC-5063-4040-9E33-67090F12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9605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3 个模拟场地及既有预约时段，提供容量、</a:t>
            </a:r>
          </a:p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设备和开放时间。申请字段由用户填写。</a:t>
            </a:r>
          </a:p>
        </p:txBody>
      </p:sp>
      <p:sp>
        <p:nvSpPr>
          <p:cNvPr id="14" name="检索方式">
            <a:extLst xmlns:a="http://schemas.openxmlformats.org/drawingml/2006/main">
              <a:ext uri="{FF2B5EF4-FFF2-40B4-BE49-F238E27FC236}">
                <a16:creationId xmlns:a16="http://schemas.microsoft.com/office/drawing/2014/main" id="{C1A38408-BC06-4B85-9CAA-F1E33A3E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324850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检索方式</a:t>
            </a:r>
          </a:p>
        </p:txBody>
      </p:sp>
      <p:sp>
        <p:nvSpPr>
          <p:cNvPr id="15" name="按任务及规则选取相关片段，模型引用须通过白名单校验。">
            <a:extLst xmlns:a="http://schemas.openxmlformats.org/drawingml/2006/main">
              <a:ext uri="{FF2B5EF4-FFF2-40B4-BE49-F238E27FC236}">
                <a16:creationId xmlns:a16="http://schemas.microsoft.com/office/drawing/2014/main" id="{3555E798-43DE-490A-B591-FA90ADA0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629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按任务及规则选取相关片段，模型引用须通过白名单校验。</a:t>
            </a:r>
          </a:p>
        </p:txBody>
      </p:sp>
      <p:sp>
        <p:nvSpPr>
          <p:cNvPr id="16" name="演示材料与场地数据不代表厦门大学正式制度或实际场地配置">
            <a:extLst xmlns:a="http://schemas.openxmlformats.org/drawingml/2006/main">
              <a:ext uri="{FF2B5EF4-FFF2-40B4-BE49-F238E27FC236}">
                <a16:creationId xmlns:a16="http://schemas.microsoft.com/office/drawing/2014/main" id="{8CD39216-956C-467F-98DB-2E34ADFE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496425"/>
            <a:ext cx="1485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演示材料与场地数据不代表厦门大学正式制度或实际场地配置</a:t>
            </a:r>
          </a:p>
        </p:txBody>
      </p:sp>
      <p:sp>
        <p:nvSpPr>
          <p:cNvPr id="17" name="09">
            <a:extLst xmlns:a="http://schemas.openxmlformats.org/drawingml/2006/main">
              <a:ext uri="{FF2B5EF4-FFF2-40B4-BE49-F238E27FC236}">
                <a16:creationId xmlns:a16="http://schemas.microsoft.com/office/drawing/2014/main" id="{C1884E15-314E-46B4-AA29-CCCDAA22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07160300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 xmlns:p="http://schemas.openxmlformats.org/presentationml/2006/main">
  <p:cSld>
    <p:bg>
      <p:bgPr>
        <a:gradFill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Freeform 8">
            <a:extLst>
              <a:ext uri="{FF2B5EF4-FFF2-40B4-BE49-F238E27FC236}">
                <ns2:creationId id="{CE1AEDC4-76D1-4074-9F4D-E95A3190576A}"/>
              </a:ext>
            </a:extLst>
          </p:cNvPr>
          <p:cNvSpPr>
            <a:spLocks noGrp="1"/>
          </p:cNvSpPr>
          <p:nvPr/>
        </p:nvSpPr>
        <p:spPr>
          <a:xfrm rot="0" flipH="1" flipV="1">
            <a:off x="14317219" y="-2891445"/>
            <a:ext cx="7109728" cy="7235341"/>
          </a:xfrm>
          <a:custGeom>
            <a:rect l="l" t="t" r="r" b="b"/>
            <a:pathLst>
              <a:path w="7109728" h="7235341">
                <a:moveTo>
                  <a:pt x="7109727" y="7235342"/>
                </a:moveTo>
                <a:lnTo>
                  <a:pt x="0" y="7235342"/>
                </a:lnTo>
                <a:lnTo>
                  <a:pt x="0" y="0"/>
                </a:lnTo>
                <a:lnTo>
                  <a:pt x="7109727" y="0"/>
                </a:lnTo>
                <a:lnTo>
                  <a:pt x="7109727" y="7235342"/>
                </a:lnTo>
                <a:close/>
              </a:path>
            </a:pathLst>
          </a:custGeom>
          <a:blipFill>
            <a:blip ns3:embed="R998714a582574c10">
              <a:extLst>
                <a:ext uri="{96DAC541-7B7A-43D3-8B79-37D633B846F1}">
                  <ns4:svgBlip ns3:embed="Rb3f0342d419246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六项规则，逐项核对">
            <a:extLst>
              <a:ext uri="{FF2B5EF4-FFF2-40B4-BE49-F238E27FC236}">
                <ns2:creationId id="{8652D21C-0994-4863-9D86-6F015943D5F5}"/>
              </a:ext>
            </a:extLst>
          </p:cNvPr>
          <p:cNvSpPr>
            <a:spLocks noGrp="1"/>
          </p:cNvSpPr>
          <p:nvPr/>
        </p:nvSpPr>
        <p:spPr>
          <a:xfrm>
            <a:off x="1381125" y="1333500"/>
            <a:ext cx="1381125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六项规则，逐项核对</a:t>
            </a:r>
          </a:p>
        </p:txBody>
      </p:sp>
      <p:sp>
        <p:nvSpPr>
          <p:cNvPr id="10" name="预检同时返回判定结果和可核对的依据">
            <a:extLst>
              <a:ext uri="{FF2B5EF4-FFF2-40B4-BE49-F238E27FC236}">
                <ns2:creationId id="{60CAD026-CEB4-44EE-BF65-C25A456B6AB0}"/>
              </a:ext>
            </a:extLst>
          </p:cNvPr>
          <p:cNvSpPr>
            <a:spLocks noGrp="1"/>
          </p:cNvSpPr>
          <p:nvPr/>
        </p:nvSpPr>
        <p:spPr>
          <a:xfrm>
            <a:off x="1428750" y="2714625"/>
            <a:ext cx="13239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6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预检同时返回判定结果和可核对的依据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="1352550" y="3800475"/>
          <a:ext cx="15335250" cy="4972050"/>
        </p:xfrm>
        <a:graphic>
          <a:graphicData uri="http://schemas.openxmlformats.org/drawingml/2006/table">
            <a:tbl>
              <a:tblPr firstRow="0" firstCol="0" lastCol="0" bandRow="0"/>
              <a:tblGrid>
                <a:gridCol w="3381375"/>
                <a:gridCol w="6715125"/>
                <a:gridCol w="5238750"/>
              </a:tblGrid>
              <a:tr h="6286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DDF4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marL="76200" marR="114300" marT="152400" marB="114300" anchor="ctr">
                    <a:solidFill>
                      <a:srgbClr val="173B72"/>
                    </a:solidFill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DDF4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通过条件</a:t>
                      </a:r>
                    </a:p>
                  </a:txBody>
                  <a:tcPr marL="76200" marR="114300" marT="152400" marB="114300" anchor="ctr">
                    <a:solidFill>
                      <a:srgbClr val="173B72"/>
                    </a:solidFill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DDF4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核对依据</a:t>
                      </a:r>
                    </a:p>
                  </a:txBody>
                  <a:tcPr marL="76200" marR="114300" marT="152400" marB="114300" anchor="ctr">
                    <a:solidFill>
                      <a:srgbClr val="173B72"/>
                    </a:solidFill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6CDA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必填字段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所需信息完整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缺失字段清单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6CDA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时间顺序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结束时间晚于开始时间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申请起止时间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6CDA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场地容量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人数为正整数，且不超过容量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申请人数与场地容量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6CDA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时段冲突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与已有活动无重叠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占用时段及活动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6CDA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设备需求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场地可满足所需设备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设备清单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6CDA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开放时间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处于开放时段，且不跨日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申请时段与开放时段</a:t>
                      </a:r>
                    </a:p>
                  </a:txBody>
                  <a:tcPr marL="76200" marR="114300" marT="152400" marB="114300" anchor="ctr">
                    <a:noFill/>
                    <a:lnL w="1">
                      <a:solidFill>
                        <a:srgbClr val="000000">
                          <a:alpha val="0"/>
                        </a:srgbClr>
                      </a:solidFill>
                    </a:lnL>
                    <a:lnR w="1">
                      <a:solidFill>
                        <a:srgbClr val="000000">
                          <a:alpha val="0"/>
                        </a:srgbClr>
                      </a:solidFill>
                    </a:lnR>
                    <a:lnT w="1">
                      <a:solidFill>
                        <a:srgbClr val="000000">
                          <a:alpha val="0"/>
                        </a:srgbClr>
                      </a:solidFill>
                    </a:lnT>
                    <a:lnB w="1">
                      <a:solidFill>
                        <a:srgbClr val="000000">
                          <a:alpha val="0"/>
                        </a:srgbClr>
                      </a:solidFill>
                    </a:lnB>
                    <a:lnTlToBr w="1">
                      <a:solidFill>
                        <a:srgbClr val="000000">
                          <a:alpha val="0"/>
                        </a:srgbClr>
                      </a:solidFill>
                    </a:lnTlToBr>
                    <a:lnBlToTr w="1">
                      <a:solidFill>
                        <a:srgbClr val="000000">
                          <a:alpha val="0"/>
                        </a:srgbClr>
                      </a:solidFill>
                    </a:lnBlToTr>
                  </a:tcPr>
                </a:tc>
              </a:tr>
            </a:tbl>
          </a:graphicData>
        </a:graphic>
      </p:graphicFrame>
      <p:sp>
        <p:nvSpPr>
          <p:cNvPr id="12" name="未通过预检时，页面给出具体原因和修改方向">
            <a:extLst>
              <a:ext uri="{FF2B5EF4-FFF2-40B4-BE49-F238E27FC236}">
                <ns2:creationId id="{17903073-4964-4FC0-B3F0-F1C02723219C}"/>
              </a:ext>
            </a:extLst>
          </p:cNvPr>
          <p:cNvSpPr>
            <a:spLocks noGrp="1"/>
          </p:cNvSpPr>
          <p:nvPr/>
        </p:nvSpPr>
        <p:spPr>
          <a:xfrm>
            <a:off x="1428750" y="9163050"/>
            <a:ext cx="14573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未通过预检时，页面给出具体原因和修改方向</a:t>
            </a:r>
          </a:p>
        </p:txBody>
      </p:sp>
      <p:sp>
        <p:nvSpPr>
          <p:cNvPr id="13" name="10">
            <a:extLst>
              <a:ext uri="{FF2B5EF4-FFF2-40B4-BE49-F238E27FC236}">
                <ns2:creationId id="{34D4D2FD-3650-450A-B86B-E0826421CE96}"/>
              </a:ext>
            </a:extLst>
          </p:cNvPr>
          <p:cNvSpPr>
            <a:spLocks noGrp="1"/>
          </p:cNvSpPr>
          <p:nvPr/>
        </p:nvSpPr>
        <p:spPr>
          <a:xfrm>
            <a:off x="16573500" y="9477375"/>
            <a:ext cx="619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10</a:t>
            </a:r>
          </a:p>
        </p:txBody>
      </p:sp>
    </p:spTree>
    <p:extLst>
      <p:ext uri="{BB962C8B-B14F-4D97-AF65-F5344CB8AC3E}">
        <ns5:creationId val="65708975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EF56771-8C74-48C5-92ED-B9F941D7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80123" y="4609688"/>
            <a:ext cx="526970" cy="526970"/>
          </a:xfrm>
          <a:custGeom xmlns:a="http://schemas.openxmlformats.org/drawingml/2006/main">
            <a:rect l="l" t="t" r="r" b="b"/>
            <a:pathLst>
              <a:path w="526970" h="526970">
                <a:moveTo>
                  <a:pt x="0" y="0"/>
                </a:moveTo>
                <a:lnTo>
                  <a:pt x="526970" y="0"/>
                </a:lnTo>
                <a:lnTo>
                  <a:pt x="526970" y="526969"/>
                </a:lnTo>
                <a:lnTo>
                  <a:pt x="0" y="52696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a6ab73a2e884046">
              <a:extLst>
                <a:ext uri="{96DAC541-7B7A-43D3-8B79-37D633B846F1}">
                  <asvg:svgBlip xmlns:asvg="http://schemas.microsoft.com/office/drawing/2016/SVG/main" r:embed="Re4fe379df7974d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91260E8-BC73-489E-8527-28741B8D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972" y="6502774"/>
            <a:ext cx="526970" cy="526970"/>
          </a:xfrm>
          <a:custGeom xmlns:a="http://schemas.openxmlformats.org/drawingml/2006/main">
            <a:rect l="l" t="t" r="r" b="b"/>
            <a:pathLst>
              <a:path w="526970" h="526970">
                <a:moveTo>
                  <a:pt x="0" y="0"/>
                </a:moveTo>
                <a:lnTo>
                  <a:pt x="526969" y="0"/>
                </a:lnTo>
                <a:lnTo>
                  <a:pt x="526969" y="526970"/>
                </a:lnTo>
                <a:lnTo>
                  <a:pt x="0" y="5269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a6ab73a2e884046">
              <a:extLst>
                <a:ext uri="{96DAC541-7B7A-43D3-8B79-37D633B846F1}">
                  <asvg:svgBlip xmlns:asvg="http://schemas.microsoft.com/office/drawing/2016/SVG/main" r:embed="Re4fe379df7974d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88AAD78-778C-443A-B1DF-90554CCF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6589" y="-3741992"/>
            <a:ext cx="6454766" cy="6454766"/>
          </a:xfrm>
          <a:custGeom xmlns:a="http://schemas.openxmlformats.org/drawingml/2006/main">
            <a:rect l="l" t="t" r="r" b="b"/>
            <a:pathLst>
              <a:path w="6454766" h="6454766">
                <a:moveTo>
                  <a:pt x="0" y="0"/>
                </a:moveTo>
                <a:lnTo>
                  <a:pt x="6454766" y="0"/>
                </a:lnTo>
                <a:lnTo>
                  <a:pt x="6454766" y="6454765"/>
                </a:lnTo>
                <a:lnTo>
                  <a:pt x="0" y="64547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a6ab73a2e884046">
              <a:extLst>
                <a:ext uri="{96DAC541-7B7A-43D3-8B79-37D633B846F1}">
                  <asvg:svgBlip xmlns:asvg="http://schemas.microsoft.com/office/drawing/2016/SVG/main" r:embed="Re4fe379df7974d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488ABCFC-5DDE-4B18-BD6C-4B767090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305170" y="2498407"/>
            <a:ext cx="2794626" cy="2794626"/>
          </a:xfrm>
          <a:custGeom xmlns:a="http://schemas.openxmlformats.org/drawingml/2006/main">
            <a:rect l="l" t="t" r="r" b="b"/>
            <a:pathLst>
              <a:path w="2794626" h="2794626">
                <a:moveTo>
                  <a:pt x="0" y="0"/>
                </a:moveTo>
                <a:lnTo>
                  <a:pt x="2794627" y="0"/>
                </a:lnTo>
                <a:lnTo>
                  <a:pt x="2794627" y="2794626"/>
                </a:lnTo>
                <a:lnTo>
                  <a:pt x="0" y="27946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a6ab73a2e884046">
              <a:extLst>
                <a:ext uri="{96DAC541-7B7A-43D3-8B79-37D633B846F1}">
                  <asvg:svgBlip xmlns:asvg="http://schemas.microsoft.com/office/drawing/2016/SVG/main" r:embed="Re4fe379df7974d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2B848090-C802-41D2-B6C0-4BDAEC51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22216" y="7591719"/>
            <a:ext cx="4594156" cy="4594156"/>
          </a:xfrm>
          <a:custGeom xmlns:a="http://schemas.openxmlformats.org/drawingml/2006/main">
            <a:rect l="l" t="t" r="r" b="b"/>
            <a:pathLst>
              <a:path w="4594156" h="4594156">
                <a:moveTo>
                  <a:pt x="0" y="0"/>
                </a:moveTo>
                <a:lnTo>
                  <a:pt x="4594156" y="0"/>
                </a:lnTo>
                <a:lnTo>
                  <a:pt x="4594156" y="4594156"/>
                </a:lnTo>
                <a:lnTo>
                  <a:pt x="0" y="459415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a6ab73a2e884046">
              <a:extLst>
                <a:ext uri="{96DAC541-7B7A-43D3-8B79-37D633B846F1}">
                  <asvg:svgBlip xmlns:asvg="http://schemas.microsoft.com/office/drawing/2016/SVG/main" r:embed="Re4fe379df7974d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4" name="退回后，保留每一次修改">
            <a:extLst xmlns:a="http://schemas.openxmlformats.org/drawingml/2006/main">
              <a:ext uri="{FF2B5EF4-FFF2-40B4-BE49-F238E27FC236}">
                <a16:creationId xmlns:a16="http://schemas.microsoft.com/office/drawing/2014/main" id="{4D67B3D3-CDA3-4687-A723-2DB9DC7B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85875"/>
            <a:ext cx="1476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退回后，保留每一次修改</a:t>
            </a:r>
          </a:p>
        </p:txBody>
      </p:sp>
      <p:sp>
        <p:nvSpPr>
          <p:cNvPr id="25" name="V1">
            <a:extLst xmlns:a="http://schemas.openxmlformats.org/drawingml/2006/main">
              <a:ext uri="{FF2B5EF4-FFF2-40B4-BE49-F238E27FC236}">
                <a16:creationId xmlns:a16="http://schemas.microsoft.com/office/drawing/2014/main" id="{43EF45AF-32B5-4925-B3D1-72366FE1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05200"/>
            <a:ext cx="5619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1140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V1</a:t>
            </a:r>
          </a:p>
        </p:txBody>
      </p:sp>
      <p:sp>
        <p:nvSpPr>
          <p:cNvPr id="26" name="原始申请 · 已退回">
            <a:extLst xmlns:a="http://schemas.openxmlformats.org/drawingml/2006/main">
              <a:ext uri="{FF2B5EF4-FFF2-40B4-BE49-F238E27FC236}">
                <a16:creationId xmlns:a16="http://schemas.microsoft.com/office/drawing/2014/main" id="{207AE7CD-30D3-4CBA-AA03-308F003F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86400"/>
            <a:ext cx="642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原始申请 · 已退回</a:t>
            </a:r>
          </a:p>
        </p:txBody>
      </p:sp>
      <p:sp>
        <p:nvSpPr>
          <p:cNvPr id="27" name="保留当时的申请内容">
            <a:extLst xmlns:a="http://schemas.openxmlformats.org/drawingml/2006/main">
              <a:ext uri="{FF2B5EF4-FFF2-40B4-BE49-F238E27FC236}">
                <a16:creationId xmlns:a16="http://schemas.microsoft.com/office/drawing/2014/main" id="{CB08FA72-D939-4635-82D5-BDA7ECEF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7056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保留当时的申请内容</a:t>
            </a:r>
          </a:p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记录退回原因与操作者</a:t>
            </a:r>
          </a:p>
        </p:txBody>
      </p:sp>
      <p:sp>
        <p:nvSpPr>
          <p:cNvPr id="28" name="V2">
            <a:extLst xmlns:a="http://schemas.openxmlformats.org/drawingml/2006/main">
              <a:ext uri="{FF2B5EF4-FFF2-40B4-BE49-F238E27FC236}">
                <a16:creationId xmlns:a16="http://schemas.microsoft.com/office/drawing/2014/main" id="{4D61B71D-D92F-45E0-8539-BD7C1E97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05200"/>
            <a:ext cx="5619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11400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V2</a:t>
            </a:r>
          </a:p>
        </p:txBody>
      </p:sp>
      <p:sp>
        <p:nvSpPr>
          <p:cNvPr id="29" name="补充说明 · 再次提交">
            <a:extLst xmlns:a="http://schemas.openxmlformats.org/drawingml/2006/main">
              <a:ext uri="{FF2B5EF4-FFF2-40B4-BE49-F238E27FC236}">
                <a16:creationId xmlns:a16="http://schemas.microsoft.com/office/drawing/2014/main" id="{4EE665B2-14AA-4EB5-9F92-A7A35E72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486400"/>
            <a:ext cx="690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补充说明 · 再次提交</a:t>
            </a:r>
          </a:p>
        </p:txBody>
      </p:sp>
      <p:sp>
        <p:nvSpPr>
          <p:cNvPr id="30" name="生成新的申请版本">
            <a:extLst xmlns:a="http://schemas.openxmlformats.org/drawingml/2006/main">
              <a:ext uri="{FF2B5EF4-FFF2-40B4-BE49-F238E27FC236}">
                <a16:creationId xmlns:a16="http://schemas.microsoft.com/office/drawing/2014/main" id="{DF1214A9-702E-4671-BCB0-C43E69AA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705600"/>
            <a:ext cx="6905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生成新的申请版本</a:t>
            </a:r>
          </a:p>
          <a:p xmlns:a="http://schemas.openxmlformats.org/drawingml/2006/main">
            <a:pPr algn="l">
              <a:def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重新预检，交由管理员审核</a:t>
            </a:r>
          </a:p>
        </p:txBody>
      </p:sp>
      <p:sp>
        <p:nvSpPr>
          <p:cNvPr id="31" name="版本展示内容变化，事件记录每一次处理">
            <a:extLst xmlns:a="http://schemas.openxmlformats.org/drawingml/2006/main">
              <a:ext uri="{FF2B5EF4-FFF2-40B4-BE49-F238E27FC236}">
                <a16:creationId xmlns:a16="http://schemas.microsoft.com/office/drawing/2014/main" id="{C266CA67-28F1-4FFE-8D7F-37ECEB13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8963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版本展示内容变化，事件记录每一次处理</a:t>
            </a:r>
          </a:p>
        </p:txBody>
      </p:sp>
      <p:sp>
        <p:nvSpPr>
          <p:cNvPr id="32" name="11">
            <a:extLst xmlns:a="http://schemas.openxmlformats.org/drawingml/2006/main">
              <a:ext uri="{FF2B5EF4-FFF2-40B4-BE49-F238E27FC236}">
                <a16:creationId xmlns:a16="http://schemas.microsoft.com/office/drawing/2014/main" id="{6A0FDC89-39AE-4643-BB0F-7F581E2F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52909802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D9592CD-4847-428C-9261-7109D8D0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39970" y="793353"/>
            <a:ext cx="5645151" cy="5645151"/>
          </a:xfrm>
          <a:custGeom xmlns:a="http://schemas.openxmlformats.org/drawingml/2006/main">
            <a:rect l="l" t="t" r="r" b="b"/>
            <a:pathLst>
              <a:path w="5645151" h="5645151">
                <a:moveTo>
                  <a:pt x="0" y="0"/>
                </a:moveTo>
                <a:lnTo>
                  <a:pt x="5645152" y="0"/>
                </a:lnTo>
                <a:lnTo>
                  <a:pt x="5645152" y="5645151"/>
                </a:lnTo>
                <a:lnTo>
                  <a:pt x="0" y="564515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2b1ef32bac84cd1">
              <a:extLst>
                <a:ext uri="{96DAC541-7B7A-43D3-8B79-37D633B846F1}">
                  <asvg:svgBlip xmlns:asvg="http://schemas.microsoft.com/office/drawing/2016/SVG/main" r:embed="Rf50eb42260664db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400DB11-F0E1-41B3-ADBA-B4E912A1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85032" y="7484032"/>
            <a:ext cx="1774268" cy="1774268"/>
          </a:xfrm>
          <a:custGeom xmlns:a="http://schemas.openxmlformats.org/drawingml/2006/main">
            <a:rect l="l" t="t" r="r" b="b"/>
            <a:pathLst>
              <a:path w="1774268" h="1774268">
                <a:moveTo>
                  <a:pt x="0" y="0"/>
                </a:moveTo>
                <a:lnTo>
                  <a:pt x="1774268" y="0"/>
                </a:lnTo>
                <a:lnTo>
                  <a:pt x="1774268" y="1774268"/>
                </a:lnTo>
                <a:lnTo>
                  <a:pt x="0" y="17742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2b1ef32bac84cd1">
              <a:extLst>
                <a:ext uri="{96DAC541-7B7A-43D3-8B79-37D633B846F1}">
                  <asvg:svgBlip xmlns:asvg="http://schemas.microsoft.com/office/drawing/2016/SVG/main" r:embed="Rf50eb42260664db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模型异常时，业务仍可继续">
            <a:extLst xmlns:a="http://schemas.openxmlformats.org/drawingml/2006/main">
              <a:ext uri="{FF2B5EF4-FFF2-40B4-BE49-F238E27FC236}">
                <a16:creationId xmlns:a16="http://schemas.microsoft.com/office/drawing/2014/main" id="{3B45D394-6903-4E9D-8D9E-55F99DA7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43025"/>
            <a:ext cx="1495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模型异常时，业务仍可继续</a:t>
            </a:r>
          </a:p>
        </p:txBody>
      </p:sp>
      <p:sp>
        <p:nvSpPr>
          <p:cNvPr id="9" name="非法 JSON">
            <a:extLst xmlns:a="http://schemas.openxmlformats.org/drawingml/2006/main">
              <a:ext uri="{FF2B5EF4-FFF2-40B4-BE49-F238E27FC236}">
                <a16:creationId xmlns:a16="http://schemas.microsoft.com/office/drawing/2014/main" id="{6C488395-21AB-42B9-BB97-11FE2B8A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4905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非法 JSON</a:t>
            </a:r>
          </a:p>
        </p:txBody>
      </p:sp>
      <p:sp>
        <p:nvSpPr>
          <p:cNvPr id="10" name="拒绝结构错误的输出">
            <a:extLst xmlns:a="http://schemas.openxmlformats.org/drawingml/2006/main">
              <a:ext uri="{FF2B5EF4-FFF2-40B4-BE49-F238E27FC236}">
                <a16:creationId xmlns:a16="http://schemas.microsoft.com/office/drawing/2014/main" id="{15F536B2-9D3D-41E3-AD5B-DE7F36D0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拒绝结构错误的输出</a:t>
            </a:r>
          </a:p>
        </p:txBody>
      </p:sp>
      <p:sp>
        <p:nvSpPr>
          <p:cNvPr id="11" name="INVALID_JSON">
            <a:extLst xmlns:a="http://schemas.openxmlformats.org/drawingml/2006/main">
              <a:ext uri="{FF2B5EF4-FFF2-40B4-BE49-F238E27FC236}">
                <a16:creationId xmlns:a16="http://schemas.microsoft.com/office/drawing/2014/main" id="{72D379E6-0E47-4A93-B34D-9969DB28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103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2100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INVALID_JSON</a:t>
            </a:r>
          </a:p>
        </p:txBody>
      </p:sp>
      <p:sp>
        <p:nvSpPr>
          <p:cNvPr id="12" name="虚构规则">
            <a:extLst xmlns:a="http://schemas.openxmlformats.org/drawingml/2006/main">
              <a:ext uri="{FF2B5EF4-FFF2-40B4-BE49-F238E27FC236}">
                <a16:creationId xmlns:a16="http://schemas.microsoft.com/office/drawing/2014/main" id="{B8FB97F8-D713-45D4-831B-353307C3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48100"/>
            <a:ext cx="4905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虚构规则</a:t>
            </a:r>
          </a:p>
        </p:txBody>
      </p:sp>
      <p:sp>
        <p:nvSpPr>
          <p:cNvPr id="13" name="拦截不存在的规则引用">
            <a:extLst xmlns:a="http://schemas.openxmlformats.org/drawingml/2006/main">
              <a:ext uri="{FF2B5EF4-FFF2-40B4-BE49-F238E27FC236}">
                <a16:creationId xmlns:a16="http://schemas.microsoft.com/office/drawing/2014/main" id="{D25C1E04-3175-4D4B-82D9-06C9179F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191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拦截不存在的规则引用</a:t>
            </a:r>
          </a:p>
        </p:txBody>
      </p:sp>
      <p:sp>
        <p:nvSpPr>
          <p:cNvPr id="14" name="RULE_NOT_FOUND">
            <a:extLst xmlns:a="http://schemas.openxmlformats.org/drawingml/2006/main">
              <a:ext uri="{FF2B5EF4-FFF2-40B4-BE49-F238E27FC236}">
                <a16:creationId xmlns:a16="http://schemas.microsoft.com/office/drawing/2014/main" id="{4AE12189-B97A-47C8-A2B9-327BACBB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66103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2100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RULE_NOT_FOUND</a:t>
            </a:r>
          </a:p>
        </p:txBody>
      </p:sp>
      <p:sp>
        <p:nvSpPr>
          <p:cNvPr id="15" name="模型超时">
            <a:extLst xmlns:a="http://schemas.openxmlformats.org/drawingml/2006/main">
              <a:ext uri="{FF2B5EF4-FFF2-40B4-BE49-F238E27FC236}">
                <a16:creationId xmlns:a16="http://schemas.microsoft.com/office/drawing/2014/main" id="{A7A482FE-21BC-4E36-894C-49C53023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848100"/>
            <a:ext cx="4905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模型超时</a:t>
            </a:r>
          </a:p>
        </p:txBody>
      </p:sp>
      <p:sp>
        <p:nvSpPr>
          <p:cNvPr id="16" name="中断调用并启用降级文案">
            <a:extLst xmlns:a="http://schemas.openxmlformats.org/drawingml/2006/main">
              <a:ext uri="{FF2B5EF4-FFF2-40B4-BE49-F238E27FC236}">
                <a16:creationId xmlns:a16="http://schemas.microsoft.com/office/drawing/2014/main" id="{5230376A-B3E5-45C3-A9DB-CA26F1DD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191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中断调用并启用降级文案</a:t>
            </a:r>
          </a:p>
        </p:txBody>
      </p:sp>
      <p:sp>
        <p:nvSpPr>
          <p:cNvPr id="17" name="MODEL_TIMEOUT">
            <a:extLst xmlns:a="http://schemas.openxmlformats.org/drawingml/2006/main">
              <a:ext uri="{FF2B5EF4-FFF2-40B4-BE49-F238E27FC236}">
                <a16:creationId xmlns:a16="http://schemas.microsoft.com/office/drawing/2014/main" id="{4A875793-7881-4E90-BC24-6F68AE19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6103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2100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MODEL_TIMEOUT</a:t>
            </a:r>
          </a:p>
        </p:txBody>
      </p:sp>
      <p:sp>
        <p:nvSpPr>
          <p:cNvPr id="18" name="记录错误，使用确定性结果，交由人工继续处理">
            <a:extLst xmlns:a="http://schemas.openxmlformats.org/drawingml/2006/main">
              <a:ext uri="{FF2B5EF4-FFF2-40B4-BE49-F238E27FC236}">
                <a16:creationId xmlns:a16="http://schemas.microsoft.com/office/drawing/2014/main" id="{28C266C8-2660-4B80-9BCF-5F9DC0D2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124825"/>
            <a:ext cx="1495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记录错误，使用确定性结果，交由人工继续处理</a:t>
            </a:r>
          </a:p>
        </p:txBody>
      </p:sp>
      <p:sp>
        <p:nvSpPr>
          <p:cNvPr id="19" name="三种注入故障均不改变正式事务状态">
            <a:extLst xmlns:a="http://schemas.openxmlformats.org/drawingml/2006/main">
              <a:ext uri="{FF2B5EF4-FFF2-40B4-BE49-F238E27FC236}">
                <a16:creationId xmlns:a16="http://schemas.microsoft.com/office/drawing/2014/main" id="{5B417D92-3812-44EB-95A9-A4CC3A37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86850"/>
            <a:ext cx="1495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三种注入故障均不改变正式事务状态</a:t>
            </a:r>
          </a:p>
        </p:txBody>
      </p:sp>
      <p:sp>
        <p:nvSpPr>
          <p:cNvPr id="20" name="12">
            <a:extLst xmlns:a="http://schemas.openxmlformats.org/drawingml/2006/main">
              <a:ext uri="{FF2B5EF4-FFF2-40B4-BE49-F238E27FC236}">
                <a16:creationId xmlns:a16="http://schemas.microsoft.com/office/drawing/2014/main" id="{41C9B6E1-1533-4C5D-B01A-DF42455F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60361124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22BAC73-C0A1-42D5-A601-7F746BD3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-3554864" y="1028700"/>
            <a:ext cx="7109728" cy="7235341"/>
          </a:xfrm>
          <a:custGeom xmlns:a="http://schemas.openxmlformats.org/drawingml/2006/main">
            <a:rect l="l" t="t" r="r" b="b"/>
            <a:pathLst>
              <a:path w="7109728" h="7235341">
                <a:moveTo>
                  <a:pt x="0" y="7235341"/>
                </a:moveTo>
                <a:lnTo>
                  <a:pt x="7109728" y="7235341"/>
                </a:lnTo>
                <a:lnTo>
                  <a:pt x="7109728" y="0"/>
                </a:lnTo>
                <a:lnTo>
                  <a:pt x="0" y="0"/>
                </a:lnTo>
                <a:lnTo>
                  <a:pt x="0" y="723534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8b8706feff40dc">
              <a:extLst>
                <a:ext uri="{96DAC541-7B7A-43D3-8B79-37D633B846F1}">
                  <asvg:svgBlip xmlns:asvg="http://schemas.microsoft.com/office/drawing/2016/SVG/main" r:embed="R82240d106ca44a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40C6EF7E-5F3A-43E6-8FDD-029DCF5E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4734716" y="1525829"/>
            <a:ext cx="7109728" cy="7235341"/>
          </a:xfrm>
          <a:custGeom xmlns:a="http://schemas.openxmlformats.org/drawingml/2006/main">
            <a:rect l="l" t="t" r="r" b="b"/>
            <a:pathLst>
              <a:path w="7109728" h="7235341">
                <a:moveTo>
                  <a:pt x="7109727" y="7235342"/>
                </a:moveTo>
                <a:lnTo>
                  <a:pt x="0" y="7235342"/>
                </a:lnTo>
                <a:lnTo>
                  <a:pt x="0" y="0"/>
                </a:lnTo>
                <a:lnTo>
                  <a:pt x="7109727" y="0"/>
                </a:lnTo>
                <a:lnTo>
                  <a:pt x="7109727" y="723534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8b8706feff40dc">
              <a:extLst>
                <a:ext uri="{96DAC541-7B7A-43D3-8B79-37D633B846F1}">
                  <asvg:svgBlip xmlns:asvg="http://schemas.microsoft.com/office/drawing/2016/SVG/main" r:embed="R82240d106ca44a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测试与验证记录">
            <a:extLst xmlns:a="http://schemas.openxmlformats.org/drawingml/2006/main">
              <a:ext uri="{FF2B5EF4-FFF2-40B4-BE49-F238E27FC236}">
                <a16:creationId xmlns:a16="http://schemas.microsoft.com/office/drawing/2014/main" id="{A2F5FD38-6016-4254-9F93-7379F3AB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2382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测试与验证记录</a:t>
            </a:r>
          </a:p>
        </p:txBody>
      </p:sp>
      <p:sp>
        <p:nvSpPr>
          <p:cNvPr id="10" name="78">
            <a:extLst xmlns:a="http://schemas.openxmlformats.org/drawingml/2006/main">
              <a:ext uri="{FF2B5EF4-FFF2-40B4-BE49-F238E27FC236}">
                <a16:creationId xmlns:a16="http://schemas.microsoft.com/office/drawing/2014/main" id="{ED4ED440-BB64-4A8B-BCE5-793E166B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90900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25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12825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78</a:t>
            </a:r>
          </a:p>
        </p:txBody>
      </p:sp>
      <p:sp>
        <p:nvSpPr>
          <p:cNvPr id="11" name="自动化测试用例">
            <a:extLst xmlns:a="http://schemas.openxmlformats.org/drawingml/2006/main">
              <a:ext uri="{FF2B5EF4-FFF2-40B4-BE49-F238E27FC236}">
                <a16:creationId xmlns:a16="http://schemas.microsoft.com/office/drawing/2014/main" id="{BC014E25-532B-42D3-BE67-D81B403C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734050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自动化测试用例</a:t>
            </a:r>
          </a:p>
        </p:txBody>
      </p:sp>
      <p:sp>
        <p:nvSpPr>
          <p:cNvPr id="12" name="规则、状态、会话、版本">
            <a:extLst xmlns:a="http://schemas.openxmlformats.org/drawingml/2006/main">
              <a:ext uri="{FF2B5EF4-FFF2-40B4-BE49-F238E27FC236}">
                <a16:creationId xmlns:a16="http://schemas.microsoft.com/office/drawing/2014/main" id="{320A197E-C37F-4AC9-BBF0-52CE38B1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87705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规则、状态、会话、版本</a:t>
            </a:r>
          </a:p>
          <a:p xmlns:a="http://schemas.openxmlformats.org/drawingml/2006/main">
            <a:pPr algn="l">
              <a:def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输出契约与故障处理</a:t>
            </a:r>
          </a:p>
        </p:txBody>
      </p:sp>
      <p:sp>
        <p:nvSpPr>
          <p:cNvPr id="13" name="9">
            <a:extLst xmlns:a="http://schemas.openxmlformats.org/drawingml/2006/main">
              <a:ext uri="{FF2B5EF4-FFF2-40B4-BE49-F238E27FC236}">
                <a16:creationId xmlns:a16="http://schemas.microsoft.com/office/drawing/2014/main" id="{02325194-675B-49C3-86BE-A041C4DE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90900"/>
            <a:ext cx="3810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25" b="0">
                <a:solidFill>
                  <a:srgbClr val="6CDAF4"/>
                </a:solidFill>
                <a:latin typeface="DM Sans Bold"/>
                <a:ea typeface="DM Sans Bold"/>
                <a:cs typeface="DM Sans Bold"/>
              </a:defRPr>
            </a:pPr>
            <a:r>
              <a:rPr sz="12825" b="0">
                <a:solidFill>
                  <a:srgbClr val="6CDAF4"/>
                </a:solidFill>
                <a:latin typeface="DM Sans Bold"/>
                <a:ea typeface="DM Sans Bold"/>
                <a:cs typeface="DM Sans Bold"/>
              </a:rPr>
              <a:t>9</a:t>
            </a:r>
          </a:p>
        </p:txBody>
      </p:sp>
      <p:sp>
        <p:nvSpPr>
          <p:cNvPr id="14" name="真实模型故障组合">
            <a:extLst xmlns:a="http://schemas.openxmlformats.org/drawingml/2006/main">
              <a:ext uri="{FF2B5EF4-FFF2-40B4-BE49-F238E27FC236}">
                <a16:creationId xmlns:a16="http://schemas.microsoft.com/office/drawing/2014/main" id="{5341F0FE-FAA3-42CF-91FF-C1AF412A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734050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真实模型故障组合</a:t>
            </a:r>
          </a:p>
        </p:txBody>
      </p:sp>
      <p:sp>
        <p:nvSpPr>
          <p:cNvPr id="15" name="3 类任务 × 3 种故障">
            <a:extLst xmlns:a="http://schemas.openxmlformats.org/drawingml/2006/main">
              <a:ext uri="{FF2B5EF4-FFF2-40B4-BE49-F238E27FC236}">
                <a16:creationId xmlns:a16="http://schemas.microsoft.com/office/drawing/2014/main" id="{99ADD6E3-9589-4889-914A-DCF34443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87705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3 类任务 × 3 种故障</a:t>
            </a:r>
          </a:p>
          <a:p xmlns:a="http://schemas.openxmlformats.org/drawingml/2006/main">
            <a:pPr algn="l">
              <a:def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记录显示错误码均符合预期</a:t>
            </a:r>
          </a:p>
        </p:txBody>
      </p:sp>
      <p:sp>
        <p:nvSpPr>
          <p:cNvPr id="16" name="据项目测试报告：78 个用例通过；用户试点尚未完成">
            <a:extLst xmlns:a="http://schemas.openxmlformats.org/drawingml/2006/main">
              <a:ext uri="{FF2B5EF4-FFF2-40B4-BE49-F238E27FC236}">
                <a16:creationId xmlns:a16="http://schemas.microsoft.com/office/drawing/2014/main" id="{5FFA74C0-BC11-455E-BE13-33566DC2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7630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据项目测试报告：78 个用例通过；用户试点尚未完成</a:t>
            </a:r>
          </a:p>
        </p:txBody>
      </p:sp>
      <p:sp>
        <p:nvSpPr>
          <p:cNvPr id="17" name="13">
            <a:extLst xmlns:a="http://schemas.openxmlformats.org/drawingml/2006/main">
              <a:ext uri="{FF2B5EF4-FFF2-40B4-BE49-F238E27FC236}">
                <a16:creationId xmlns:a16="http://schemas.microsoft.com/office/drawing/2014/main" id="{9B82C54D-39B6-4418-A0B1-8777DD22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20119737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项目创新与应用价值">
            <a:extLst xmlns:a="http://schemas.openxmlformats.org/drawingml/2006/main">
              <a:ext uri="{FF2B5EF4-FFF2-40B4-BE49-F238E27FC236}">
                <a16:creationId xmlns:a16="http://schemas.microsoft.com/office/drawing/2014/main" id="{CD041CDA-A498-450A-AC3E-74F25B0A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38250"/>
            <a:ext cx="1438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项目创新与应用价值</a:t>
            </a:r>
          </a:p>
        </p:txBody>
      </p:sp>
      <p:sp>
        <p:nvSpPr>
          <p:cNvPr id="2" name="可核对的 AI 建议">
            <a:extLst xmlns:a="http://schemas.openxmlformats.org/drawingml/2006/main">
              <a:ext uri="{FF2B5EF4-FFF2-40B4-BE49-F238E27FC236}">
                <a16:creationId xmlns:a16="http://schemas.microsoft.com/office/drawing/2014/main" id="{0E93213F-A651-40DA-BA33-0C35CD4C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可核对的 AI 建议</a:t>
            </a:r>
          </a:p>
        </p:txBody>
      </p:sp>
      <p:sp>
        <p:nvSpPr>
          <p:cNvPr id="3" name="把申请事实、制度来源和规则结果放在一起，">
            <a:extLst xmlns:a="http://schemas.openxmlformats.org/drawingml/2006/main">
              <a:ext uri="{FF2B5EF4-FFF2-40B4-BE49-F238E27FC236}">
                <a16:creationId xmlns:a16="http://schemas.microsoft.com/office/drawing/2014/main" id="{839CE3BD-D1D3-4249-9DAD-1B8D56FC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57725"/>
            <a:ext cx="1428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把申请事实、制度来源和规则结果放在一起，</a:t>
            </a:r>
          </a:p>
          <a:p xmlns:a="http://schemas.openxmlformats.org/drawingml/2006/main">
            <a:pPr algn="l">
              <a:def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审核时可以沿引用返回依据。</a:t>
            </a:r>
          </a:p>
        </p:txBody>
      </p:sp>
      <p:sp>
        <p:nvSpPr>
          <p:cNvPr id="4" name="可复用的事务机制">
            <a:extLst xmlns:a="http://schemas.openxmlformats.org/drawingml/2006/main">
              <a:ext uri="{FF2B5EF4-FFF2-40B4-BE49-F238E27FC236}">
                <a16:creationId xmlns:a16="http://schemas.microsoft.com/office/drawing/2014/main" id="{0709DB4B-63C8-4D49-B095-C9B31820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4845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可复用的事务机制</a:t>
            </a:r>
          </a:p>
        </p:txBody>
      </p:sp>
      <p:sp>
        <p:nvSpPr>
          <p:cNvPr id="5" name="保留权限、版本、状态和降级机制，">
            <a:extLst xmlns:a="http://schemas.openxmlformats.org/drawingml/2006/main">
              <a:ext uri="{FF2B5EF4-FFF2-40B4-BE49-F238E27FC236}">
                <a16:creationId xmlns:a16="http://schemas.microsoft.com/office/drawing/2014/main" id="{96FB60E0-FFB5-423E-809E-6BDC54FE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72400"/>
            <a:ext cx="1428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保留权限、版本、状态和降级机制，</a:t>
            </a:r>
          </a:p>
          <a:p xmlns:a="http://schemas.openxmlformats.org/drawingml/2006/main">
            <a:pPr algn="l">
              <a:def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后续可扩展至设备借用、访客和证明申请。</a:t>
            </a:r>
          </a:p>
        </p:txBody>
      </p:sp>
      <p:sp>
        <p:nvSpPr>
          <p:cNvPr id="6" name="试点评估：填表时长、首次通过率、退回次数、审核时长">
            <a:extLst xmlns:a="http://schemas.openxmlformats.org/drawingml/2006/main">
              <a:ext uri="{FF2B5EF4-FFF2-40B4-BE49-F238E27FC236}">
                <a16:creationId xmlns:a16="http://schemas.microsoft.com/office/drawing/2014/main" id="{79474A6B-275D-4D60-9F50-981FC60D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363075"/>
            <a:ext cx="1476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试点评估：填表时长、首次通过率、退回次数、审核时长</a:t>
            </a:r>
          </a:p>
        </p:txBody>
      </p:sp>
      <p:sp>
        <p:nvSpPr>
          <p:cNvPr id="7" name="14">
            <a:extLst xmlns:a="http://schemas.openxmlformats.org/drawingml/2006/main">
              <a:ext uri="{FF2B5EF4-FFF2-40B4-BE49-F238E27FC236}">
                <a16:creationId xmlns:a16="http://schemas.microsoft.com/office/drawing/2014/main" id="{04047C5D-7780-4D47-9FFB-8321AC41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57618770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CCE4B3D-4328-4610-A2EF-B3A43203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78749" y="-1895416"/>
            <a:ext cx="7203182" cy="7330447"/>
          </a:xfrm>
          <a:custGeom xmlns:a="http://schemas.openxmlformats.org/drawingml/2006/main">
            <a:rect l="l" t="t" r="r" b="b"/>
            <a:pathLst>
              <a:path w="7203182" h="7330447">
                <a:moveTo>
                  <a:pt x="0" y="0"/>
                </a:moveTo>
                <a:lnTo>
                  <a:pt x="7203183" y="0"/>
                </a:lnTo>
                <a:lnTo>
                  <a:pt x="7203183" y="7330447"/>
                </a:lnTo>
                <a:lnTo>
                  <a:pt x="0" y="733044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8ba5733fbab446e">
              <a:extLst>
                <a:ext uri="{96DAC541-7B7A-43D3-8B79-37D633B846F1}">
                  <asvg:svgBlip xmlns:asvg="http://schemas.microsoft.com/office/drawing/2016/SVG/main" r:embed="R7556560b64f74db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校内试点与后续计划">
            <a:extLst xmlns:a="http://schemas.openxmlformats.org/drawingml/2006/main">
              <a:ext uri="{FF2B5EF4-FFF2-40B4-BE49-F238E27FC236}">
                <a16:creationId xmlns:a16="http://schemas.microsoft.com/office/drawing/2014/main" id="{CC9299D6-1DDD-4A8B-973E-CE05E13C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62075"/>
            <a:ext cx="1390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校内试点与后续计划</a:t>
            </a:r>
          </a:p>
        </p:txBody>
      </p:sp>
      <p:sp>
        <p:nvSpPr>
          <p:cNvPr id="4" name="当前">
            <a:extLst xmlns:a="http://schemas.openxmlformats.org/drawingml/2006/main">
              <a:ext uri="{FF2B5EF4-FFF2-40B4-BE49-F238E27FC236}">
                <a16:creationId xmlns:a16="http://schemas.microsoft.com/office/drawing/2014/main" id="{47508665-7967-4D57-B8D9-1EF44447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5" name="场地申请演示">
            <a:extLst xmlns:a="http://schemas.openxmlformats.org/drawingml/2006/main">
              <a:ext uri="{FF2B5EF4-FFF2-40B4-BE49-F238E27FC236}">
                <a16:creationId xmlns:a16="http://schemas.microsoft.com/office/drawing/2014/main" id="{450E1A70-1B43-4585-9673-4CB2631E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8137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场地申请演示</a:t>
            </a:r>
          </a:p>
        </p:txBody>
      </p:sp>
      <p:sp>
        <p:nvSpPr>
          <p:cNvPr id="6" name="产品、规则与故障演示已形成可运行样板">
            <a:extLst xmlns:a="http://schemas.openxmlformats.org/drawingml/2006/main">
              <a:ext uri="{FF2B5EF4-FFF2-40B4-BE49-F238E27FC236}">
                <a16:creationId xmlns:a16="http://schemas.microsoft.com/office/drawing/2014/main" id="{E6EA7FDF-D9F8-45F3-BBEC-D0F175ED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05275"/>
            <a:ext cx="1143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产品、规则与故障演示已形成可运行样板</a:t>
            </a:r>
          </a:p>
        </p:txBody>
      </p:sp>
      <p:sp>
        <p:nvSpPr>
          <p:cNvPr id="7" name="下一步">
            <a:extLst xmlns:a="http://schemas.openxmlformats.org/drawingml/2006/main">
              <a:ext uri="{FF2B5EF4-FFF2-40B4-BE49-F238E27FC236}">
                <a16:creationId xmlns:a16="http://schemas.microsoft.com/office/drawing/2014/main" id="{7EF6748E-B3FB-463A-84B5-7166E099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8" name="小规模试用">
            <a:extLst xmlns:a="http://schemas.openxmlformats.org/drawingml/2006/main">
              <a:ext uri="{FF2B5EF4-FFF2-40B4-BE49-F238E27FC236}">
                <a16:creationId xmlns:a16="http://schemas.microsoft.com/office/drawing/2014/main" id="{C6056B20-3C50-459F-932A-5DA5DFB5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101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小规模试用</a:t>
            </a:r>
          </a:p>
        </p:txBody>
      </p:sp>
      <p:sp>
        <p:nvSpPr>
          <p:cNvPr id="9" name="邀请 3–10 名用户，记录填表和审核时长">
            <a:extLst xmlns:a="http://schemas.openxmlformats.org/drawingml/2006/main">
              <a:ext uri="{FF2B5EF4-FFF2-40B4-BE49-F238E27FC236}">
                <a16:creationId xmlns:a16="http://schemas.microsoft.com/office/drawing/2014/main" id="{35E13ACE-C8D2-4C0F-8816-0C08DC7E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34025"/>
            <a:ext cx="1143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邀请 3–10 名用户，记录填表和审核时长</a:t>
            </a:r>
          </a:p>
        </p:txBody>
      </p:sp>
      <p:sp>
        <p:nvSpPr>
          <p:cNvPr id="10" name="校方授权后">
            <a:extLst xmlns:a="http://schemas.openxmlformats.org/drawingml/2006/main">
              <a:ext uri="{FF2B5EF4-FFF2-40B4-BE49-F238E27FC236}">
                <a16:creationId xmlns:a16="http://schemas.microsoft.com/office/drawing/2014/main" id="{E7C24BC5-F6A6-492C-8C99-0B46608B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388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校方授权后</a:t>
            </a:r>
          </a:p>
        </p:txBody>
      </p:sp>
      <p:sp>
        <p:nvSpPr>
          <p:cNvPr id="11" name="真实系统接入">
            <a:extLst xmlns:a="http://schemas.openxmlformats.org/drawingml/2006/main">
              <a:ext uri="{FF2B5EF4-FFF2-40B4-BE49-F238E27FC236}">
                <a16:creationId xmlns:a16="http://schemas.microsoft.com/office/drawing/2014/main" id="{B4535146-64EE-455A-97EE-BFE3F1CA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23887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真实系统接入</a:t>
            </a:r>
          </a:p>
        </p:txBody>
      </p:sp>
      <p:sp>
        <p:nvSpPr>
          <p:cNvPr id="12" name="对接统一身份认证、OA 和真实场地数据">
            <a:extLst xmlns:a="http://schemas.openxmlformats.org/drawingml/2006/main">
              <a:ext uri="{FF2B5EF4-FFF2-40B4-BE49-F238E27FC236}">
                <a16:creationId xmlns:a16="http://schemas.microsoft.com/office/drawing/2014/main" id="{9DB8D66E-B3CB-4850-A4F1-CEA8187A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962775"/>
            <a:ext cx="1143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对接统一身份认证、OA 和真实场地数据</a:t>
            </a:r>
          </a:p>
        </p:txBody>
      </p:sp>
      <p:sp>
        <p:nvSpPr>
          <p:cNvPr id="13" name="后续">
            <a:extLst xmlns:a="http://schemas.openxmlformats.org/drawingml/2006/main">
              <a:ext uri="{FF2B5EF4-FFF2-40B4-BE49-F238E27FC236}">
                <a16:creationId xmlns:a16="http://schemas.microsoft.com/office/drawing/2014/main" id="{99D90D59-46BE-4AB9-ACA1-37B35E7D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667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后续</a:t>
            </a:r>
          </a:p>
        </p:txBody>
      </p:sp>
      <p:sp>
        <p:nvSpPr>
          <p:cNvPr id="14" name="扩展其他事务">
            <a:extLst xmlns:a="http://schemas.openxmlformats.org/drawingml/2006/main">
              <a:ext uri="{FF2B5EF4-FFF2-40B4-BE49-F238E27FC236}">
                <a16:creationId xmlns:a16="http://schemas.microsoft.com/office/drawing/2014/main" id="{25CD8CB0-8803-480B-AF41-709479C6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6676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扩展其他事务</a:t>
            </a:r>
          </a:p>
        </p:txBody>
      </p:sp>
      <p:sp>
        <p:nvSpPr>
          <p:cNvPr id="15" name="按试点反馈推进设备借用、访客与证明申请">
            <a:extLst xmlns:a="http://schemas.openxmlformats.org/drawingml/2006/main">
              <a:ext uri="{FF2B5EF4-FFF2-40B4-BE49-F238E27FC236}">
                <a16:creationId xmlns:a16="http://schemas.microsoft.com/office/drawing/2014/main" id="{3466EB8B-A63B-4F07-8994-B2BE595C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391525"/>
            <a:ext cx="1143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按试点反馈推进设备借用、访客与证明申请</a:t>
            </a:r>
          </a:p>
        </p:txBody>
      </p:sp>
      <p:sp>
        <p:nvSpPr>
          <p:cNvPr id="16" name="15">
            <a:extLst xmlns:a="http://schemas.openxmlformats.org/drawingml/2006/main">
              <a:ext uri="{FF2B5EF4-FFF2-40B4-BE49-F238E27FC236}">
                <a16:creationId xmlns:a16="http://schemas.microsoft.com/office/drawing/2014/main" id="{FB824094-9CFF-46B0-9FF2-8F46AC10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68106535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514">
                <a:alpha val="100000"/>
              </a:srgbClr>
            </a:gs>
            <a:gs pos="100000">
              <a:srgbClr val="23448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4AD7CD9F-57CD-4E11-8546-0655F140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4229" y="5999178"/>
            <a:ext cx="3259122" cy="3259122"/>
          </a:xfrm>
          <a:custGeom xmlns:a="http://schemas.openxmlformats.org/drawingml/2006/main">
            <a:rect l="l" t="t" r="r" b="b"/>
            <a:pathLst>
              <a:path w="3259122" h="3259122">
                <a:moveTo>
                  <a:pt x="0" y="0"/>
                </a:moveTo>
                <a:lnTo>
                  <a:pt x="3259122" y="0"/>
                </a:lnTo>
                <a:lnTo>
                  <a:pt x="3259122" y="3259122"/>
                </a:lnTo>
                <a:lnTo>
                  <a:pt x="0" y="325912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06d45abf3441fc">
              <a:extLst>
                <a:ext uri="{96DAC541-7B7A-43D3-8B79-37D633B846F1}">
                  <asvg:svgBlip xmlns:asvg="http://schemas.microsoft.com/office/drawing/2016/SVG/main" r:embed="R13fe84b383bf4f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C75DBAE-997D-4FB1-A54D-5D43A9A1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02132" y="2653708"/>
            <a:ext cx="1969680" cy="1969680"/>
          </a:xfrm>
          <a:custGeom xmlns:a="http://schemas.openxmlformats.org/drawingml/2006/main">
            <a:rect l="l" t="t" r="r" b="b"/>
            <a:pathLst>
              <a:path w="1969680" h="1969680">
                <a:moveTo>
                  <a:pt x="0" y="0"/>
                </a:moveTo>
                <a:lnTo>
                  <a:pt x="1969680" y="0"/>
                </a:lnTo>
                <a:lnTo>
                  <a:pt x="1969680" y="1969680"/>
                </a:lnTo>
                <a:lnTo>
                  <a:pt x="0" y="19696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06d45abf3441fc">
              <a:extLst>
                <a:ext uri="{96DAC541-7B7A-43D3-8B79-37D633B846F1}">
                  <asvg:svgBlip xmlns:asvg="http://schemas.microsoft.com/office/drawing/2016/SVG/main" r:embed="R13fe84b383bf4f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041064B-945A-4852-A90A-D33258C7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02132" y="5534771"/>
            <a:ext cx="6535258" cy="6650722"/>
          </a:xfrm>
          <a:custGeom xmlns:a="http://schemas.openxmlformats.org/drawingml/2006/main">
            <a:rect l="l" t="t" r="r" b="b"/>
            <a:pathLst>
              <a:path w="6535258" h="6650722">
                <a:moveTo>
                  <a:pt x="0" y="0"/>
                </a:moveTo>
                <a:lnTo>
                  <a:pt x="6535258" y="0"/>
                </a:lnTo>
                <a:lnTo>
                  <a:pt x="6535258" y="6650722"/>
                </a:lnTo>
                <a:lnTo>
                  <a:pt x="0" y="665072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5828cac436b40b4">
              <a:extLst>
                <a:ext uri="{96DAC541-7B7A-43D3-8B79-37D633B846F1}">
                  <asvg:svgBlip xmlns:asvg="http://schemas.microsoft.com/office/drawing/2016/SVG/main" r:embed="Rf656255c5af94aa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08BDCDD-C690-4F7E-BBE9-19698502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966296" y="-2617198"/>
            <a:ext cx="6535258" cy="6650722"/>
          </a:xfrm>
          <a:custGeom xmlns:a="http://schemas.openxmlformats.org/drawingml/2006/main">
            <a:rect l="l" t="t" r="r" b="b"/>
            <a:pathLst>
              <a:path w="6535258" h="6650722">
                <a:moveTo>
                  <a:pt x="0" y="0"/>
                </a:moveTo>
                <a:lnTo>
                  <a:pt x="6535259" y="0"/>
                </a:lnTo>
                <a:lnTo>
                  <a:pt x="6535259" y="6650722"/>
                </a:lnTo>
                <a:lnTo>
                  <a:pt x="0" y="665072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5828cac436b40b4">
              <a:extLst>
                <a:ext uri="{96DAC541-7B7A-43D3-8B79-37D633B846F1}">
                  <asvg:svgBlip xmlns:asvg="http://schemas.microsoft.com/office/drawing/2016/SVG/main" r:embed="Rf656255c5af94aa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B3B8AC1-F65A-4373-B626-62CA49D4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6622" y="804470"/>
            <a:ext cx="448461" cy="448461"/>
          </a:xfrm>
          <a:custGeom xmlns:a="http://schemas.openxmlformats.org/drawingml/2006/main">
            <a:rect l="l" t="t" r="r" b="b"/>
            <a:pathLst>
              <a:path w="448461" h="448461">
                <a:moveTo>
                  <a:pt x="0" y="0"/>
                </a:moveTo>
                <a:lnTo>
                  <a:pt x="448461" y="0"/>
                </a:lnTo>
                <a:lnTo>
                  <a:pt x="448461" y="448460"/>
                </a:lnTo>
                <a:lnTo>
                  <a:pt x="0" y="448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06d45abf3441fc">
              <a:extLst>
                <a:ext uri="{96DAC541-7B7A-43D3-8B79-37D633B846F1}">
                  <asvg:svgBlip xmlns:asvg="http://schemas.microsoft.com/office/drawing/2016/SVG/main" r:embed="R13fe84b383bf4f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6B4B1F9-249A-4F53-BA87-BD4F10EF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65287" y="8635901"/>
            <a:ext cx="448461" cy="448461"/>
          </a:xfrm>
          <a:custGeom xmlns:a="http://schemas.openxmlformats.org/drawingml/2006/main">
            <a:rect l="l" t="t" r="r" b="b"/>
            <a:pathLst>
              <a:path w="448461" h="448461">
                <a:moveTo>
                  <a:pt x="0" y="0"/>
                </a:moveTo>
                <a:lnTo>
                  <a:pt x="448461" y="0"/>
                </a:lnTo>
                <a:lnTo>
                  <a:pt x="448461" y="448461"/>
                </a:lnTo>
                <a:lnTo>
                  <a:pt x="0" y="4484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06d45abf3441fc">
              <a:extLst>
                <a:ext uri="{96DAC541-7B7A-43D3-8B79-37D633B846F1}">
                  <asvg:svgBlip xmlns:asvg="http://schemas.microsoft.com/office/drawing/2016/SVG/main" r:embed="R13fe84b383bf4f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6" name="项目团队">
            <a:extLst xmlns:a="http://schemas.openxmlformats.org/drawingml/2006/main">
              <a:ext uri="{FF2B5EF4-FFF2-40B4-BE49-F238E27FC236}">
                <a16:creationId xmlns:a16="http://schemas.microsoft.com/office/drawing/2014/main" id="{AB9FA7DB-F28B-4634-9F57-2428FBFD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6685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22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项目团队</a:t>
            </a:r>
          </a:p>
        </p:txBody>
      </p:sp>
      <p:sp>
        <p:nvSpPr>
          <p:cNvPr id="17" name="厦门大学">
            <a:extLst xmlns:a="http://schemas.openxmlformats.org/drawingml/2006/main">
              <a:ext uri="{FF2B5EF4-FFF2-40B4-BE49-F238E27FC236}">
                <a16:creationId xmlns:a16="http://schemas.microsoft.com/office/drawing/2014/main" id="{386DF30D-E3CD-41C1-88F6-4A961699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037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42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0">
                <a:solidFill>
                  <a:srgbClr val="6CDAF4"/>
                </a:solidFill>
                <a:latin typeface="Microsoft YaHei"/>
                <a:ea typeface="Microsoft YaHei"/>
                <a:cs typeface="Microsoft YaHei"/>
              </a:rPr>
              <a:t>厦门大学</a:t>
            </a:r>
          </a:p>
        </p:txBody>
      </p:sp>
      <p:sp>
        <p:nvSpPr>
          <p:cNvPr id="18" name="胡博">
            <a:extLst xmlns:a="http://schemas.openxmlformats.org/drawingml/2006/main">
              <a:ext uri="{FF2B5EF4-FFF2-40B4-BE49-F238E27FC236}">
                <a16:creationId xmlns:a16="http://schemas.microsoft.com/office/drawing/2014/main" id="{0E1F211F-A904-4E2F-B5DF-F2F96351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96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胡博</a:t>
            </a:r>
          </a:p>
        </p:txBody>
      </p:sp>
      <p:sp>
        <p:nvSpPr>
          <p:cNvPr id="19" name="队长">
            <a:extLst xmlns:a="http://schemas.openxmlformats.org/drawingml/2006/main">
              <a:ext uri="{FF2B5EF4-FFF2-40B4-BE49-F238E27FC236}">
                <a16:creationId xmlns:a16="http://schemas.microsoft.com/office/drawing/2014/main" id="{3A1198EE-4244-415D-89E1-4FB4DAF5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97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队长</a:t>
            </a:r>
          </a:p>
        </p:txBody>
      </p:sp>
      <p:sp>
        <p:nvSpPr>
          <p:cNvPr id="20" name="温广琛">
            <a:extLst xmlns:a="http://schemas.openxmlformats.org/drawingml/2006/main">
              <a:ext uri="{FF2B5EF4-FFF2-40B4-BE49-F238E27FC236}">
                <a16:creationId xmlns:a16="http://schemas.microsoft.com/office/drawing/2014/main" id="{D935A030-CC91-4DD4-96D1-0F4D3FB0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6196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温广琛</a:t>
            </a:r>
          </a:p>
        </p:txBody>
      </p:sp>
      <p:sp>
        <p:nvSpPr>
          <p:cNvPr id="21" name="队员">
            <a:extLst xmlns:a="http://schemas.openxmlformats.org/drawingml/2006/main">
              <a:ext uri="{FF2B5EF4-FFF2-40B4-BE49-F238E27FC236}">
                <a16:creationId xmlns:a16="http://schemas.microsoft.com/office/drawing/2014/main" id="{D81922C5-6C93-40E5-A1E8-C83CFCCE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8197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队员</a:t>
            </a:r>
          </a:p>
        </p:txBody>
      </p:sp>
      <p:sp>
        <p:nvSpPr>
          <p:cNvPr id="22" name="许佳锋">
            <a:extLst xmlns:a="http://schemas.openxmlformats.org/drawingml/2006/main">
              <a:ext uri="{FF2B5EF4-FFF2-40B4-BE49-F238E27FC236}">
                <a16:creationId xmlns:a16="http://schemas.microsoft.com/office/drawing/2014/main" id="{59835251-87E6-47E6-AF79-20AD4FF3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6196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许佳锋</a:t>
            </a:r>
          </a:p>
        </p:txBody>
      </p:sp>
      <p:sp>
        <p:nvSpPr>
          <p:cNvPr id="23" name="队员">
            <a:extLst xmlns:a="http://schemas.openxmlformats.org/drawingml/2006/main">
              <a:ext uri="{FF2B5EF4-FFF2-40B4-BE49-F238E27FC236}">
                <a16:creationId xmlns:a16="http://schemas.microsoft.com/office/drawing/2014/main" id="{05543447-07E7-4E19-81EA-9093BA9D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8197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ECEE8"/>
                </a:solidFill>
                <a:latin typeface="Microsoft YaHei"/>
                <a:ea typeface="Microsoft YaHei"/>
                <a:cs typeface="Microsoft YaHei"/>
              </a:rPr>
              <a:t>队员</a:t>
            </a:r>
          </a:p>
        </p:txBody>
      </p:sp>
      <p:sp>
        <p:nvSpPr>
          <p:cNvPr id="24" name="指导教师  张盈谦">
            <a:extLst xmlns:a="http://schemas.openxmlformats.org/drawingml/2006/main">
              <a:ext uri="{FF2B5EF4-FFF2-40B4-BE49-F238E27FC236}">
                <a16:creationId xmlns:a16="http://schemas.microsoft.com/office/drawing/2014/main" id="{206891A6-09E0-4346-B2A8-B0F2D02F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0580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0">
                <a:solidFill>
                  <a:srgbClr val="DDF4FC"/>
                </a:solidFill>
                <a:latin typeface="Microsoft YaHei"/>
                <a:ea typeface="Microsoft YaHei"/>
                <a:cs typeface="Microsoft YaHei"/>
              </a:rPr>
              <a:t>指导教师  张盈谦</a:t>
            </a:r>
          </a:p>
        </p:txBody>
      </p:sp>
      <p:sp>
        <p:nvSpPr>
          <p:cNvPr id="25" name="配套材料：项目概要介绍、智能体设计方案书、3–5 分钟演示视">
            <a:extLst xmlns:a="http://schemas.openxmlformats.org/drawingml/2006/main">
              <a:ext uri="{FF2B5EF4-FFF2-40B4-BE49-F238E27FC236}">
                <a16:creationId xmlns:a16="http://schemas.microsoft.com/office/drawing/2014/main" id="{0734E5A0-12AF-491D-97A1-00EB41B9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372475"/>
            <a:ext cx="1200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配套材料：项目概要介绍、智能体设计方案书、3–5 分钟演示视频</a:t>
            </a:r>
          </a:p>
        </p:txBody>
      </p:sp>
      <p:sp>
        <p:nvSpPr>
          <p:cNvPr id="26" name="campusone-agentflow.atticus-59">
            <a:extLst xmlns:a="http://schemas.openxmlformats.org/drawingml/2006/main">
              <a:ext uri="{FF2B5EF4-FFF2-40B4-BE49-F238E27FC236}">
                <a16:creationId xmlns:a16="http://schemas.microsoft.com/office/drawing/2014/main" id="{14B56F57-67DF-4B70-A20C-80AD82D8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2773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20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campusone-agentflow.atticus-5951.chatgpt.site</a:t>
            </a:r>
          </a:p>
        </p:txBody>
      </p:sp>
      <p:sp>
        <p:nvSpPr>
          <p:cNvPr id="27" name="16">
            <a:extLst xmlns:a="http://schemas.openxmlformats.org/drawingml/2006/main">
              <a:ext uri="{FF2B5EF4-FFF2-40B4-BE49-F238E27FC236}">
                <a16:creationId xmlns:a16="http://schemas.microsoft.com/office/drawing/2014/main" id="{729528BF-527B-4ED4-B602-F21F66FD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47737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ECEE8"/>
                </a:solidFill>
                <a:latin typeface="Poppins"/>
                <a:ea typeface="Poppins"/>
                <a:cs typeface="Poppins"/>
              </a:defRPr>
            </a:pPr>
            <a:r>
              <a:rPr sz="1725" b="0">
                <a:solidFill>
                  <a:srgbClr val="BECEE8"/>
                </a:solidFill>
                <a:latin typeface="Poppins"/>
                <a:ea typeface="Poppins"/>
                <a:cs typeface="Poppi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348885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2026-09-05T19:37:19.4700000Z</dcterms:created>
  <dcterms:modified xsi:type="dcterms:W3CDTF">2026-09-05T19:37:19.4700000Z</dcterms:modified>
</coreProperties>
</file>